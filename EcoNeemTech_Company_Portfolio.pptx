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5" d="100"/>
          <a:sy n="65" d="100"/>
        </p:scale>
        <p:origin x="70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036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4.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4.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8.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31.png"/><Relationship Id="rId4" Type="http://schemas.openxmlformats.org/officeDocument/2006/relationships/image" Target="../media/image3.pn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4.pn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2.png"/><Relationship Id="rId10" Type="http://schemas.openxmlformats.org/officeDocument/2006/relationships/image" Target="../media/image31.png"/><Relationship Id="rId4" Type="http://schemas.openxmlformats.org/officeDocument/2006/relationships/image" Target="../media/image6.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40.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2.png"/><Relationship Id="rId4" Type="http://schemas.openxmlformats.org/officeDocument/2006/relationships/image" Target="../media/image6.png"/><Relationship Id="rId9" Type="http://schemas.openxmlformats.org/officeDocument/2006/relationships/image" Target="../media/image41.png"/></Relationships>
</file>

<file path=ppt/slides/_rels/slide1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8.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10"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42.pn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png"/><Relationship Id="rId7"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45.png"/><Relationship Id="rId4" Type="http://schemas.openxmlformats.org/officeDocument/2006/relationships/image" Target="../media/image6.png"/><Relationship Id="rId9"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png"/><Relationship Id="rId7"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9.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2.png"/><Relationship Id="rId7"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image" Target="../media/image56.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48640"/>
            <a:ext cx="566928" cy="566928"/>
          </a:xfrm>
          <a:prstGeom prst="ellipse">
            <a:avLst/>
          </a:prstGeom>
          <a:solidFill>
            <a:srgbClr val="FFFFFF"/>
          </a:solidFill>
          <a:ln/>
          <a:effectLst>
            <a:outerShdw blurRad="101600" dist="25400" dir="5400000" algn="bl" rotWithShape="0">
              <a:srgbClr val="000000">
                <a:alpha val="18000"/>
              </a:srgbClr>
            </a:outerShdw>
          </a:effectLst>
        </p:spPr>
      </p:sp>
      <p:pic>
        <p:nvPicPr>
          <p:cNvPr id="3" name="Image 0" descr="assets/logo_mark_transparent.png"/>
          <p:cNvPicPr>
            <a:picLocks noChangeAspect="1"/>
          </p:cNvPicPr>
          <p:nvPr/>
        </p:nvPicPr>
        <p:blipFill>
          <a:blip r:embed="rId4"/>
          <a:stretch>
            <a:fillRect/>
          </a:stretch>
        </p:blipFill>
        <p:spPr>
          <a:xfrm>
            <a:off x="758952" y="667512"/>
            <a:ext cx="329184" cy="329184"/>
          </a:xfrm>
          <a:prstGeom prst="rect">
            <a:avLst/>
          </a:prstGeom>
        </p:spPr>
      </p:pic>
      <p:sp>
        <p:nvSpPr>
          <p:cNvPr id="4" name="Text 1"/>
          <p:cNvSpPr/>
          <p:nvPr/>
        </p:nvSpPr>
        <p:spPr>
          <a:xfrm>
            <a:off x="1325880" y="603504"/>
            <a:ext cx="3657600" cy="457200"/>
          </a:xfrm>
          <a:prstGeom prst="rect">
            <a:avLst/>
          </a:prstGeom>
          <a:noFill/>
          <a:ln/>
        </p:spPr>
        <p:txBody>
          <a:bodyPr wrap="square" lIns="0" tIns="0" rIns="0" bIns="0" rtlCol="0" anchor="ctr"/>
          <a:lstStyle/>
          <a:p>
            <a:pPr marL="0" indent="0">
              <a:buNone/>
            </a:pPr>
            <a:r>
              <a:rPr lang="en-US" sz="1700" b="1" kern="0" spc="100" dirty="0">
                <a:solidFill>
                  <a:srgbClr val="FFFFFF"/>
                </a:solidFill>
                <a:latin typeface="Cambria" pitchFamily="34" charset="0"/>
                <a:ea typeface="Cambria" pitchFamily="34" charset="-122"/>
                <a:cs typeface="Cambria" pitchFamily="34" charset="-120"/>
              </a:rPr>
              <a:t>ECONEEMTECH</a:t>
            </a:r>
            <a:endParaRPr lang="en-US" sz="1700" dirty="0"/>
          </a:p>
        </p:txBody>
      </p:sp>
      <p:sp>
        <p:nvSpPr>
          <p:cNvPr id="5" name="Text 2"/>
          <p:cNvSpPr/>
          <p:nvPr/>
        </p:nvSpPr>
        <p:spPr>
          <a:xfrm>
            <a:off x="685800" y="2331720"/>
            <a:ext cx="7315200" cy="365760"/>
          </a:xfrm>
          <a:prstGeom prst="rect">
            <a:avLst/>
          </a:prstGeom>
          <a:noFill/>
          <a:ln/>
        </p:spPr>
        <p:txBody>
          <a:bodyPr wrap="square" lIns="0" tIns="0" rIns="0" bIns="0" rtlCol="0" anchor="ctr"/>
          <a:lstStyle/>
          <a:p>
            <a:pPr marL="0" indent="0">
              <a:buNone/>
            </a:pPr>
            <a:r>
              <a:rPr lang="en-US" sz="1300" b="1" kern="0" spc="260" dirty="0">
                <a:solidFill>
                  <a:srgbClr val="95D5B2"/>
                </a:solidFill>
                <a:latin typeface="Calibri" pitchFamily="34" charset="0"/>
                <a:ea typeface="Calibri" pitchFamily="34" charset="-122"/>
                <a:cs typeface="Calibri" pitchFamily="34" charset="-120"/>
              </a:rPr>
              <a:t>COMPANY PORTFOLIO  •  2026</a:t>
            </a:r>
            <a:endParaRPr lang="en-US" sz="1300" dirty="0"/>
          </a:p>
        </p:txBody>
      </p:sp>
      <p:sp>
        <p:nvSpPr>
          <p:cNvPr id="6" name="Text 3"/>
          <p:cNvSpPr/>
          <p:nvPr/>
        </p:nvSpPr>
        <p:spPr>
          <a:xfrm>
            <a:off x="658368" y="2697480"/>
            <a:ext cx="9875520" cy="1737360"/>
          </a:xfrm>
          <a:prstGeom prst="rect">
            <a:avLst/>
          </a:prstGeom>
          <a:noFill/>
          <a:ln/>
        </p:spPr>
        <p:txBody>
          <a:bodyPr wrap="square" lIns="0" tIns="0" rIns="0" bIns="0" rtlCol="0" anchor="ctr"/>
          <a:lstStyle/>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Nature's Wisdom.</a:t>
            </a:r>
            <a:endParaRPr lang="en-US" sz="4600" dirty="0"/>
          </a:p>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Engineered for Modern Living.</a:t>
            </a:r>
            <a:endParaRPr lang="en-US" sz="4600" dirty="0"/>
          </a:p>
        </p:txBody>
      </p:sp>
      <p:sp>
        <p:nvSpPr>
          <p:cNvPr id="7" name="Text 4"/>
          <p:cNvSpPr/>
          <p:nvPr/>
        </p:nvSpPr>
        <p:spPr>
          <a:xfrm>
            <a:off x="685800" y="4343400"/>
            <a:ext cx="6949440" cy="868680"/>
          </a:xfrm>
          <a:prstGeom prst="rect">
            <a:avLst/>
          </a:prstGeom>
          <a:noFill/>
          <a:ln/>
        </p:spPr>
        <p:txBody>
          <a:bodyPr wrap="square" lIns="0" tIns="0" rIns="0" bIns="0" rtlCol="0" anchor="ctr"/>
          <a:lstStyle/>
          <a:p>
            <a:pPr marL="0" indent="0">
              <a:lnSpc>
                <a:spcPct val="130000"/>
              </a:lnSpc>
              <a:buNone/>
            </a:pPr>
            <a:r>
              <a:rPr lang="en-US" sz="1400" dirty="0">
                <a:solidFill>
                  <a:srgbClr val="DCEAE0"/>
                </a:solidFill>
                <a:latin typeface="Calibri" pitchFamily="34" charset="0"/>
                <a:ea typeface="Calibri" pitchFamily="34" charset="-122"/>
                <a:cs typeface="Calibri" pitchFamily="34" charset="-120"/>
              </a:rPr>
              <a:t>Harnessing the science of Neem (Azadirachta indica) to build eco-friendly technologies and everyday solutions for healthier living and a more sustainable planet.</a:t>
            </a:r>
            <a:endParaRPr lang="en-US" sz="1400" dirty="0"/>
          </a:p>
        </p:txBody>
      </p:sp>
      <p:sp>
        <p:nvSpPr>
          <p:cNvPr id="8" name="Shape 5"/>
          <p:cNvSpPr/>
          <p:nvPr/>
        </p:nvSpPr>
        <p:spPr>
          <a:xfrm>
            <a:off x="685800" y="5532120"/>
            <a:ext cx="10789920" cy="0"/>
          </a:xfrm>
          <a:prstGeom prst="line">
            <a:avLst/>
          </a:prstGeom>
          <a:noFill/>
          <a:ln w="9525">
            <a:solidFill>
              <a:srgbClr val="FFFFFF">
                <a:alpha val="30000"/>
              </a:srgbClr>
            </a:solidFill>
            <a:prstDash val="solid"/>
          </a:ln>
        </p:spPr>
      </p:sp>
      <p:sp>
        <p:nvSpPr>
          <p:cNvPr id="9" name="Text 6"/>
          <p:cNvSpPr/>
          <p:nvPr/>
        </p:nvSpPr>
        <p:spPr>
          <a:xfrm>
            <a:off x="685800" y="5715000"/>
            <a:ext cx="2560320" cy="274320"/>
          </a:xfrm>
          <a:prstGeom prst="rect">
            <a:avLst/>
          </a:prstGeom>
          <a:noFill/>
          <a:ln/>
        </p:spPr>
        <p:txBody>
          <a:bodyPr wrap="square" lIns="0" tIns="0" rIns="0" bIns="0" rtlCol="0" anchor="ctr"/>
          <a:lstStyle/>
          <a:p>
            <a:pPr marL="0" indent="0">
              <a:buNone/>
            </a:pPr>
            <a:r>
              <a:rPr lang="en-US" sz="950" b="1" kern="0" spc="120" dirty="0">
                <a:solidFill>
                  <a:srgbClr val="95D5B2"/>
                </a:solidFill>
                <a:latin typeface="Calibri" pitchFamily="34" charset="0"/>
                <a:ea typeface="Calibri" pitchFamily="34" charset="-122"/>
                <a:cs typeface="Calibri" pitchFamily="34" charset="-120"/>
              </a:rPr>
              <a:t>RC NUMBER</a:t>
            </a:r>
            <a:endParaRPr lang="en-US" sz="950" dirty="0"/>
          </a:p>
        </p:txBody>
      </p:sp>
      <p:sp>
        <p:nvSpPr>
          <p:cNvPr id="10" name="Text 7"/>
          <p:cNvSpPr/>
          <p:nvPr/>
        </p:nvSpPr>
        <p:spPr>
          <a:xfrm>
            <a:off x="685800" y="5961888"/>
            <a:ext cx="24688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8763614</a:t>
            </a:r>
            <a:endParaRPr lang="en-US" sz="1200" dirty="0"/>
          </a:p>
        </p:txBody>
      </p:sp>
      <p:sp>
        <p:nvSpPr>
          <p:cNvPr id="11" name="Text 8"/>
          <p:cNvSpPr/>
          <p:nvPr/>
        </p:nvSpPr>
        <p:spPr>
          <a:xfrm>
            <a:off x="3383280" y="5715000"/>
            <a:ext cx="2560320" cy="274320"/>
          </a:xfrm>
          <a:prstGeom prst="rect">
            <a:avLst/>
          </a:prstGeom>
          <a:noFill/>
          <a:ln/>
        </p:spPr>
        <p:txBody>
          <a:bodyPr wrap="square" lIns="0" tIns="0" rIns="0" bIns="0" rtlCol="0" anchor="ctr"/>
          <a:lstStyle/>
          <a:p>
            <a:pPr marL="0" indent="0">
              <a:buNone/>
            </a:pPr>
            <a:r>
              <a:rPr lang="en-US" sz="950" b="1" kern="0" spc="120" dirty="0">
                <a:solidFill>
                  <a:srgbClr val="95D5B2"/>
                </a:solidFill>
                <a:latin typeface="Calibri" pitchFamily="34" charset="0"/>
                <a:ea typeface="Calibri" pitchFamily="34" charset="-122"/>
                <a:cs typeface="Calibri" pitchFamily="34" charset="-120"/>
              </a:rPr>
              <a:t>INCORPORATED</a:t>
            </a:r>
            <a:endParaRPr lang="en-US" sz="950" dirty="0"/>
          </a:p>
        </p:txBody>
      </p:sp>
      <p:sp>
        <p:nvSpPr>
          <p:cNvPr id="12" name="Text 9"/>
          <p:cNvSpPr/>
          <p:nvPr/>
        </p:nvSpPr>
        <p:spPr>
          <a:xfrm>
            <a:off x="3383280" y="5961888"/>
            <a:ext cx="24688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30 August 2025</a:t>
            </a:r>
            <a:endParaRPr lang="en-US" sz="1200" dirty="0"/>
          </a:p>
        </p:txBody>
      </p:sp>
      <p:sp>
        <p:nvSpPr>
          <p:cNvPr id="13" name="Text 10"/>
          <p:cNvSpPr/>
          <p:nvPr/>
        </p:nvSpPr>
        <p:spPr>
          <a:xfrm>
            <a:off x="6080760" y="5715000"/>
            <a:ext cx="2560320" cy="274320"/>
          </a:xfrm>
          <a:prstGeom prst="rect">
            <a:avLst/>
          </a:prstGeom>
          <a:noFill/>
          <a:ln/>
        </p:spPr>
        <p:txBody>
          <a:bodyPr wrap="square" lIns="0" tIns="0" rIns="0" bIns="0" rtlCol="0" anchor="ctr"/>
          <a:lstStyle/>
          <a:p>
            <a:pPr marL="0" indent="0">
              <a:buNone/>
            </a:pPr>
            <a:r>
              <a:rPr lang="en-US" sz="950" b="1" kern="0" spc="120" dirty="0">
                <a:solidFill>
                  <a:srgbClr val="95D5B2"/>
                </a:solidFill>
                <a:latin typeface="Calibri" pitchFamily="34" charset="0"/>
                <a:ea typeface="Calibri" pitchFamily="34" charset="-122"/>
                <a:cs typeface="Calibri" pitchFamily="34" charset="-120"/>
              </a:rPr>
              <a:t>REGISTERED OFFICE</a:t>
            </a:r>
            <a:endParaRPr lang="en-US" sz="950" dirty="0"/>
          </a:p>
        </p:txBody>
      </p:sp>
      <p:sp>
        <p:nvSpPr>
          <p:cNvPr id="14" name="Text 11"/>
          <p:cNvSpPr/>
          <p:nvPr/>
        </p:nvSpPr>
        <p:spPr>
          <a:xfrm>
            <a:off x="6080760" y="5961888"/>
            <a:ext cx="24688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Jabi, Abuja FCT</a:t>
            </a:r>
            <a:endParaRPr lang="en-US" sz="1200" dirty="0"/>
          </a:p>
        </p:txBody>
      </p:sp>
      <p:sp>
        <p:nvSpPr>
          <p:cNvPr id="15" name="Text 12"/>
          <p:cNvSpPr/>
          <p:nvPr/>
        </p:nvSpPr>
        <p:spPr>
          <a:xfrm>
            <a:off x="8778240" y="5715000"/>
            <a:ext cx="2560320" cy="274320"/>
          </a:xfrm>
          <a:prstGeom prst="rect">
            <a:avLst/>
          </a:prstGeom>
          <a:noFill/>
          <a:ln/>
        </p:spPr>
        <p:txBody>
          <a:bodyPr wrap="square" lIns="0" tIns="0" rIns="0" bIns="0" rtlCol="0" anchor="ctr"/>
          <a:lstStyle/>
          <a:p>
            <a:pPr marL="0" indent="0">
              <a:buNone/>
            </a:pPr>
            <a:r>
              <a:rPr lang="en-US" sz="950" b="1" kern="0" spc="120" dirty="0">
                <a:solidFill>
                  <a:srgbClr val="95D5B2"/>
                </a:solidFill>
                <a:latin typeface="Calibri" pitchFamily="34" charset="0"/>
                <a:ea typeface="Calibri" pitchFamily="34" charset="-122"/>
                <a:cs typeface="Calibri" pitchFamily="34" charset="-120"/>
              </a:rPr>
              <a:t>STATUS</a:t>
            </a:r>
            <a:endParaRPr lang="en-US" sz="950" dirty="0"/>
          </a:p>
        </p:txBody>
      </p:sp>
      <p:sp>
        <p:nvSpPr>
          <p:cNvPr id="16" name="Text 13"/>
          <p:cNvSpPr/>
          <p:nvPr/>
        </p:nvSpPr>
        <p:spPr>
          <a:xfrm>
            <a:off x="8778240" y="5961888"/>
            <a:ext cx="24688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Active</a:t>
            </a:r>
            <a:endParaRPr lang="en-US" sz="1200" dirty="0"/>
          </a:p>
        </p:txBody>
      </p:sp>
      <p:pic>
        <p:nvPicPr>
          <p:cNvPr id="17" name="Image 1" descr="assets/bg/leaf_silhouette_white.png"/>
          <p:cNvPicPr>
            <a:picLocks noChangeAspect="1"/>
          </p:cNvPicPr>
          <p:nvPr/>
        </p:nvPicPr>
        <p:blipFill>
          <a:blip r:embed="rId5">
            <a:alphaModFix amt="25000"/>
          </a:blip>
          <a:stretch>
            <a:fillRect/>
          </a:stretch>
        </p:blipFill>
        <p:spPr>
          <a:xfrm rot="720000">
            <a:off x="10332720" y="5120640"/>
            <a:ext cx="1371600" cy="1920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EXECUTIVE PROFILE</a:t>
            </a:r>
            <a:endParaRPr lang="en-US" sz="1250" dirty="0"/>
          </a:p>
        </p:txBody>
      </p:sp>
      <p:sp>
        <p:nvSpPr>
          <p:cNvPr id="3"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200" b="1" dirty="0">
                <a:solidFill>
                  <a:srgbClr val="1A2B22"/>
                </a:solidFill>
                <a:latin typeface="Cambria" pitchFamily="34" charset="0"/>
                <a:ea typeface="Cambria" pitchFamily="34" charset="-122"/>
                <a:cs typeface="Cambria" pitchFamily="34" charset="-120"/>
              </a:rPr>
              <a:t>Who We Are</a:t>
            </a:r>
            <a:endParaRPr lang="en-US" sz="3200" dirty="0"/>
          </a:p>
        </p:txBody>
      </p:sp>
      <p:sp>
        <p:nvSpPr>
          <p:cNvPr id="4" name="Text 2"/>
          <p:cNvSpPr/>
          <p:nvPr/>
        </p:nvSpPr>
        <p:spPr>
          <a:xfrm>
            <a:off x="640080" y="1600200"/>
            <a:ext cx="5989320" cy="1737360"/>
          </a:xfrm>
          <a:prstGeom prst="rect">
            <a:avLst/>
          </a:prstGeom>
          <a:noFill/>
          <a:ln/>
        </p:spPr>
        <p:txBody>
          <a:bodyPr wrap="square" lIns="0" tIns="0" rIns="0" bIns="0" rtlCol="0" anchor="ctr"/>
          <a:lstStyle/>
          <a:p>
            <a:pPr marL="0" indent="0">
              <a:lnSpc>
                <a:spcPct val="135000"/>
              </a:lnSpc>
              <a:buNone/>
            </a:pPr>
            <a:r>
              <a:rPr lang="en-US" sz="1350" dirty="0">
                <a:solidFill>
                  <a:srgbClr val="3F4A42"/>
                </a:solidFill>
                <a:latin typeface="Calibri" pitchFamily="34" charset="0"/>
                <a:ea typeface="Calibri" pitchFamily="34" charset="-122"/>
                <a:cs typeface="Calibri" pitchFamily="34" charset="-120"/>
              </a:rPr>
              <a:t>ECONEEMTECH LTD is a Nigerian private company developing natural, science-backed solutions to everyday health, hygiene, and environmental challenges. Anchored in the proven properties of Neem (Azadirachta indica), we transform centuries of traditional botanical wisdom into modern, eco-friendly products and technologies for households, institutions, and communities across Nigeria and beyond.</a:t>
            </a:r>
            <a:endParaRPr lang="en-US" sz="1350" dirty="0"/>
          </a:p>
        </p:txBody>
      </p:sp>
      <p:sp>
        <p:nvSpPr>
          <p:cNvPr id="5" name="Shape 3"/>
          <p:cNvSpPr/>
          <p:nvPr/>
        </p:nvSpPr>
        <p:spPr>
          <a:xfrm>
            <a:off x="640080" y="3520440"/>
            <a:ext cx="566928" cy="566928"/>
          </a:xfrm>
          <a:prstGeom prst="ellipse">
            <a:avLst/>
          </a:prstGeom>
          <a:solidFill>
            <a:srgbClr val="D8E8DC"/>
          </a:solidFill>
          <a:ln/>
        </p:spPr>
      </p:sp>
      <p:sp>
        <p:nvSpPr>
          <p:cNvPr id="6" name="Text 4"/>
          <p:cNvSpPr/>
          <p:nvPr/>
        </p:nvSpPr>
        <p:spPr>
          <a:xfrm>
            <a:off x="640080" y="3520440"/>
            <a:ext cx="566928" cy="566928"/>
          </a:xfrm>
          <a:prstGeom prst="rect">
            <a:avLst/>
          </a:prstGeom>
          <a:noFill/>
          <a:ln/>
        </p:spPr>
        <p:txBody>
          <a:bodyPr wrap="square" lIns="0" tIns="0" rIns="0" bIns="0" rtlCol="0" anchor="ctr"/>
          <a:lstStyle/>
          <a:p>
            <a:pPr marL="0" indent="0" algn="ctr">
              <a:buNone/>
            </a:pPr>
            <a:r>
              <a:rPr lang="en-US" sz="1500" b="1" dirty="0">
                <a:solidFill>
                  <a:srgbClr val="1B4332"/>
                </a:solidFill>
                <a:latin typeface="Cambria" pitchFamily="34" charset="0"/>
                <a:ea typeface="Cambria" pitchFamily="34" charset="-122"/>
                <a:cs typeface="Cambria" pitchFamily="34" charset="-120"/>
              </a:rPr>
              <a:t>8</a:t>
            </a:r>
            <a:endParaRPr lang="en-US" sz="1500" dirty="0"/>
          </a:p>
        </p:txBody>
      </p:sp>
      <p:sp>
        <p:nvSpPr>
          <p:cNvPr id="7" name="Text 5"/>
          <p:cNvSpPr/>
          <p:nvPr/>
        </p:nvSpPr>
        <p:spPr>
          <a:xfrm>
            <a:off x="1371600" y="3575304"/>
            <a:ext cx="4114800" cy="457200"/>
          </a:xfrm>
          <a:prstGeom prst="rect">
            <a:avLst/>
          </a:prstGeom>
          <a:noFill/>
          <a:ln/>
        </p:spPr>
        <p:txBody>
          <a:bodyPr wrap="square" lIns="0" tIns="0" rIns="0" bIns="0" rtlCol="0" anchor="ctr"/>
          <a:lstStyle/>
          <a:p>
            <a:pPr marL="0" indent="0">
              <a:buNone/>
            </a:pPr>
            <a:r>
              <a:rPr lang="en-US" sz="1250" dirty="0">
                <a:solidFill>
                  <a:srgbClr val="3F4A42"/>
                </a:solidFill>
                <a:latin typeface="Calibri" pitchFamily="34" charset="0"/>
                <a:ea typeface="Calibri" pitchFamily="34" charset="-122"/>
                <a:cs typeface="Calibri" pitchFamily="34" charset="-120"/>
              </a:rPr>
              <a:t>Founding Shareholders</a:t>
            </a:r>
            <a:endParaRPr lang="en-US" sz="1250" dirty="0"/>
          </a:p>
        </p:txBody>
      </p:sp>
      <p:sp>
        <p:nvSpPr>
          <p:cNvPr id="8" name="Shape 6"/>
          <p:cNvSpPr/>
          <p:nvPr/>
        </p:nvSpPr>
        <p:spPr>
          <a:xfrm>
            <a:off x="640080" y="4233672"/>
            <a:ext cx="566928" cy="566928"/>
          </a:xfrm>
          <a:prstGeom prst="ellipse">
            <a:avLst/>
          </a:prstGeom>
          <a:solidFill>
            <a:srgbClr val="D8E8DC"/>
          </a:solidFill>
          <a:ln/>
        </p:spPr>
      </p:sp>
      <p:sp>
        <p:nvSpPr>
          <p:cNvPr id="9" name="Text 7"/>
          <p:cNvSpPr/>
          <p:nvPr/>
        </p:nvSpPr>
        <p:spPr>
          <a:xfrm>
            <a:off x="640080" y="4233672"/>
            <a:ext cx="566928" cy="566928"/>
          </a:xfrm>
          <a:prstGeom prst="rect">
            <a:avLst/>
          </a:prstGeom>
          <a:noFill/>
          <a:ln/>
        </p:spPr>
        <p:txBody>
          <a:bodyPr wrap="square" lIns="0" tIns="0" rIns="0" bIns="0" rtlCol="0" anchor="ctr"/>
          <a:lstStyle/>
          <a:p>
            <a:pPr marL="0" indent="0" algn="ctr">
              <a:buNone/>
            </a:pPr>
            <a:r>
              <a:rPr lang="en-US" sz="1500" b="1" dirty="0">
                <a:solidFill>
                  <a:srgbClr val="1B4332"/>
                </a:solidFill>
                <a:latin typeface="Cambria" pitchFamily="34" charset="0"/>
                <a:ea typeface="Cambria" pitchFamily="34" charset="-122"/>
                <a:cs typeface="Cambria" pitchFamily="34" charset="-120"/>
              </a:rPr>
              <a:t>10+</a:t>
            </a:r>
            <a:endParaRPr lang="en-US" sz="1500" dirty="0"/>
          </a:p>
        </p:txBody>
      </p:sp>
      <p:sp>
        <p:nvSpPr>
          <p:cNvPr id="10" name="Text 8"/>
          <p:cNvSpPr/>
          <p:nvPr/>
        </p:nvSpPr>
        <p:spPr>
          <a:xfrm>
            <a:off x="1371600" y="4288536"/>
            <a:ext cx="4114800" cy="457200"/>
          </a:xfrm>
          <a:prstGeom prst="rect">
            <a:avLst/>
          </a:prstGeom>
          <a:noFill/>
          <a:ln/>
        </p:spPr>
        <p:txBody>
          <a:bodyPr wrap="square" lIns="0" tIns="0" rIns="0" bIns="0" rtlCol="0" anchor="ctr"/>
          <a:lstStyle/>
          <a:p>
            <a:pPr marL="0" indent="0">
              <a:buNone/>
            </a:pPr>
            <a:r>
              <a:rPr lang="en-US" sz="1250" dirty="0">
                <a:solidFill>
                  <a:srgbClr val="3F4A42"/>
                </a:solidFill>
                <a:latin typeface="Calibri" pitchFamily="34" charset="0"/>
                <a:ea typeface="Calibri" pitchFamily="34" charset="-122"/>
                <a:cs typeface="Calibri" pitchFamily="34" charset="-120"/>
              </a:rPr>
              <a:t>Neem-Based Product Lines</a:t>
            </a:r>
            <a:endParaRPr lang="en-US" sz="1250" dirty="0"/>
          </a:p>
        </p:txBody>
      </p:sp>
      <p:sp>
        <p:nvSpPr>
          <p:cNvPr id="11" name="Shape 9"/>
          <p:cNvSpPr/>
          <p:nvPr/>
        </p:nvSpPr>
        <p:spPr>
          <a:xfrm>
            <a:off x="640080" y="4946904"/>
            <a:ext cx="566928" cy="566928"/>
          </a:xfrm>
          <a:prstGeom prst="ellipse">
            <a:avLst/>
          </a:prstGeom>
          <a:solidFill>
            <a:srgbClr val="D8E8DC"/>
          </a:solidFill>
          <a:ln/>
        </p:spPr>
      </p:sp>
      <p:sp>
        <p:nvSpPr>
          <p:cNvPr id="12" name="Text 10"/>
          <p:cNvSpPr/>
          <p:nvPr/>
        </p:nvSpPr>
        <p:spPr>
          <a:xfrm>
            <a:off x="640080" y="4946904"/>
            <a:ext cx="566928" cy="566928"/>
          </a:xfrm>
          <a:prstGeom prst="rect">
            <a:avLst/>
          </a:prstGeom>
          <a:noFill/>
          <a:ln/>
        </p:spPr>
        <p:txBody>
          <a:bodyPr wrap="square" lIns="0" tIns="0" rIns="0" bIns="0" rtlCol="0" anchor="ctr"/>
          <a:lstStyle/>
          <a:p>
            <a:pPr marL="0" indent="0" algn="ctr">
              <a:buNone/>
            </a:pPr>
            <a:r>
              <a:rPr lang="en-US" sz="1500" b="1" dirty="0">
                <a:solidFill>
                  <a:srgbClr val="1B4332"/>
                </a:solidFill>
                <a:latin typeface="Cambria" pitchFamily="34" charset="0"/>
                <a:ea typeface="Cambria" pitchFamily="34" charset="-122"/>
                <a:cs typeface="Cambria" pitchFamily="34" charset="-120"/>
              </a:rPr>
              <a:t>100%</a:t>
            </a:r>
            <a:endParaRPr lang="en-US" sz="1500" dirty="0"/>
          </a:p>
        </p:txBody>
      </p:sp>
      <p:sp>
        <p:nvSpPr>
          <p:cNvPr id="13" name="Text 11"/>
          <p:cNvSpPr/>
          <p:nvPr/>
        </p:nvSpPr>
        <p:spPr>
          <a:xfrm>
            <a:off x="1371600" y="5001768"/>
            <a:ext cx="4114800" cy="457200"/>
          </a:xfrm>
          <a:prstGeom prst="rect">
            <a:avLst/>
          </a:prstGeom>
          <a:noFill/>
          <a:ln/>
        </p:spPr>
        <p:txBody>
          <a:bodyPr wrap="square" lIns="0" tIns="0" rIns="0" bIns="0" rtlCol="0" anchor="ctr"/>
          <a:lstStyle/>
          <a:p>
            <a:pPr marL="0" indent="0">
              <a:buNone/>
            </a:pPr>
            <a:r>
              <a:rPr lang="en-US" sz="1250" dirty="0">
                <a:solidFill>
                  <a:srgbClr val="3F4A42"/>
                </a:solidFill>
                <a:latin typeface="Calibri" pitchFamily="34" charset="0"/>
                <a:ea typeface="Calibri" pitchFamily="34" charset="-122"/>
                <a:cs typeface="Calibri" pitchFamily="34" charset="-120"/>
              </a:rPr>
              <a:t>Natural Active Ingredients</a:t>
            </a:r>
            <a:endParaRPr lang="en-US" sz="1250" dirty="0"/>
          </a:p>
        </p:txBody>
      </p:sp>
      <p:sp>
        <p:nvSpPr>
          <p:cNvPr id="14" name="Shape 12"/>
          <p:cNvSpPr/>
          <p:nvPr/>
        </p:nvSpPr>
        <p:spPr>
          <a:xfrm>
            <a:off x="7040880" y="1554480"/>
            <a:ext cx="4526280" cy="4617720"/>
          </a:xfrm>
          <a:prstGeom prst="roundRect">
            <a:avLst>
              <a:gd name="adj" fmla="val 2424"/>
            </a:avLst>
          </a:prstGeom>
          <a:solidFill>
            <a:srgbClr val="1B4332"/>
          </a:solidFill>
          <a:ln/>
          <a:effectLst>
            <a:outerShdw blurRad="177800" dist="50800" dir="5400000" algn="bl" rotWithShape="0">
              <a:srgbClr val="1B4332">
                <a:alpha val="12000"/>
              </a:srgbClr>
            </a:outerShdw>
          </a:effectLst>
        </p:spPr>
        <p:txBody>
          <a:bodyPr/>
          <a:lstStyle/>
          <a:p>
            <a:endParaRPr lang="en-NG" dirty="0"/>
          </a:p>
        </p:txBody>
      </p:sp>
      <p:pic>
        <p:nvPicPr>
          <p:cNvPr id="15" name="Image 0" descr="assets/bg/leaf_silhouette_white.png"/>
          <p:cNvPicPr>
            <a:picLocks noChangeAspect="1"/>
          </p:cNvPicPr>
          <p:nvPr/>
        </p:nvPicPr>
        <p:blipFill>
          <a:blip r:embed="rId4">
            <a:alphaModFix amt="12000"/>
          </a:blip>
          <a:stretch>
            <a:fillRect/>
          </a:stretch>
        </p:blipFill>
        <p:spPr>
          <a:xfrm rot="-480000">
            <a:off x="8869680" y="5120640"/>
            <a:ext cx="2377440" cy="3383280"/>
          </a:xfrm>
          <a:prstGeom prst="rect">
            <a:avLst/>
          </a:prstGeom>
        </p:spPr>
      </p:pic>
      <p:sp>
        <p:nvSpPr>
          <p:cNvPr id="16" name="Text 13"/>
          <p:cNvSpPr/>
          <p:nvPr/>
        </p:nvSpPr>
        <p:spPr>
          <a:xfrm>
            <a:off x="7360920" y="1810512"/>
            <a:ext cx="3657600" cy="274320"/>
          </a:xfrm>
          <a:prstGeom prst="rect">
            <a:avLst/>
          </a:prstGeom>
          <a:noFill/>
          <a:ln/>
        </p:spPr>
        <p:txBody>
          <a:bodyPr wrap="square" lIns="0" tIns="0" rIns="0" bIns="0" rtlCol="0" anchor="ctr"/>
          <a:lstStyle/>
          <a:p>
            <a:pPr marL="0" indent="0">
              <a:buNone/>
            </a:pPr>
            <a:r>
              <a:rPr lang="en-US" sz="1050" b="1" kern="0" spc="160" dirty="0">
                <a:solidFill>
                  <a:srgbClr val="95D5B2"/>
                </a:solidFill>
                <a:latin typeface="Calibri" pitchFamily="34" charset="0"/>
                <a:ea typeface="Calibri" pitchFamily="34" charset="-122"/>
                <a:cs typeface="Calibri" pitchFamily="34" charset="-120"/>
              </a:rPr>
              <a:t>AT A GLANCE</a:t>
            </a:r>
            <a:endParaRPr lang="en-US" sz="1050" dirty="0"/>
          </a:p>
        </p:txBody>
      </p:sp>
      <p:sp>
        <p:nvSpPr>
          <p:cNvPr id="17" name="Text 14"/>
          <p:cNvSpPr/>
          <p:nvPr/>
        </p:nvSpPr>
        <p:spPr>
          <a:xfrm>
            <a:off x="7360920" y="2212848"/>
            <a:ext cx="3931920" cy="228600"/>
          </a:xfrm>
          <a:prstGeom prst="rect">
            <a:avLst/>
          </a:prstGeom>
          <a:noFill/>
          <a:ln/>
        </p:spPr>
        <p:txBody>
          <a:bodyPr wrap="square" lIns="0" tIns="0" rIns="0" bIns="0" rtlCol="0" anchor="ctr"/>
          <a:lstStyle/>
          <a:p>
            <a:pPr marL="0" indent="0">
              <a:buNone/>
            </a:pPr>
            <a:r>
              <a:rPr lang="en-US" sz="900" b="1" kern="0" spc="80" dirty="0">
                <a:solidFill>
                  <a:srgbClr val="95D5B2"/>
                </a:solidFill>
                <a:latin typeface="Calibri" pitchFamily="34" charset="0"/>
                <a:ea typeface="Calibri" pitchFamily="34" charset="-122"/>
                <a:cs typeface="Calibri" pitchFamily="34" charset="-120"/>
              </a:rPr>
              <a:t>LEGAL NAME</a:t>
            </a:r>
            <a:endParaRPr lang="en-US" sz="900" dirty="0"/>
          </a:p>
        </p:txBody>
      </p:sp>
      <p:sp>
        <p:nvSpPr>
          <p:cNvPr id="18" name="Text 15"/>
          <p:cNvSpPr/>
          <p:nvPr/>
        </p:nvSpPr>
        <p:spPr>
          <a:xfrm>
            <a:off x="7360920" y="2432304"/>
            <a:ext cx="3977640" cy="45720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ECONEEMTECH LTD</a:t>
            </a:r>
            <a:endParaRPr lang="en-US" sz="1150" dirty="0"/>
          </a:p>
        </p:txBody>
      </p:sp>
      <p:sp>
        <p:nvSpPr>
          <p:cNvPr id="21" name="Text 18"/>
          <p:cNvSpPr/>
          <p:nvPr/>
        </p:nvSpPr>
        <p:spPr>
          <a:xfrm>
            <a:off x="7360920" y="2905824"/>
            <a:ext cx="3931920" cy="228600"/>
          </a:xfrm>
          <a:prstGeom prst="rect">
            <a:avLst/>
          </a:prstGeom>
          <a:noFill/>
          <a:ln/>
        </p:spPr>
        <p:txBody>
          <a:bodyPr wrap="square" lIns="0" tIns="0" rIns="0" bIns="0" rtlCol="0" anchor="ctr"/>
          <a:lstStyle/>
          <a:p>
            <a:pPr marL="0" indent="0">
              <a:buNone/>
            </a:pPr>
            <a:r>
              <a:rPr lang="en-US" sz="900" b="1" kern="0" spc="80" dirty="0">
                <a:solidFill>
                  <a:srgbClr val="95D5B2"/>
                </a:solidFill>
                <a:latin typeface="Calibri" pitchFamily="34" charset="0"/>
                <a:ea typeface="Calibri" pitchFamily="34" charset="-122"/>
                <a:cs typeface="Calibri" pitchFamily="34" charset="-120"/>
              </a:rPr>
              <a:t>ENTITY TYPE</a:t>
            </a:r>
            <a:endParaRPr lang="en-US" sz="900" dirty="0"/>
          </a:p>
        </p:txBody>
      </p:sp>
      <p:sp>
        <p:nvSpPr>
          <p:cNvPr id="22" name="Text 19"/>
          <p:cNvSpPr/>
          <p:nvPr/>
        </p:nvSpPr>
        <p:spPr>
          <a:xfrm>
            <a:off x="7360920" y="3017128"/>
            <a:ext cx="3977640" cy="45720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Private Company Limited by Shares</a:t>
            </a:r>
            <a:endParaRPr lang="en-US" sz="1150" dirty="0"/>
          </a:p>
        </p:txBody>
      </p:sp>
      <p:sp>
        <p:nvSpPr>
          <p:cNvPr id="23" name="Text 20"/>
          <p:cNvSpPr/>
          <p:nvPr/>
        </p:nvSpPr>
        <p:spPr>
          <a:xfrm>
            <a:off x="7360920" y="3439132"/>
            <a:ext cx="3931920" cy="228600"/>
          </a:xfrm>
          <a:prstGeom prst="rect">
            <a:avLst/>
          </a:prstGeom>
          <a:noFill/>
          <a:ln/>
        </p:spPr>
        <p:txBody>
          <a:bodyPr wrap="square" lIns="0" tIns="0" rIns="0" bIns="0" rtlCol="0" anchor="ctr"/>
          <a:lstStyle/>
          <a:p>
            <a:pPr marL="0" indent="0">
              <a:buNone/>
            </a:pPr>
            <a:r>
              <a:rPr lang="en-US" sz="900" b="1" kern="0" spc="80" dirty="0">
                <a:solidFill>
                  <a:srgbClr val="95D5B2"/>
                </a:solidFill>
                <a:latin typeface="Calibri" pitchFamily="34" charset="0"/>
                <a:ea typeface="Calibri" pitchFamily="34" charset="-122"/>
                <a:cs typeface="Calibri" pitchFamily="34" charset="-120"/>
              </a:rPr>
              <a:t>DATE REGISTERED</a:t>
            </a:r>
            <a:endParaRPr lang="en-US" sz="900" dirty="0"/>
          </a:p>
        </p:txBody>
      </p:sp>
      <p:sp>
        <p:nvSpPr>
          <p:cNvPr id="24" name="Text 21"/>
          <p:cNvSpPr/>
          <p:nvPr/>
        </p:nvSpPr>
        <p:spPr>
          <a:xfrm>
            <a:off x="7360920" y="3648754"/>
            <a:ext cx="3977640" cy="45720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30 August 2025</a:t>
            </a:r>
            <a:endParaRPr lang="en-US" sz="1150" dirty="0"/>
          </a:p>
        </p:txBody>
      </p:sp>
      <p:sp>
        <p:nvSpPr>
          <p:cNvPr id="25" name="Text 22"/>
          <p:cNvSpPr/>
          <p:nvPr/>
        </p:nvSpPr>
        <p:spPr>
          <a:xfrm>
            <a:off x="7360920" y="4169075"/>
            <a:ext cx="3931920" cy="228600"/>
          </a:xfrm>
          <a:prstGeom prst="rect">
            <a:avLst/>
          </a:prstGeom>
          <a:noFill/>
          <a:ln/>
        </p:spPr>
        <p:txBody>
          <a:bodyPr wrap="square" lIns="0" tIns="0" rIns="0" bIns="0" rtlCol="0" anchor="ctr"/>
          <a:lstStyle/>
          <a:p>
            <a:pPr marL="0" indent="0">
              <a:buNone/>
            </a:pPr>
            <a:r>
              <a:rPr lang="en-US" sz="900" b="1" kern="0" spc="80" dirty="0">
                <a:solidFill>
                  <a:srgbClr val="95D5B2"/>
                </a:solidFill>
                <a:latin typeface="Calibri" pitchFamily="34" charset="0"/>
                <a:ea typeface="Calibri" pitchFamily="34" charset="-122"/>
                <a:cs typeface="Calibri" pitchFamily="34" charset="-120"/>
              </a:rPr>
              <a:t>REGISTERED OFFICE</a:t>
            </a:r>
            <a:endParaRPr lang="en-US" sz="900" dirty="0"/>
          </a:p>
        </p:txBody>
      </p:sp>
      <p:sp>
        <p:nvSpPr>
          <p:cNvPr id="26" name="Text 23"/>
          <p:cNvSpPr/>
          <p:nvPr/>
        </p:nvSpPr>
        <p:spPr>
          <a:xfrm>
            <a:off x="7360920" y="4349203"/>
            <a:ext cx="3977640" cy="45720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Plot 805, Paul Unongo Street, Jabi, Abuja, FCT</a:t>
            </a:r>
            <a:endParaRPr lang="en-US" sz="1150" dirty="0"/>
          </a:p>
        </p:txBody>
      </p:sp>
      <p:sp>
        <p:nvSpPr>
          <p:cNvPr id="27" name="Text 24"/>
          <p:cNvSpPr/>
          <p:nvPr/>
        </p:nvSpPr>
        <p:spPr>
          <a:xfrm>
            <a:off x="7360920" y="4779164"/>
            <a:ext cx="3931920" cy="228600"/>
          </a:xfrm>
          <a:prstGeom prst="rect">
            <a:avLst/>
          </a:prstGeom>
          <a:noFill/>
          <a:ln/>
        </p:spPr>
        <p:txBody>
          <a:bodyPr wrap="square" lIns="0" tIns="0" rIns="0" bIns="0" rtlCol="0" anchor="ctr"/>
          <a:lstStyle/>
          <a:p>
            <a:pPr marL="0" indent="0">
              <a:buNone/>
            </a:pPr>
            <a:r>
              <a:rPr lang="en-US" sz="900" b="1" kern="0" spc="80" dirty="0">
                <a:solidFill>
                  <a:srgbClr val="95D5B2"/>
                </a:solidFill>
                <a:latin typeface="Calibri" pitchFamily="34" charset="0"/>
                <a:ea typeface="Calibri" pitchFamily="34" charset="-122"/>
                <a:cs typeface="Calibri" pitchFamily="34" charset="-120"/>
              </a:rPr>
              <a:t>GOVERNING LAW</a:t>
            </a:r>
            <a:endParaRPr lang="en-US" sz="900" dirty="0"/>
          </a:p>
        </p:txBody>
      </p:sp>
      <p:sp>
        <p:nvSpPr>
          <p:cNvPr id="28" name="Text 25"/>
          <p:cNvSpPr/>
          <p:nvPr/>
        </p:nvSpPr>
        <p:spPr>
          <a:xfrm>
            <a:off x="7360920" y="4939628"/>
            <a:ext cx="3977640" cy="45720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Companies and Allied Matters Act, 2020</a:t>
            </a:r>
            <a:endParaRPr lang="en-US" sz="1150" dirty="0"/>
          </a:p>
        </p:txBody>
      </p:sp>
      <p:sp>
        <p:nvSpPr>
          <p:cNvPr id="29" name="Text 26"/>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30" name="Text 27"/>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EXECUTIVE PROFILE</a:t>
            </a:r>
            <a:endParaRPr lang="en-US" sz="1250" dirty="0"/>
          </a:p>
        </p:txBody>
      </p:sp>
      <p:sp>
        <p:nvSpPr>
          <p:cNvPr id="3"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000" b="1" dirty="0">
                <a:solidFill>
                  <a:srgbClr val="1A2B22"/>
                </a:solidFill>
                <a:latin typeface="Cambria" pitchFamily="34" charset="0"/>
                <a:ea typeface="Cambria" pitchFamily="34" charset="-122"/>
                <a:cs typeface="Cambria" pitchFamily="34" charset="-120"/>
              </a:rPr>
              <a:t>Vision, Mission &amp; Core Values</a:t>
            </a:r>
            <a:endParaRPr lang="en-US" sz="3000" dirty="0"/>
          </a:p>
        </p:txBody>
      </p:sp>
      <p:sp>
        <p:nvSpPr>
          <p:cNvPr id="4" name="Shape 2"/>
          <p:cNvSpPr/>
          <p:nvPr/>
        </p:nvSpPr>
        <p:spPr>
          <a:xfrm>
            <a:off x="640080" y="1554480"/>
            <a:ext cx="5349240" cy="1691640"/>
          </a:xfrm>
          <a:prstGeom prst="roundRect">
            <a:avLst>
              <a:gd name="adj" fmla="val 5405"/>
            </a:avLst>
          </a:prstGeom>
          <a:solidFill>
            <a:srgbClr val="1B4332"/>
          </a:solidFill>
          <a:ln/>
          <a:effectLst>
            <a:outerShdw blurRad="127000" dist="38100" dir="5400000" algn="bl" rotWithShape="0">
              <a:srgbClr val="1B4332">
                <a:alpha val="10000"/>
              </a:srgbClr>
            </a:outerShdw>
          </a:effectLst>
        </p:spPr>
      </p:sp>
      <p:sp>
        <p:nvSpPr>
          <p:cNvPr id="5" name="Shape 3"/>
          <p:cNvSpPr/>
          <p:nvPr/>
        </p:nvSpPr>
        <p:spPr>
          <a:xfrm>
            <a:off x="914400" y="1810512"/>
            <a:ext cx="548640" cy="548640"/>
          </a:xfrm>
          <a:prstGeom prst="ellipse">
            <a:avLst/>
          </a:prstGeom>
          <a:solidFill>
            <a:srgbClr val="FFFFFF">
              <a:alpha val="10000"/>
            </a:srgbClr>
          </a:solidFill>
          <a:ln/>
        </p:spPr>
      </p:sp>
      <p:pic>
        <p:nvPicPr>
          <p:cNvPr id="6" name="Image 0" descr="assets/icons/bullseye_white.png"/>
          <p:cNvPicPr>
            <a:picLocks noChangeAspect="1"/>
          </p:cNvPicPr>
          <p:nvPr/>
        </p:nvPicPr>
        <p:blipFill>
          <a:blip r:embed="rId4"/>
          <a:stretch>
            <a:fillRect/>
          </a:stretch>
        </p:blipFill>
        <p:spPr>
          <a:xfrm>
            <a:off x="1042416" y="1938528"/>
            <a:ext cx="292608" cy="292608"/>
          </a:xfrm>
          <a:prstGeom prst="rect">
            <a:avLst/>
          </a:prstGeom>
        </p:spPr>
      </p:pic>
      <p:sp>
        <p:nvSpPr>
          <p:cNvPr id="7" name="Text 4"/>
          <p:cNvSpPr/>
          <p:nvPr/>
        </p:nvSpPr>
        <p:spPr>
          <a:xfrm>
            <a:off x="1627632" y="1783080"/>
            <a:ext cx="4114800" cy="274320"/>
          </a:xfrm>
          <a:prstGeom prst="rect">
            <a:avLst/>
          </a:prstGeom>
          <a:noFill/>
          <a:ln/>
        </p:spPr>
        <p:txBody>
          <a:bodyPr wrap="square" lIns="0" tIns="0" rIns="0" bIns="0" rtlCol="0" anchor="ctr"/>
          <a:lstStyle/>
          <a:p>
            <a:pPr marL="0" indent="0">
              <a:buNone/>
            </a:pPr>
            <a:r>
              <a:rPr lang="en-US" sz="1100" b="1" kern="0" spc="160" dirty="0">
                <a:solidFill>
                  <a:srgbClr val="95D5B2"/>
                </a:solidFill>
                <a:latin typeface="Calibri" pitchFamily="34" charset="0"/>
                <a:ea typeface="Calibri" pitchFamily="34" charset="-122"/>
                <a:cs typeface="Calibri" pitchFamily="34" charset="-120"/>
              </a:rPr>
              <a:t>OUR VISION</a:t>
            </a:r>
            <a:endParaRPr lang="en-US" sz="1100" dirty="0"/>
          </a:p>
        </p:txBody>
      </p:sp>
      <p:sp>
        <p:nvSpPr>
          <p:cNvPr id="8" name="Text 5"/>
          <p:cNvSpPr/>
          <p:nvPr/>
        </p:nvSpPr>
        <p:spPr>
          <a:xfrm>
            <a:off x="914400" y="2331720"/>
            <a:ext cx="4846320" cy="868680"/>
          </a:xfrm>
          <a:prstGeom prst="rect">
            <a:avLst/>
          </a:prstGeom>
          <a:noFill/>
          <a:ln/>
        </p:spPr>
        <p:txBody>
          <a:bodyPr wrap="square" lIns="0" tIns="0" rIns="0" bIns="0" rtlCol="0" anchor="ctr"/>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To become a leading voice in environmental health and hygiene — solving everyday problems through the power of nature-based innovation.</a:t>
            </a:r>
            <a:endParaRPr lang="en-US" sz="1250" dirty="0"/>
          </a:p>
        </p:txBody>
      </p:sp>
      <p:sp>
        <p:nvSpPr>
          <p:cNvPr id="9" name="Shape 6"/>
          <p:cNvSpPr/>
          <p:nvPr/>
        </p:nvSpPr>
        <p:spPr>
          <a:xfrm>
            <a:off x="6199632" y="1554480"/>
            <a:ext cx="5349240" cy="1691640"/>
          </a:xfrm>
          <a:prstGeom prst="roundRect">
            <a:avLst>
              <a:gd name="adj" fmla="val 5405"/>
            </a:avLst>
          </a:prstGeom>
          <a:solidFill>
            <a:srgbClr val="2D6A4F"/>
          </a:solidFill>
          <a:ln/>
          <a:effectLst>
            <a:outerShdw blurRad="127000" dist="38100" dir="5400000" algn="bl" rotWithShape="0">
              <a:srgbClr val="1B4332">
                <a:alpha val="10000"/>
              </a:srgbClr>
            </a:outerShdw>
          </a:effectLst>
        </p:spPr>
      </p:sp>
      <p:sp>
        <p:nvSpPr>
          <p:cNvPr id="10" name="Shape 7"/>
          <p:cNvSpPr/>
          <p:nvPr/>
        </p:nvSpPr>
        <p:spPr>
          <a:xfrm>
            <a:off x="6473952" y="1810512"/>
            <a:ext cx="548640" cy="548640"/>
          </a:xfrm>
          <a:prstGeom prst="ellipse">
            <a:avLst/>
          </a:prstGeom>
          <a:solidFill>
            <a:srgbClr val="FFFFFF">
              <a:alpha val="10000"/>
            </a:srgbClr>
          </a:solidFill>
          <a:ln/>
        </p:spPr>
      </p:sp>
      <p:pic>
        <p:nvPicPr>
          <p:cNvPr id="11" name="Image 1" descr="assets/icons/seedling_white.png"/>
          <p:cNvPicPr>
            <a:picLocks noChangeAspect="1"/>
          </p:cNvPicPr>
          <p:nvPr/>
        </p:nvPicPr>
        <p:blipFill>
          <a:blip r:embed="rId5"/>
          <a:stretch>
            <a:fillRect/>
          </a:stretch>
        </p:blipFill>
        <p:spPr>
          <a:xfrm>
            <a:off x="6601968" y="1938528"/>
            <a:ext cx="292608" cy="292608"/>
          </a:xfrm>
          <a:prstGeom prst="rect">
            <a:avLst/>
          </a:prstGeom>
        </p:spPr>
      </p:pic>
      <p:sp>
        <p:nvSpPr>
          <p:cNvPr id="12" name="Text 8"/>
          <p:cNvSpPr/>
          <p:nvPr/>
        </p:nvSpPr>
        <p:spPr>
          <a:xfrm>
            <a:off x="7187184" y="1783080"/>
            <a:ext cx="4114800" cy="274320"/>
          </a:xfrm>
          <a:prstGeom prst="rect">
            <a:avLst/>
          </a:prstGeom>
          <a:noFill/>
          <a:ln/>
        </p:spPr>
        <p:txBody>
          <a:bodyPr wrap="square" lIns="0" tIns="0" rIns="0" bIns="0" rtlCol="0" anchor="ctr"/>
          <a:lstStyle/>
          <a:p>
            <a:pPr marL="0" indent="0">
              <a:buNone/>
            </a:pPr>
            <a:r>
              <a:rPr lang="en-US" sz="1100" b="1" kern="0" spc="160" dirty="0">
                <a:solidFill>
                  <a:srgbClr val="D8E8DC"/>
                </a:solidFill>
                <a:latin typeface="Calibri" pitchFamily="34" charset="0"/>
                <a:ea typeface="Calibri" pitchFamily="34" charset="-122"/>
                <a:cs typeface="Calibri" pitchFamily="34" charset="-120"/>
              </a:rPr>
              <a:t>OUR MISSION</a:t>
            </a:r>
            <a:endParaRPr lang="en-US" sz="1100" dirty="0"/>
          </a:p>
        </p:txBody>
      </p:sp>
      <p:sp>
        <p:nvSpPr>
          <p:cNvPr id="13" name="Text 9"/>
          <p:cNvSpPr/>
          <p:nvPr/>
        </p:nvSpPr>
        <p:spPr>
          <a:xfrm>
            <a:off x="6473952" y="2331720"/>
            <a:ext cx="4846320" cy="868680"/>
          </a:xfrm>
          <a:prstGeom prst="rect">
            <a:avLst/>
          </a:prstGeom>
          <a:noFill/>
          <a:ln/>
        </p:spPr>
        <p:txBody>
          <a:bodyPr wrap="square" lIns="0" tIns="0" rIns="0" bIns="0" rtlCol="0" anchor="ctr"/>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To harness the gifts of nature, particularly Neem, in developing lasting, accessible solutions to environmental and health challenges.</a:t>
            </a:r>
            <a:endParaRPr lang="en-US" sz="1250" dirty="0"/>
          </a:p>
        </p:txBody>
      </p:sp>
      <p:sp>
        <p:nvSpPr>
          <p:cNvPr id="14" name="Text 10"/>
          <p:cNvSpPr/>
          <p:nvPr/>
        </p:nvSpPr>
        <p:spPr>
          <a:xfrm>
            <a:off x="640080" y="3520440"/>
            <a:ext cx="3657600" cy="274320"/>
          </a:xfrm>
          <a:prstGeom prst="rect">
            <a:avLst/>
          </a:prstGeom>
          <a:noFill/>
          <a:ln/>
        </p:spPr>
        <p:txBody>
          <a:bodyPr wrap="square" lIns="0" tIns="0" rIns="0" bIns="0" rtlCol="0" anchor="ctr"/>
          <a:lstStyle/>
          <a:p>
            <a:pPr marL="0" indent="0">
              <a:buNone/>
            </a:pPr>
            <a:r>
              <a:rPr lang="en-US" sz="1100" b="1" kern="0" spc="180" dirty="0">
                <a:solidFill>
                  <a:srgbClr val="2D6A4F"/>
                </a:solidFill>
                <a:latin typeface="Calibri" pitchFamily="34" charset="0"/>
                <a:ea typeface="Calibri" pitchFamily="34" charset="-122"/>
                <a:cs typeface="Calibri" pitchFamily="34" charset="-120"/>
              </a:rPr>
              <a:t>CORE VALUES</a:t>
            </a:r>
            <a:endParaRPr lang="en-US" sz="1100" dirty="0"/>
          </a:p>
        </p:txBody>
      </p:sp>
      <p:sp>
        <p:nvSpPr>
          <p:cNvPr id="15" name="Shape 11"/>
          <p:cNvSpPr/>
          <p:nvPr/>
        </p:nvSpPr>
        <p:spPr>
          <a:xfrm>
            <a:off x="640080" y="3886200"/>
            <a:ext cx="2560320" cy="2240280"/>
          </a:xfrm>
          <a:prstGeom prst="roundRect">
            <a:avLst>
              <a:gd name="adj" fmla="val 4082"/>
            </a:avLst>
          </a:prstGeom>
          <a:solidFill>
            <a:srgbClr val="FAF9F6"/>
          </a:solidFill>
          <a:ln w="9525">
            <a:solidFill>
              <a:srgbClr val="E3E6E0"/>
            </a:solidFill>
            <a:prstDash val="solid"/>
          </a:ln>
        </p:spPr>
      </p:sp>
      <p:sp>
        <p:nvSpPr>
          <p:cNvPr id="16" name="Shape 12"/>
          <p:cNvSpPr/>
          <p:nvPr/>
        </p:nvSpPr>
        <p:spPr>
          <a:xfrm>
            <a:off x="868680" y="4114800"/>
            <a:ext cx="512064" cy="512064"/>
          </a:xfrm>
          <a:prstGeom prst="ellipse">
            <a:avLst/>
          </a:prstGeom>
          <a:solidFill>
            <a:srgbClr val="D8E8DC"/>
          </a:solidFill>
          <a:ln/>
        </p:spPr>
      </p:sp>
      <p:pic>
        <p:nvPicPr>
          <p:cNvPr id="17" name="Image 2" descr="assets/icons/leaf_deep.png"/>
          <p:cNvPicPr>
            <a:picLocks noChangeAspect="1"/>
          </p:cNvPicPr>
          <p:nvPr/>
        </p:nvPicPr>
        <p:blipFill>
          <a:blip r:embed="rId6"/>
          <a:stretch>
            <a:fillRect/>
          </a:stretch>
        </p:blipFill>
        <p:spPr>
          <a:xfrm>
            <a:off x="1005840" y="4251960"/>
            <a:ext cx="256032" cy="256032"/>
          </a:xfrm>
          <a:prstGeom prst="rect">
            <a:avLst/>
          </a:prstGeom>
        </p:spPr>
      </p:pic>
      <p:sp>
        <p:nvSpPr>
          <p:cNvPr id="18" name="Text 13"/>
          <p:cNvSpPr/>
          <p:nvPr/>
        </p:nvSpPr>
        <p:spPr>
          <a:xfrm>
            <a:off x="868680" y="4754880"/>
            <a:ext cx="2148840" cy="365760"/>
          </a:xfrm>
          <a:prstGeom prst="rect">
            <a:avLst/>
          </a:prstGeom>
          <a:noFill/>
          <a:ln/>
        </p:spPr>
        <p:txBody>
          <a:bodyPr wrap="square" lIns="0" tIns="0" rIns="0" bIns="0" rtlCol="0" anchor="ctr"/>
          <a:lstStyle/>
          <a:p>
            <a:pPr marL="0" indent="0">
              <a:buNone/>
            </a:pPr>
            <a:r>
              <a:rPr lang="en-US" sz="1350" b="1" dirty="0">
                <a:solidFill>
                  <a:srgbClr val="1A2B22"/>
                </a:solidFill>
                <a:latin typeface="Cambria" pitchFamily="34" charset="0"/>
                <a:ea typeface="Cambria" pitchFamily="34" charset="-122"/>
                <a:cs typeface="Cambria" pitchFamily="34" charset="-120"/>
              </a:rPr>
              <a:t>Nature First</a:t>
            </a:r>
            <a:endParaRPr lang="en-US" sz="1350" dirty="0"/>
          </a:p>
        </p:txBody>
      </p:sp>
      <p:sp>
        <p:nvSpPr>
          <p:cNvPr id="19" name="Text 14"/>
          <p:cNvSpPr/>
          <p:nvPr/>
        </p:nvSpPr>
        <p:spPr>
          <a:xfrm>
            <a:off x="868680" y="5120640"/>
            <a:ext cx="2148840" cy="914400"/>
          </a:xfrm>
          <a:prstGeom prst="rect">
            <a:avLst/>
          </a:prstGeom>
          <a:noFill/>
          <a:ln/>
        </p:spPr>
        <p:txBody>
          <a:bodyPr wrap="square" lIns="0" tIns="0" rIns="0" bIns="0" rtlCol="0" anchor="ctr"/>
          <a:lstStyle/>
          <a:p>
            <a:pPr marL="0" indent="0">
              <a:lnSpc>
                <a:spcPct val="120000"/>
              </a:lnSpc>
              <a:buNone/>
            </a:pPr>
            <a:r>
              <a:rPr lang="en-US" sz="1050" dirty="0">
                <a:solidFill>
                  <a:srgbClr val="3F4A42"/>
                </a:solidFill>
                <a:latin typeface="Calibri" pitchFamily="34" charset="0"/>
                <a:ea typeface="Calibri" pitchFamily="34" charset="-122"/>
                <a:cs typeface="Calibri" pitchFamily="34" charset="-120"/>
              </a:rPr>
              <a:t>Every formulation begins with naturally derived, sustainable ingredients.</a:t>
            </a:r>
            <a:endParaRPr lang="en-US" sz="1050" dirty="0"/>
          </a:p>
        </p:txBody>
      </p:sp>
      <p:sp>
        <p:nvSpPr>
          <p:cNvPr id="20" name="Shape 15"/>
          <p:cNvSpPr/>
          <p:nvPr/>
        </p:nvSpPr>
        <p:spPr>
          <a:xfrm>
            <a:off x="3383280" y="3886200"/>
            <a:ext cx="2560320" cy="2240280"/>
          </a:xfrm>
          <a:prstGeom prst="roundRect">
            <a:avLst>
              <a:gd name="adj" fmla="val 4082"/>
            </a:avLst>
          </a:prstGeom>
          <a:solidFill>
            <a:srgbClr val="FAF9F6"/>
          </a:solidFill>
          <a:ln w="9525">
            <a:solidFill>
              <a:srgbClr val="E3E6E0"/>
            </a:solidFill>
            <a:prstDash val="solid"/>
          </a:ln>
        </p:spPr>
      </p:sp>
      <p:sp>
        <p:nvSpPr>
          <p:cNvPr id="21" name="Shape 16"/>
          <p:cNvSpPr/>
          <p:nvPr/>
        </p:nvSpPr>
        <p:spPr>
          <a:xfrm>
            <a:off x="3611880" y="4114800"/>
            <a:ext cx="512064" cy="512064"/>
          </a:xfrm>
          <a:prstGeom prst="ellipse">
            <a:avLst/>
          </a:prstGeom>
          <a:solidFill>
            <a:srgbClr val="D8E8DC"/>
          </a:solidFill>
          <a:ln/>
        </p:spPr>
      </p:sp>
      <p:pic>
        <p:nvPicPr>
          <p:cNvPr id="22" name="Image 3" descr="assets/icons/microscope_deep.png"/>
          <p:cNvPicPr>
            <a:picLocks noChangeAspect="1"/>
          </p:cNvPicPr>
          <p:nvPr/>
        </p:nvPicPr>
        <p:blipFill>
          <a:blip r:embed="rId7"/>
          <a:stretch>
            <a:fillRect/>
          </a:stretch>
        </p:blipFill>
        <p:spPr>
          <a:xfrm>
            <a:off x="3749040" y="4251960"/>
            <a:ext cx="256032" cy="256032"/>
          </a:xfrm>
          <a:prstGeom prst="rect">
            <a:avLst/>
          </a:prstGeom>
        </p:spPr>
      </p:pic>
      <p:sp>
        <p:nvSpPr>
          <p:cNvPr id="23" name="Text 17"/>
          <p:cNvSpPr/>
          <p:nvPr/>
        </p:nvSpPr>
        <p:spPr>
          <a:xfrm>
            <a:off x="3611880" y="4754880"/>
            <a:ext cx="2148840" cy="365760"/>
          </a:xfrm>
          <a:prstGeom prst="rect">
            <a:avLst/>
          </a:prstGeom>
          <a:noFill/>
          <a:ln/>
        </p:spPr>
        <p:txBody>
          <a:bodyPr wrap="square" lIns="0" tIns="0" rIns="0" bIns="0" rtlCol="0" anchor="ctr"/>
          <a:lstStyle/>
          <a:p>
            <a:pPr marL="0" indent="0">
              <a:buNone/>
            </a:pPr>
            <a:r>
              <a:rPr lang="en-US" sz="1350" b="1" dirty="0">
                <a:solidFill>
                  <a:srgbClr val="1A2B22"/>
                </a:solidFill>
                <a:latin typeface="Cambria" pitchFamily="34" charset="0"/>
                <a:ea typeface="Cambria" pitchFamily="34" charset="-122"/>
                <a:cs typeface="Cambria" pitchFamily="34" charset="-120"/>
              </a:rPr>
              <a:t>Scientific Rigor</a:t>
            </a:r>
            <a:endParaRPr lang="en-US" sz="1350" dirty="0"/>
          </a:p>
        </p:txBody>
      </p:sp>
      <p:sp>
        <p:nvSpPr>
          <p:cNvPr id="24" name="Text 18"/>
          <p:cNvSpPr/>
          <p:nvPr/>
        </p:nvSpPr>
        <p:spPr>
          <a:xfrm>
            <a:off x="3611880" y="5120640"/>
            <a:ext cx="2148840" cy="914400"/>
          </a:xfrm>
          <a:prstGeom prst="rect">
            <a:avLst/>
          </a:prstGeom>
          <a:noFill/>
          <a:ln/>
        </p:spPr>
        <p:txBody>
          <a:bodyPr wrap="square" lIns="0" tIns="0" rIns="0" bIns="0" rtlCol="0" anchor="ctr"/>
          <a:lstStyle/>
          <a:p>
            <a:pPr marL="0" indent="0">
              <a:lnSpc>
                <a:spcPct val="120000"/>
              </a:lnSpc>
              <a:buNone/>
            </a:pPr>
            <a:r>
              <a:rPr lang="en-US" sz="1050" dirty="0">
                <a:solidFill>
                  <a:srgbClr val="3F4A42"/>
                </a:solidFill>
                <a:latin typeface="Calibri" pitchFamily="34" charset="0"/>
                <a:ea typeface="Calibri" pitchFamily="34" charset="-122"/>
                <a:cs typeface="Calibri" pitchFamily="34" charset="-120"/>
              </a:rPr>
              <a:t>Traditional botanical wisdom validated through modern research.</a:t>
            </a:r>
            <a:endParaRPr lang="en-US" sz="1050" dirty="0"/>
          </a:p>
        </p:txBody>
      </p:sp>
      <p:sp>
        <p:nvSpPr>
          <p:cNvPr id="25" name="Shape 19"/>
          <p:cNvSpPr/>
          <p:nvPr/>
        </p:nvSpPr>
        <p:spPr>
          <a:xfrm>
            <a:off x="6126480" y="3886200"/>
            <a:ext cx="2560320" cy="2240280"/>
          </a:xfrm>
          <a:prstGeom prst="roundRect">
            <a:avLst>
              <a:gd name="adj" fmla="val 4082"/>
            </a:avLst>
          </a:prstGeom>
          <a:solidFill>
            <a:srgbClr val="FAF9F6"/>
          </a:solidFill>
          <a:ln w="9525">
            <a:solidFill>
              <a:srgbClr val="E3E6E0"/>
            </a:solidFill>
            <a:prstDash val="solid"/>
          </a:ln>
        </p:spPr>
      </p:sp>
      <p:sp>
        <p:nvSpPr>
          <p:cNvPr id="26" name="Shape 20"/>
          <p:cNvSpPr/>
          <p:nvPr/>
        </p:nvSpPr>
        <p:spPr>
          <a:xfrm>
            <a:off x="6355080" y="4114800"/>
            <a:ext cx="512064" cy="512064"/>
          </a:xfrm>
          <a:prstGeom prst="ellipse">
            <a:avLst/>
          </a:prstGeom>
          <a:solidFill>
            <a:srgbClr val="D8E8DC"/>
          </a:solidFill>
          <a:ln/>
        </p:spPr>
      </p:sp>
      <p:pic>
        <p:nvPicPr>
          <p:cNvPr id="27" name="Image 4" descr="assets/icons/shield_deep.png"/>
          <p:cNvPicPr>
            <a:picLocks noChangeAspect="1"/>
          </p:cNvPicPr>
          <p:nvPr/>
        </p:nvPicPr>
        <p:blipFill>
          <a:blip r:embed="rId8"/>
          <a:stretch>
            <a:fillRect/>
          </a:stretch>
        </p:blipFill>
        <p:spPr>
          <a:xfrm>
            <a:off x="6492240" y="4251960"/>
            <a:ext cx="256032" cy="256032"/>
          </a:xfrm>
          <a:prstGeom prst="rect">
            <a:avLst/>
          </a:prstGeom>
        </p:spPr>
      </p:pic>
      <p:sp>
        <p:nvSpPr>
          <p:cNvPr id="28" name="Text 21"/>
          <p:cNvSpPr/>
          <p:nvPr/>
        </p:nvSpPr>
        <p:spPr>
          <a:xfrm>
            <a:off x="6355080" y="4754880"/>
            <a:ext cx="2148840" cy="365760"/>
          </a:xfrm>
          <a:prstGeom prst="rect">
            <a:avLst/>
          </a:prstGeom>
          <a:noFill/>
          <a:ln/>
        </p:spPr>
        <p:txBody>
          <a:bodyPr wrap="square" lIns="0" tIns="0" rIns="0" bIns="0" rtlCol="0" anchor="ctr"/>
          <a:lstStyle/>
          <a:p>
            <a:pPr marL="0" indent="0">
              <a:buNone/>
            </a:pPr>
            <a:r>
              <a:rPr lang="en-US" sz="1350" b="1" dirty="0">
                <a:solidFill>
                  <a:srgbClr val="1A2B22"/>
                </a:solidFill>
                <a:latin typeface="Cambria" pitchFamily="34" charset="0"/>
                <a:ea typeface="Cambria" pitchFamily="34" charset="-122"/>
                <a:cs typeface="Cambria" pitchFamily="34" charset="-120"/>
              </a:rPr>
              <a:t>Health &amp; Safety</a:t>
            </a:r>
            <a:endParaRPr lang="en-US" sz="1350" dirty="0"/>
          </a:p>
        </p:txBody>
      </p:sp>
      <p:sp>
        <p:nvSpPr>
          <p:cNvPr id="29" name="Text 22"/>
          <p:cNvSpPr/>
          <p:nvPr/>
        </p:nvSpPr>
        <p:spPr>
          <a:xfrm>
            <a:off x="6355080" y="5120640"/>
            <a:ext cx="2148840" cy="914400"/>
          </a:xfrm>
          <a:prstGeom prst="rect">
            <a:avLst/>
          </a:prstGeom>
          <a:noFill/>
          <a:ln/>
        </p:spPr>
        <p:txBody>
          <a:bodyPr wrap="square" lIns="0" tIns="0" rIns="0" bIns="0" rtlCol="0" anchor="ctr"/>
          <a:lstStyle/>
          <a:p>
            <a:pPr marL="0" indent="0">
              <a:lnSpc>
                <a:spcPct val="120000"/>
              </a:lnSpc>
              <a:buNone/>
            </a:pPr>
            <a:r>
              <a:rPr lang="en-US" sz="1050" dirty="0">
                <a:solidFill>
                  <a:srgbClr val="3F4A42"/>
                </a:solidFill>
                <a:latin typeface="Calibri" pitchFamily="34" charset="0"/>
                <a:ea typeface="Calibri" pitchFamily="34" charset="-122"/>
                <a:cs typeface="Calibri" pitchFamily="34" charset="-120"/>
              </a:rPr>
              <a:t>Products designed to protect people without harmful chemicals.</a:t>
            </a:r>
            <a:endParaRPr lang="en-US" sz="1050" dirty="0"/>
          </a:p>
        </p:txBody>
      </p:sp>
      <p:sp>
        <p:nvSpPr>
          <p:cNvPr id="30" name="Shape 23"/>
          <p:cNvSpPr/>
          <p:nvPr/>
        </p:nvSpPr>
        <p:spPr>
          <a:xfrm>
            <a:off x="8869680" y="3886200"/>
            <a:ext cx="2560320" cy="2240280"/>
          </a:xfrm>
          <a:prstGeom prst="roundRect">
            <a:avLst>
              <a:gd name="adj" fmla="val 4082"/>
            </a:avLst>
          </a:prstGeom>
          <a:solidFill>
            <a:srgbClr val="FAF9F6"/>
          </a:solidFill>
          <a:ln w="9525">
            <a:solidFill>
              <a:srgbClr val="E3E6E0"/>
            </a:solidFill>
            <a:prstDash val="solid"/>
          </a:ln>
        </p:spPr>
      </p:sp>
      <p:sp>
        <p:nvSpPr>
          <p:cNvPr id="31" name="Shape 24"/>
          <p:cNvSpPr/>
          <p:nvPr/>
        </p:nvSpPr>
        <p:spPr>
          <a:xfrm>
            <a:off x="9098280" y="4114800"/>
            <a:ext cx="512064" cy="512064"/>
          </a:xfrm>
          <a:prstGeom prst="ellipse">
            <a:avLst/>
          </a:prstGeom>
          <a:solidFill>
            <a:srgbClr val="D8E8DC"/>
          </a:solidFill>
          <a:ln/>
        </p:spPr>
      </p:sp>
      <p:pic>
        <p:nvPicPr>
          <p:cNvPr id="32" name="Image 5" descr="assets/icons/globe_deep.png"/>
          <p:cNvPicPr>
            <a:picLocks noChangeAspect="1"/>
          </p:cNvPicPr>
          <p:nvPr/>
        </p:nvPicPr>
        <p:blipFill>
          <a:blip r:embed="rId9"/>
          <a:stretch>
            <a:fillRect/>
          </a:stretch>
        </p:blipFill>
        <p:spPr>
          <a:xfrm>
            <a:off x="9235440" y="4251960"/>
            <a:ext cx="256032" cy="256032"/>
          </a:xfrm>
          <a:prstGeom prst="rect">
            <a:avLst/>
          </a:prstGeom>
        </p:spPr>
      </p:pic>
      <p:sp>
        <p:nvSpPr>
          <p:cNvPr id="33" name="Text 25"/>
          <p:cNvSpPr/>
          <p:nvPr/>
        </p:nvSpPr>
        <p:spPr>
          <a:xfrm>
            <a:off x="9098280" y="4754880"/>
            <a:ext cx="2148840" cy="365760"/>
          </a:xfrm>
          <a:prstGeom prst="rect">
            <a:avLst/>
          </a:prstGeom>
          <a:noFill/>
          <a:ln/>
        </p:spPr>
        <p:txBody>
          <a:bodyPr wrap="square" lIns="0" tIns="0" rIns="0" bIns="0" rtlCol="0" anchor="ctr"/>
          <a:lstStyle/>
          <a:p>
            <a:pPr marL="0" indent="0">
              <a:buNone/>
            </a:pPr>
            <a:r>
              <a:rPr lang="en-US" sz="1350" b="1" dirty="0">
                <a:solidFill>
                  <a:srgbClr val="1A2B22"/>
                </a:solidFill>
                <a:latin typeface="Cambria" pitchFamily="34" charset="0"/>
                <a:ea typeface="Cambria" pitchFamily="34" charset="-122"/>
                <a:cs typeface="Cambria" pitchFamily="34" charset="-120"/>
              </a:rPr>
              <a:t>Sustainability</a:t>
            </a:r>
            <a:endParaRPr lang="en-US" sz="1350" dirty="0"/>
          </a:p>
        </p:txBody>
      </p:sp>
      <p:sp>
        <p:nvSpPr>
          <p:cNvPr id="34" name="Text 26"/>
          <p:cNvSpPr/>
          <p:nvPr/>
        </p:nvSpPr>
        <p:spPr>
          <a:xfrm>
            <a:off x="9098280" y="5120640"/>
            <a:ext cx="2148840" cy="914400"/>
          </a:xfrm>
          <a:prstGeom prst="rect">
            <a:avLst/>
          </a:prstGeom>
          <a:noFill/>
          <a:ln/>
        </p:spPr>
        <p:txBody>
          <a:bodyPr wrap="square" lIns="0" tIns="0" rIns="0" bIns="0" rtlCol="0" anchor="ctr"/>
          <a:lstStyle/>
          <a:p>
            <a:pPr marL="0" indent="0">
              <a:lnSpc>
                <a:spcPct val="120000"/>
              </a:lnSpc>
              <a:buNone/>
            </a:pPr>
            <a:r>
              <a:rPr lang="en-US" sz="1050" dirty="0">
                <a:solidFill>
                  <a:srgbClr val="3F4A42"/>
                </a:solidFill>
                <a:latin typeface="Calibri" pitchFamily="34" charset="0"/>
                <a:ea typeface="Calibri" pitchFamily="34" charset="-122"/>
                <a:cs typeface="Calibri" pitchFamily="34" charset="-120"/>
              </a:rPr>
              <a:t>Environmental responsibility embedded in every process and decision.</a:t>
            </a:r>
            <a:endParaRPr lang="en-US" sz="1050" dirty="0"/>
          </a:p>
        </p:txBody>
      </p:sp>
      <p:sp>
        <p:nvSpPr>
          <p:cNvPr id="35" name="Text 27"/>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36" name="Text 28"/>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COMPANY BACKGROUND</a:t>
            </a:r>
            <a:endParaRPr lang="en-US" sz="1250" dirty="0"/>
          </a:p>
        </p:txBody>
      </p:sp>
      <p:sp>
        <p:nvSpPr>
          <p:cNvPr id="3"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200" b="1" dirty="0">
                <a:solidFill>
                  <a:srgbClr val="1A2B22"/>
                </a:solidFill>
                <a:latin typeface="Cambria" pitchFamily="34" charset="0"/>
                <a:ea typeface="Cambria" pitchFamily="34" charset="-122"/>
                <a:cs typeface="Cambria" pitchFamily="34" charset="-120"/>
              </a:rPr>
              <a:t>Our Story</a:t>
            </a:r>
            <a:endParaRPr lang="en-US" sz="3200" dirty="0"/>
          </a:p>
        </p:txBody>
      </p:sp>
      <p:sp>
        <p:nvSpPr>
          <p:cNvPr id="4" name="Text 2"/>
          <p:cNvSpPr/>
          <p:nvPr/>
        </p:nvSpPr>
        <p:spPr>
          <a:xfrm>
            <a:off x="640080" y="1645920"/>
            <a:ext cx="5212080" cy="1188720"/>
          </a:xfrm>
          <a:prstGeom prst="rect">
            <a:avLst/>
          </a:prstGeom>
          <a:noFill/>
          <a:ln/>
        </p:spPr>
        <p:txBody>
          <a:bodyPr wrap="square" lIns="0" tIns="0" rIns="0" bIns="0" rtlCol="0" anchor="ctr"/>
          <a:lstStyle/>
          <a:p>
            <a:pPr marL="0" indent="0">
              <a:lnSpc>
                <a:spcPct val="135000"/>
              </a:lnSpc>
              <a:buNone/>
            </a:pPr>
            <a:r>
              <a:rPr lang="en-US" sz="1300" dirty="0">
                <a:solidFill>
                  <a:srgbClr val="3F4A42"/>
                </a:solidFill>
                <a:latin typeface="Calibri" pitchFamily="34" charset="0"/>
                <a:ea typeface="Calibri" pitchFamily="34" charset="-122"/>
                <a:cs typeface="Calibri" pitchFamily="34" charset="-120"/>
              </a:rPr>
              <a:t>ECONEEMTECH LTD was founded by a team of Nigerian innovators who recognised a simple truth: many of the everyday health, hygiene, and environmental problems facing households and communities can be addressed with solutions nature has already provided.</a:t>
            </a:r>
            <a:endParaRPr lang="en-US" sz="1300" dirty="0"/>
          </a:p>
        </p:txBody>
      </p:sp>
      <p:sp>
        <p:nvSpPr>
          <p:cNvPr id="5" name="Text 3"/>
          <p:cNvSpPr/>
          <p:nvPr/>
        </p:nvSpPr>
        <p:spPr>
          <a:xfrm>
            <a:off x="640080" y="2880360"/>
            <a:ext cx="5212080" cy="1188720"/>
          </a:xfrm>
          <a:prstGeom prst="rect">
            <a:avLst/>
          </a:prstGeom>
          <a:noFill/>
          <a:ln/>
        </p:spPr>
        <p:txBody>
          <a:bodyPr wrap="square" lIns="0" tIns="0" rIns="0" bIns="0" rtlCol="0" anchor="ctr"/>
          <a:lstStyle/>
          <a:p>
            <a:pPr marL="0" indent="0">
              <a:lnSpc>
                <a:spcPct val="135000"/>
              </a:lnSpc>
              <a:buNone/>
            </a:pPr>
            <a:r>
              <a:rPr lang="en-US" sz="1300" dirty="0">
                <a:solidFill>
                  <a:srgbClr val="3F4A42"/>
                </a:solidFill>
                <a:latin typeface="Calibri" pitchFamily="34" charset="0"/>
                <a:ea typeface="Calibri" pitchFamily="34" charset="-122"/>
                <a:cs typeface="Calibri" pitchFamily="34" charset="-120"/>
              </a:rPr>
              <a:t>Centred on Neem (Azadirachta indica)  a tree long valued across Africa and Asia for its antibacterial, antifungal, and therapeutic properties, the company was established to convert that traditional knowledge into rigorously developed, commercially viable products.</a:t>
            </a:r>
            <a:endParaRPr lang="en-US" sz="1300" dirty="0"/>
          </a:p>
        </p:txBody>
      </p:sp>
      <p:sp>
        <p:nvSpPr>
          <p:cNvPr id="6" name="Text 4"/>
          <p:cNvSpPr/>
          <p:nvPr/>
        </p:nvSpPr>
        <p:spPr>
          <a:xfrm>
            <a:off x="640080" y="4114800"/>
            <a:ext cx="5212080" cy="1188720"/>
          </a:xfrm>
          <a:prstGeom prst="rect">
            <a:avLst/>
          </a:prstGeom>
          <a:noFill/>
          <a:ln/>
        </p:spPr>
        <p:txBody>
          <a:bodyPr wrap="square" lIns="0" tIns="0" rIns="0" bIns="0" rtlCol="0" anchor="ctr"/>
          <a:lstStyle/>
          <a:p>
            <a:pPr marL="0" indent="0">
              <a:lnSpc>
                <a:spcPct val="135000"/>
              </a:lnSpc>
              <a:buNone/>
            </a:pPr>
            <a:r>
              <a:rPr lang="en-US" sz="1300" dirty="0">
                <a:solidFill>
                  <a:srgbClr val="3F4A42"/>
                </a:solidFill>
                <a:latin typeface="Calibri" pitchFamily="34" charset="0"/>
                <a:ea typeface="Calibri" pitchFamily="34" charset="-122"/>
                <a:cs typeface="Calibri" pitchFamily="34" charset="-120"/>
              </a:rPr>
              <a:t>Incorporated on 30 August 2025 under the Companies and Allied Matters Act, 2020, ECONEEMTECH LTD was built on a single conviction: that sustainable, natural innovation should be within everyone's reach.</a:t>
            </a:r>
            <a:endParaRPr lang="en-US" sz="1300" dirty="0"/>
          </a:p>
        </p:txBody>
      </p:sp>
      <p:sp>
        <p:nvSpPr>
          <p:cNvPr id="7" name="Shape 5"/>
          <p:cNvSpPr/>
          <p:nvPr/>
        </p:nvSpPr>
        <p:spPr>
          <a:xfrm>
            <a:off x="6263640" y="1600200"/>
            <a:ext cx="5303520" cy="4526280"/>
          </a:xfrm>
          <a:prstGeom prst="roundRect">
            <a:avLst>
              <a:gd name="adj" fmla="val 2424"/>
            </a:avLst>
          </a:prstGeom>
          <a:solidFill>
            <a:srgbClr val="1B4332"/>
          </a:solidFill>
          <a:ln/>
          <a:effectLst>
            <a:outerShdw blurRad="177800" dist="50800" dir="5400000" algn="bl" rotWithShape="0">
              <a:srgbClr val="1B4332">
                <a:alpha val="12000"/>
              </a:srgbClr>
            </a:outerShdw>
          </a:effectLst>
        </p:spPr>
      </p:sp>
      <p:sp>
        <p:nvSpPr>
          <p:cNvPr id="8" name="Text 6"/>
          <p:cNvSpPr/>
          <p:nvPr/>
        </p:nvSpPr>
        <p:spPr>
          <a:xfrm>
            <a:off x="6629400" y="1874520"/>
            <a:ext cx="4572000" cy="274320"/>
          </a:xfrm>
          <a:prstGeom prst="rect">
            <a:avLst/>
          </a:prstGeom>
          <a:noFill/>
          <a:ln/>
        </p:spPr>
        <p:txBody>
          <a:bodyPr wrap="square" lIns="0" tIns="0" rIns="0" bIns="0" rtlCol="0" anchor="ctr"/>
          <a:lstStyle/>
          <a:p>
            <a:pPr marL="0" indent="0">
              <a:buNone/>
            </a:pPr>
            <a:r>
              <a:rPr lang="en-US" sz="1100" b="1" kern="0" spc="160" dirty="0">
                <a:solidFill>
                  <a:srgbClr val="95D5B2"/>
                </a:solidFill>
                <a:latin typeface="Calibri" pitchFamily="34" charset="0"/>
                <a:ea typeface="Calibri" pitchFamily="34" charset="-122"/>
                <a:cs typeface="Calibri" pitchFamily="34" charset="-120"/>
              </a:rPr>
              <a:t>WHY WE WERE ESTABLISHED</a:t>
            </a:r>
            <a:endParaRPr lang="en-US" sz="1100" dirty="0"/>
          </a:p>
        </p:txBody>
      </p:sp>
      <p:sp>
        <p:nvSpPr>
          <p:cNvPr id="9" name="Shape 7"/>
          <p:cNvSpPr/>
          <p:nvPr/>
        </p:nvSpPr>
        <p:spPr>
          <a:xfrm>
            <a:off x="6629400" y="2331720"/>
            <a:ext cx="310896" cy="310896"/>
          </a:xfrm>
          <a:prstGeom prst="ellipse">
            <a:avLst/>
          </a:prstGeom>
          <a:solidFill>
            <a:srgbClr val="40916C"/>
          </a:solidFill>
          <a:ln/>
        </p:spPr>
      </p:sp>
      <p:sp>
        <p:nvSpPr>
          <p:cNvPr id="10" name="Text 8"/>
          <p:cNvSpPr/>
          <p:nvPr/>
        </p:nvSpPr>
        <p:spPr>
          <a:xfrm>
            <a:off x="6629400" y="233172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1" name="Text 9"/>
          <p:cNvSpPr/>
          <p:nvPr/>
        </p:nvSpPr>
        <p:spPr>
          <a:xfrm>
            <a:off x="7114032" y="2276856"/>
            <a:ext cx="4251960" cy="1051560"/>
          </a:xfrm>
          <a:prstGeom prst="rect">
            <a:avLst/>
          </a:prstGeom>
          <a:noFill/>
          <a:ln/>
        </p:spPr>
        <p:txBody>
          <a:bodyPr wrap="square" lIns="0" tIns="0" rIns="0" bIns="0"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Households across Nigeria rely heavily on synthetic, chemical-laden personal care and hygiene products with limited regard for long-term health or environmental impact.</a:t>
            </a:r>
            <a:endParaRPr lang="en-US" sz="1200" dirty="0"/>
          </a:p>
        </p:txBody>
      </p:sp>
      <p:sp>
        <p:nvSpPr>
          <p:cNvPr id="12" name="Shape 10"/>
          <p:cNvSpPr/>
          <p:nvPr/>
        </p:nvSpPr>
        <p:spPr>
          <a:xfrm>
            <a:off x="6629400" y="3566160"/>
            <a:ext cx="310896" cy="310896"/>
          </a:xfrm>
          <a:prstGeom prst="ellipse">
            <a:avLst/>
          </a:prstGeom>
          <a:solidFill>
            <a:srgbClr val="40916C"/>
          </a:solidFill>
          <a:ln/>
        </p:spPr>
      </p:sp>
      <p:sp>
        <p:nvSpPr>
          <p:cNvPr id="13" name="Text 11"/>
          <p:cNvSpPr/>
          <p:nvPr/>
        </p:nvSpPr>
        <p:spPr>
          <a:xfrm>
            <a:off x="6629400" y="356616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p:nvPr/>
        </p:nvSpPr>
        <p:spPr>
          <a:xfrm>
            <a:off x="7114032" y="3511296"/>
            <a:ext cx="4251960" cy="1051560"/>
          </a:xfrm>
          <a:prstGeom prst="rect">
            <a:avLst/>
          </a:prstGeom>
          <a:noFill/>
          <a:ln/>
        </p:spPr>
        <p:txBody>
          <a:bodyPr wrap="square" lIns="0" tIns="0" rIns="0" bIns="0"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Despite Neem's well-documented natural benefits, there remained a gap in professionally developed, accessible Neem-based consumer products in the local market.</a:t>
            </a:r>
            <a:endParaRPr lang="en-US" sz="1200" dirty="0"/>
          </a:p>
        </p:txBody>
      </p:sp>
      <p:sp>
        <p:nvSpPr>
          <p:cNvPr id="15" name="Shape 13"/>
          <p:cNvSpPr/>
          <p:nvPr/>
        </p:nvSpPr>
        <p:spPr>
          <a:xfrm>
            <a:off x="6629400" y="4800600"/>
            <a:ext cx="310896" cy="310896"/>
          </a:xfrm>
          <a:prstGeom prst="ellipse">
            <a:avLst/>
          </a:prstGeom>
          <a:solidFill>
            <a:srgbClr val="40916C"/>
          </a:solidFill>
          <a:ln/>
        </p:spPr>
      </p:sp>
      <p:sp>
        <p:nvSpPr>
          <p:cNvPr id="16" name="Text 14"/>
          <p:cNvSpPr/>
          <p:nvPr/>
        </p:nvSpPr>
        <p:spPr>
          <a:xfrm>
            <a:off x="6629400" y="480060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p:nvPr/>
        </p:nvSpPr>
        <p:spPr>
          <a:xfrm>
            <a:off x="7114032" y="4745736"/>
            <a:ext cx="4251960" cy="1051560"/>
          </a:xfrm>
          <a:prstGeom prst="rect">
            <a:avLst/>
          </a:prstGeom>
          <a:noFill/>
          <a:ln/>
        </p:spPr>
        <p:txBody>
          <a:bodyPr wrap="square" lIns="0" tIns="0" rIns="0" bIns="0"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A growing, environmentally conscious population needed credible, locally-made alternatives that protect both their health and the planet.</a:t>
            </a:r>
            <a:endParaRPr lang="en-US" sz="1200" dirty="0"/>
          </a:p>
        </p:txBody>
      </p:sp>
      <p:sp>
        <p:nvSpPr>
          <p:cNvPr id="18" name="Text 16"/>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19" name="Text 17"/>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LEGAL INFORMATION</a:t>
            </a:r>
            <a:endParaRPr lang="en-US" sz="1250" dirty="0"/>
          </a:p>
        </p:txBody>
      </p:sp>
      <p:sp>
        <p:nvSpPr>
          <p:cNvPr id="3" name="Text 1"/>
          <p:cNvSpPr/>
          <p:nvPr/>
        </p:nvSpPr>
        <p:spPr>
          <a:xfrm>
            <a:off x="640080" y="804672"/>
            <a:ext cx="8961120" cy="640080"/>
          </a:xfrm>
          <a:prstGeom prst="rect">
            <a:avLst/>
          </a:prstGeom>
          <a:noFill/>
          <a:ln/>
        </p:spPr>
        <p:txBody>
          <a:bodyPr wrap="square" lIns="0" tIns="0" rIns="0" bIns="0" rtlCol="0" anchor="ctr"/>
          <a:lstStyle/>
          <a:p>
            <a:pPr marL="0" indent="0">
              <a:buNone/>
            </a:pPr>
            <a:r>
              <a:rPr lang="en-US" sz="2700" b="1" dirty="0">
                <a:solidFill>
                  <a:srgbClr val="1A2B22"/>
                </a:solidFill>
                <a:latin typeface="Cambria" pitchFamily="34" charset="0"/>
                <a:ea typeface="Cambria" pitchFamily="34" charset="-122"/>
                <a:cs typeface="Cambria" pitchFamily="34" charset="-120"/>
              </a:rPr>
              <a:t>Corporate Registration &amp; Legal Standing</a:t>
            </a:r>
            <a:endParaRPr lang="en-US" sz="2700" dirty="0"/>
          </a:p>
        </p:txBody>
      </p:sp>
      <p:sp>
        <p:nvSpPr>
          <p:cNvPr id="4" name="Shape 2"/>
          <p:cNvSpPr/>
          <p:nvPr/>
        </p:nvSpPr>
        <p:spPr>
          <a:xfrm>
            <a:off x="640080" y="1600200"/>
            <a:ext cx="6355080" cy="4526280"/>
          </a:xfrm>
          <a:prstGeom prst="roundRect">
            <a:avLst>
              <a:gd name="adj" fmla="val 2020"/>
            </a:avLst>
          </a:prstGeom>
          <a:solidFill>
            <a:srgbClr val="FAF9F6"/>
          </a:solidFill>
          <a:ln w="9525">
            <a:solidFill>
              <a:srgbClr val="E3E6E0"/>
            </a:solidFill>
            <a:prstDash val="solid"/>
          </a:ln>
        </p:spPr>
      </p:sp>
      <p:pic>
        <p:nvPicPr>
          <p:cNvPr id="5" name="Image 0" descr="assets/icons/filecontract_deep.png"/>
          <p:cNvPicPr>
            <a:picLocks noChangeAspect="1"/>
          </p:cNvPicPr>
          <p:nvPr/>
        </p:nvPicPr>
        <p:blipFill>
          <a:blip r:embed="rId4"/>
          <a:stretch>
            <a:fillRect/>
          </a:stretch>
        </p:blipFill>
        <p:spPr>
          <a:xfrm>
            <a:off x="914400" y="1847088"/>
            <a:ext cx="365760" cy="365760"/>
          </a:xfrm>
          <a:prstGeom prst="rect">
            <a:avLst/>
          </a:prstGeom>
        </p:spPr>
      </p:pic>
      <p:sp>
        <p:nvSpPr>
          <p:cNvPr id="6" name="Text 3"/>
          <p:cNvSpPr/>
          <p:nvPr/>
        </p:nvSpPr>
        <p:spPr>
          <a:xfrm>
            <a:off x="1417320" y="1901952"/>
            <a:ext cx="4572000" cy="274320"/>
          </a:xfrm>
          <a:prstGeom prst="rect">
            <a:avLst/>
          </a:prstGeom>
          <a:noFill/>
          <a:ln/>
        </p:spPr>
        <p:txBody>
          <a:bodyPr wrap="square" lIns="0" tIns="0" rIns="0" bIns="0" rtlCol="0" anchor="ctr"/>
          <a:lstStyle/>
          <a:p>
            <a:pPr marL="0" indent="0">
              <a:buNone/>
            </a:pPr>
            <a:r>
              <a:rPr lang="en-US" sz="1200" b="1" kern="0" spc="120" dirty="0">
                <a:solidFill>
                  <a:srgbClr val="1B4332"/>
                </a:solidFill>
                <a:latin typeface="Calibri" pitchFamily="34" charset="0"/>
                <a:ea typeface="Calibri" pitchFamily="34" charset="-122"/>
                <a:cs typeface="Calibri" pitchFamily="34" charset="-120"/>
              </a:rPr>
              <a:t>CAC REGISTRATION SUMMARY</a:t>
            </a:r>
            <a:endParaRPr lang="en-US" sz="1200" dirty="0"/>
          </a:p>
        </p:txBody>
      </p:sp>
      <p:sp>
        <p:nvSpPr>
          <p:cNvPr id="7" name="Text 4"/>
          <p:cNvSpPr/>
          <p:nvPr/>
        </p:nvSpPr>
        <p:spPr>
          <a:xfrm>
            <a:off x="914400" y="2423160"/>
            <a:ext cx="2286000" cy="365760"/>
          </a:xfrm>
          <a:prstGeom prst="rect">
            <a:avLst/>
          </a:prstGeom>
          <a:noFill/>
          <a:ln/>
        </p:spPr>
        <p:txBody>
          <a:bodyPr wrap="square" lIns="0" tIns="0" rIns="0" bIns="0" rtlCol="0" anchor="t"/>
          <a:lstStyle/>
          <a:p>
            <a:pPr marL="0" indent="0">
              <a:buNone/>
            </a:pPr>
            <a:r>
              <a:rPr lang="en-US" sz="1150" b="1" dirty="0">
                <a:solidFill>
                  <a:srgbClr val="1A2B22"/>
                </a:solidFill>
                <a:latin typeface="Calibri" pitchFamily="34" charset="0"/>
                <a:ea typeface="Calibri" pitchFamily="34" charset="-122"/>
                <a:cs typeface="Calibri" pitchFamily="34" charset="-120"/>
              </a:rPr>
              <a:t>Company Name</a:t>
            </a:r>
            <a:endParaRPr lang="en-US" sz="1150" dirty="0"/>
          </a:p>
        </p:txBody>
      </p:sp>
      <p:sp>
        <p:nvSpPr>
          <p:cNvPr id="8" name="Text 5"/>
          <p:cNvSpPr/>
          <p:nvPr/>
        </p:nvSpPr>
        <p:spPr>
          <a:xfrm>
            <a:off x="3246120" y="2423160"/>
            <a:ext cx="3611880" cy="365760"/>
          </a:xfrm>
          <a:prstGeom prst="rect">
            <a:avLst/>
          </a:prstGeom>
          <a:noFill/>
          <a:ln/>
        </p:spPr>
        <p:txBody>
          <a:bodyPr wrap="square" lIns="0" tIns="0" rIns="0" bIns="0" rtlCol="0" anchor="t"/>
          <a:lstStyle/>
          <a:p>
            <a:pPr marL="0" indent="0">
              <a:lnSpc>
                <a:spcPct val="115000"/>
              </a:lnSpc>
              <a:buNone/>
            </a:pPr>
            <a:r>
              <a:rPr lang="en-US" sz="1150" dirty="0">
                <a:solidFill>
                  <a:srgbClr val="3F4A42"/>
                </a:solidFill>
                <a:latin typeface="Calibri" pitchFamily="34" charset="0"/>
                <a:ea typeface="Calibri" pitchFamily="34" charset="-122"/>
                <a:cs typeface="Calibri" pitchFamily="34" charset="-120"/>
              </a:rPr>
              <a:t>ECONEEMTECH LTD</a:t>
            </a:r>
            <a:endParaRPr lang="en-US" sz="1150" dirty="0"/>
          </a:p>
        </p:txBody>
      </p:sp>
      <p:sp>
        <p:nvSpPr>
          <p:cNvPr id="9" name="Text 6"/>
          <p:cNvSpPr/>
          <p:nvPr/>
        </p:nvSpPr>
        <p:spPr>
          <a:xfrm>
            <a:off x="914400" y="2834640"/>
            <a:ext cx="2286000" cy="365760"/>
          </a:xfrm>
          <a:prstGeom prst="rect">
            <a:avLst/>
          </a:prstGeom>
          <a:noFill/>
          <a:ln/>
        </p:spPr>
        <p:txBody>
          <a:bodyPr wrap="square" lIns="0" tIns="0" rIns="0" bIns="0" rtlCol="0" anchor="t"/>
          <a:lstStyle/>
          <a:p>
            <a:pPr marL="0" indent="0">
              <a:buNone/>
            </a:pPr>
            <a:r>
              <a:rPr lang="en-US" sz="1150" b="1" dirty="0">
                <a:solidFill>
                  <a:srgbClr val="1A2B22"/>
                </a:solidFill>
                <a:latin typeface="Calibri" pitchFamily="34" charset="0"/>
                <a:ea typeface="Calibri" pitchFamily="34" charset="-122"/>
                <a:cs typeface="Calibri" pitchFamily="34" charset="-120"/>
              </a:rPr>
              <a:t>RC Number</a:t>
            </a:r>
            <a:endParaRPr lang="en-US" sz="1150" dirty="0"/>
          </a:p>
        </p:txBody>
      </p:sp>
      <p:sp>
        <p:nvSpPr>
          <p:cNvPr id="10" name="Text 7"/>
          <p:cNvSpPr/>
          <p:nvPr/>
        </p:nvSpPr>
        <p:spPr>
          <a:xfrm>
            <a:off x="3246120" y="2834640"/>
            <a:ext cx="3611880" cy="365760"/>
          </a:xfrm>
          <a:prstGeom prst="rect">
            <a:avLst/>
          </a:prstGeom>
          <a:noFill/>
          <a:ln/>
        </p:spPr>
        <p:txBody>
          <a:bodyPr wrap="square" lIns="0" tIns="0" rIns="0" bIns="0" rtlCol="0" anchor="t"/>
          <a:lstStyle/>
          <a:p>
            <a:pPr marL="0" indent="0">
              <a:lnSpc>
                <a:spcPct val="115000"/>
              </a:lnSpc>
              <a:buNone/>
            </a:pPr>
            <a:r>
              <a:rPr lang="en-US" sz="1150" dirty="0">
                <a:solidFill>
                  <a:srgbClr val="3F4A42"/>
                </a:solidFill>
                <a:latin typeface="Calibri" pitchFamily="34" charset="0"/>
                <a:ea typeface="Calibri" pitchFamily="34" charset="-122"/>
                <a:cs typeface="Calibri" pitchFamily="34" charset="-120"/>
              </a:rPr>
              <a:t>8763614</a:t>
            </a:r>
            <a:endParaRPr lang="en-US" sz="1150" dirty="0"/>
          </a:p>
        </p:txBody>
      </p:sp>
      <p:sp>
        <p:nvSpPr>
          <p:cNvPr id="11" name="Text 8"/>
          <p:cNvSpPr/>
          <p:nvPr/>
        </p:nvSpPr>
        <p:spPr>
          <a:xfrm>
            <a:off x="914400" y="3246120"/>
            <a:ext cx="2286000" cy="365760"/>
          </a:xfrm>
          <a:prstGeom prst="rect">
            <a:avLst/>
          </a:prstGeom>
          <a:noFill/>
          <a:ln/>
        </p:spPr>
        <p:txBody>
          <a:bodyPr wrap="square" lIns="0" tIns="0" rIns="0" bIns="0" rtlCol="0" anchor="t"/>
          <a:lstStyle/>
          <a:p>
            <a:pPr marL="0" indent="0">
              <a:buNone/>
            </a:pPr>
            <a:r>
              <a:rPr lang="en-US" sz="1150" b="1" dirty="0">
                <a:solidFill>
                  <a:srgbClr val="1A2B22"/>
                </a:solidFill>
                <a:latin typeface="Calibri" pitchFamily="34" charset="0"/>
                <a:ea typeface="Calibri" pitchFamily="34" charset="-122"/>
                <a:cs typeface="Calibri" pitchFamily="34" charset="-120"/>
              </a:rPr>
              <a:t>Date of Registration</a:t>
            </a:r>
            <a:endParaRPr lang="en-US" sz="1150" dirty="0"/>
          </a:p>
        </p:txBody>
      </p:sp>
      <p:sp>
        <p:nvSpPr>
          <p:cNvPr id="12" name="Text 9"/>
          <p:cNvSpPr/>
          <p:nvPr/>
        </p:nvSpPr>
        <p:spPr>
          <a:xfrm>
            <a:off x="3246120" y="3246120"/>
            <a:ext cx="3611880" cy="365760"/>
          </a:xfrm>
          <a:prstGeom prst="rect">
            <a:avLst/>
          </a:prstGeom>
          <a:noFill/>
          <a:ln/>
        </p:spPr>
        <p:txBody>
          <a:bodyPr wrap="square" lIns="0" tIns="0" rIns="0" bIns="0" rtlCol="0" anchor="t"/>
          <a:lstStyle/>
          <a:p>
            <a:pPr marL="0" indent="0">
              <a:lnSpc>
                <a:spcPct val="115000"/>
              </a:lnSpc>
              <a:buNone/>
            </a:pPr>
            <a:r>
              <a:rPr lang="en-US" sz="1150" dirty="0">
                <a:solidFill>
                  <a:srgbClr val="3F4A42"/>
                </a:solidFill>
                <a:latin typeface="Calibri" pitchFamily="34" charset="0"/>
                <a:ea typeface="Calibri" pitchFamily="34" charset="-122"/>
                <a:cs typeface="Calibri" pitchFamily="34" charset="-120"/>
              </a:rPr>
              <a:t>30 August 2025</a:t>
            </a:r>
            <a:endParaRPr lang="en-US" sz="1150" dirty="0"/>
          </a:p>
        </p:txBody>
      </p:sp>
      <p:sp>
        <p:nvSpPr>
          <p:cNvPr id="13" name="Text 10"/>
          <p:cNvSpPr/>
          <p:nvPr/>
        </p:nvSpPr>
        <p:spPr>
          <a:xfrm>
            <a:off x="914400" y="3657600"/>
            <a:ext cx="2286000" cy="365760"/>
          </a:xfrm>
          <a:prstGeom prst="rect">
            <a:avLst/>
          </a:prstGeom>
          <a:noFill/>
          <a:ln/>
        </p:spPr>
        <p:txBody>
          <a:bodyPr wrap="square" lIns="0" tIns="0" rIns="0" bIns="0" rtlCol="0" anchor="t"/>
          <a:lstStyle/>
          <a:p>
            <a:pPr marL="0" indent="0">
              <a:buNone/>
            </a:pPr>
            <a:r>
              <a:rPr lang="en-US" sz="1150" b="1" dirty="0">
                <a:solidFill>
                  <a:srgbClr val="1A2B22"/>
                </a:solidFill>
                <a:latin typeface="Calibri" pitchFamily="34" charset="0"/>
                <a:ea typeface="Calibri" pitchFamily="34" charset="-122"/>
                <a:cs typeface="Calibri" pitchFamily="34" charset="-120"/>
              </a:rPr>
              <a:t>Company Type</a:t>
            </a:r>
            <a:endParaRPr lang="en-US" sz="1150" dirty="0"/>
          </a:p>
        </p:txBody>
      </p:sp>
      <p:sp>
        <p:nvSpPr>
          <p:cNvPr id="14" name="Text 11"/>
          <p:cNvSpPr/>
          <p:nvPr/>
        </p:nvSpPr>
        <p:spPr>
          <a:xfrm>
            <a:off x="3246120" y="3657600"/>
            <a:ext cx="3611880" cy="365760"/>
          </a:xfrm>
          <a:prstGeom prst="rect">
            <a:avLst/>
          </a:prstGeom>
          <a:noFill/>
          <a:ln/>
        </p:spPr>
        <p:txBody>
          <a:bodyPr wrap="square" lIns="0" tIns="0" rIns="0" bIns="0" rtlCol="0" anchor="t"/>
          <a:lstStyle/>
          <a:p>
            <a:pPr marL="0" indent="0">
              <a:lnSpc>
                <a:spcPct val="115000"/>
              </a:lnSpc>
              <a:buNone/>
            </a:pPr>
            <a:r>
              <a:rPr lang="en-US" sz="1150" dirty="0">
                <a:solidFill>
                  <a:srgbClr val="3F4A42"/>
                </a:solidFill>
                <a:latin typeface="Calibri" pitchFamily="34" charset="0"/>
                <a:ea typeface="Calibri" pitchFamily="34" charset="-122"/>
                <a:cs typeface="Calibri" pitchFamily="34" charset="-120"/>
              </a:rPr>
              <a:t>Private Company Limited by Shares</a:t>
            </a:r>
            <a:endParaRPr lang="en-US" sz="1150" dirty="0"/>
          </a:p>
        </p:txBody>
      </p:sp>
      <p:sp>
        <p:nvSpPr>
          <p:cNvPr id="15" name="Text 12"/>
          <p:cNvSpPr/>
          <p:nvPr/>
        </p:nvSpPr>
        <p:spPr>
          <a:xfrm>
            <a:off x="914400" y="4069080"/>
            <a:ext cx="2286000" cy="365760"/>
          </a:xfrm>
          <a:prstGeom prst="rect">
            <a:avLst/>
          </a:prstGeom>
          <a:noFill/>
          <a:ln/>
        </p:spPr>
        <p:txBody>
          <a:bodyPr wrap="square" lIns="0" tIns="0" rIns="0" bIns="0" rtlCol="0" anchor="t"/>
          <a:lstStyle/>
          <a:p>
            <a:pPr marL="0" indent="0">
              <a:buNone/>
            </a:pPr>
            <a:r>
              <a:rPr lang="en-US" sz="1150" b="1" dirty="0">
                <a:solidFill>
                  <a:srgbClr val="1A2B22"/>
                </a:solidFill>
                <a:latin typeface="Calibri" pitchFamily="34" charset="0"/>
                <a:ea typeface="Calibri" pitchFamily="34" charset="-122"/>
                <a:cs typeface="Calibri" pitchFamily="34" charset="-120"/>
              </a:rPr>
              <a:t>Registered Address</a:t>
            </a:r>
            <a:endParaRPr lang="en-US" sz="1150" dirty="0"/>
          </a:p>
        </p:txBody>
      </p:sp>
      <p:sp>
        <p:nvSpPr>
          <p:cNvPr id="16" name="Text 13"/>
          <p:cNvSpPr/>
          <p:nvPr/>
        </p:nvSpPr>
        <p:spPr>
          <a:xfrm>
            <a:off x="3246120" y="4069080"/>
            <a:ext cx="3611880" cy="502920"/>
          </a:xfrm>
          <a:prstGeom prst="rect">
            <a:avLst/>
          </a:prstGeom>
          <a:noFill/>
          <a:ln/>
        </p:spPr>
        <p:txBody>
          <a:bodyPr wrap="square" lIns="0" tIns="0" rIns="0" bIns="0" rtlCol="0" anchor="t"/>
          <a:lstStyle/>
          <a:p>
            <a:pPr marL="0" indent="0">
              <a:lnSpc>
                <a:spcPct val="115000"/>
              </a:lnSpc>
              <a:buNone/>
            </a:pPr>
            <a:r>
              <a:rPr lang="en-US" sz="1150" dirty="0">
                <a:solidFill>
                  <a:srgbClr val="3F4A42"/>
                </a:solidFill>
                <a:latin typeface="Calibri" pitchFamily="34" charset="0"/>
                <a:ea typeface="Calibri" pitchFamily="34" charset="-122"/>
                <a:cs typeface="Calibri" pitchFamily="34" charset="-120"/>
              </a:rPr>
              <a:t>Plot 805, Paul Unongo Street, Jabi, Abuja, FCT, Nigeria</a:t>
            </a:r>
            <a:endParaRPr lang="en-US" sz="1150" dirty="0"/>
          </a:p>
        </p:txBody>
      </p:sp>
      <p:sp>
        <p:nvSpPr>
          <p:cNvPr id="17" name="Text 14"/>
          <p:cNvSpPr/>
          <p:nvPr/>
        </p:nvSpPr>
        <p:spPr>
          <a:xfrm>
            <a:off x="914400" y="4599432"/>
            <a:ext cx="2286000" cy="365760"/>
          </a:xfrm>
          <a:prstGeom prst="rect">
            <a:avLst/>
          </a:prstGeom>
          <a:noFill/>
          <a:ln/>
        </p:spPr>
        <p:txBody>
          <a:bodyPr wrap="square" lIns="0" tIns="0" rIns="0" bIns="0" rtlCol="0" anchor="t"/>
          <a:lstStyle/>
          <a:p>
            <a:pPr marL="0" indent="0">
              <a:buNone/>
            </a:pPr>
            <a:r>
              <a:rPr lang="en-US" sz="1150" b="1" dirty="0">
                <a:solidFill>
                  <a:srgbClr val="1A2B22"/>
                </a:solidFill>
                <a:latin typeface="Calibri" pitchFamily="34" charset="0"/>
                <a:ea typeface="Calibri" pitchFamily="34" charset="-122"/>
                <a:cs typeface="Calibri" pitchFamily="34" charset="-120"/>
              </a:rPr>
              <a:t>Status</a:t>
            </a:r>
            <a:endParaRPr lang="en-US" sz="1150" dirty="0"/>
          </a:p>
        </p:txBody>
      </p:sp>
      <p:sp>
        <p:nvSpPr>
          <p:cNvPr id="18" name="Text 15"/>
          <p:cNvSpPr/>
          <p:nvPr/>
        </p:nvSpPr>
        <p:spPr>
          <a:xfrm>
            <a:off x="3246120" y="4599432"/>
            <a:ext cx="3611880" cy="365760"/>
          </a:xfrm>
          <a:prstGeom prst="rect">
            <a:avLst/>
          </a:prstGeom>
          <a:noFill/>
          <a:ln/>
        </p:spPr>
        <p:txBody>
          <a:bodyPr wrap="square" lIns="0" tIns="0" rIns="0" bIns="0" rtlCol="0" anchor="t"/>
          <a:lstStyle/>
          <a:p>
            <a:pPr marL="0" indent="0">
              <a:lnSpc>
                <a:spcPct val="115000"/>
              </a:lnSpc>
              <a:buNone/>
            </a:pPr>
            <a:r>
              <a:rPr lang="en-US" sz="1150" dirty="0">
                <a:solidFill>
                  <a:srgbClr val="3F4A42"/>
                </a:solidFill>
                <a:latin typeface="Calibri" pitchFamily="34" charset="0"/>
                <a:ea typeface="Calibri" pitchFamily="34" charset="-122"/>
                <a:cs typeface="Calibri" pitchFamily="34" charset="-120"/>
              </a:rPr>
              <a:t>ACTIVE</a:t>
            </a:r>
            <a:endParaRPr lang="en-US" sz="1150" dirty="0"/>
          </a:p>
        </p:txBody>
      </p:sp>
      <p:sp>
        <p:nvSpPr>
          <p:cNvPr id="19" name="Text 16"/>
          <p:cNvSpPr/>
          <p:nvPr/>
        </p:nvSpPr>
        <p:spPr>
          <a:xfrm>
            <a:off x="914400" y="5010912"/>
            <a:ext cx="2286000" cy="365760"/>
          </a:xfrm>
          <a:prstGeom prst="rect">
            <a:avLst/>
          </a:prstGeom>
          <a:noFill/>
          <a:ln/>
        </p:spPr>
        <p:txBody>
          <a:bodyPr wrap="square" lIns="0" tIns="0" rIns="0" bIns="0" rtlCol="0" anchor="t"/>
          <a:lstStyle/>
          <a:p>
            <a:pPr marL="0" indent="0">
              <a:buNone/>
            </a:pPr>
            <a:r>
              <a:rPr lang="en-US" sz="1150" b="1" dirty="0">
                <a:solidFill>
                  <a:srgbClr val="1A2B22"/>
                </a:solidFill>
                <a:latin typeface="Calibri" pitchFamily="34" charset="0"/>
                <a:ea typeface="Calibri" pitchFamily="34" charset="-122"/>
                <a:cs typeface="Calibri" pitchFamily="34" charset="-120"/>
              </a:rPr>
              <a:t>Governing Legislation</a:t>
            </a:r>
            <a:endParaRPr lang="en-US" sz="1150" dirty="0"/>
          </a:p>
        </p:txBody>
      </p:sp>
      <p:sp>
        <p:nvSpPr>
          <p:cNvPr id="20" name="Text 17"/>
          <p:cNvSpPr/>
          <p:nvPr/>
        </p:nvSpPr>
        <p:spPr>
          <a:xfrm>
            <a:off x="3246120" y="5010912"/>
            <a:ext cx="3611880" cy="502920"/>
          </a:xfrm>
          <a:prstGeom prst="rect">
            <a:avLst/>
          </a:prstGeom>
          <a:noFill/>
          <a:ln/>
        </p:spPr>
        <p:txBody>
          <a:bodyPr wrap="square" lIns="0" tIns="0" rIns="0" bIns="0" rtlCol="0" anchor="t"/>
          <a:lstStyle/>
          <a:p>
            <a:pPr marL="0" indent="0">
              <a:lnSpc>
                <a:spcPct val="115000"/>
              </a:lnSpc>
              <a:buNone/>
            </a:pPr>
            <a:r>
              <a:rPr lang="en-US" sz="1150" dirty="0">
                <a:solidFill>
                  <a:srgbClr val="3F4A42"/>
                </a:solidFill>
                <a:latin typeface="Calibri" pitchFamily="34" charset="0"/>
                <a:ea typeface="Calibri" pitchFamily="34" charset="-122"/>
                <a:cs typeface="Calibri" pitchFamily="34" charset="-120"/>
              </a:rPr>
              <a:t>Companies and Allied Matters Act (CAMA), 2020</a:t>
            </a:r>
            <a:endParaRPr lang="en-US" sz="1150" dirty="0"/>
          </a:p>
        </p:txBody>
      </p:sp>
      <p:sp>
        <p:nvSpPr>
          <p:cNvPr id="21" name="Shape 18"/>
          <p:cNvSpPr/>
          <p:nvPr/>
        </p:nvSpPr>
        <p:spPr>
          <a:xfrm>
            <a:off x="7178040" y="1600200"/>
            <a:ext cx="4389120" cy="2331720"/>
          </a:xfrm>
          <a:prstGeom prst="roundRect">
            <a:avLst>
              <a:gd name="adj" fmla="val 3922"/>
            </a:avLst>
          </a:prstGeom>
          <a:solidFill>
            <a:srgbClr val="1B4332"/>
          </a:solidFill>
          <a:ln/>
          <a:effectLst>
            <a:outerShdw blurRad="127000" dist="38100" dir="5400000" algn="bl" rotWithShape="0">
              <a:srgbClr val="1B4332">
                <a:alpha val="10000"/>
              </a:srgbClr>
            </a:outerShdw>
          </a:effectLst>
        </p:spPr>
      </p:sp>
      <p:pic>
        <p:nvPicPr>
          <p:cNvPr id="22" name="Image 1" descr="assets/icons/balance_white.png"/>
          <p:cNvPicPr>
            <a:picLocks noChangeAspect="1"/>
          </p:cNvPicPr>
          <p:nvPr/>
        </p:nvPicPr>
        <p:blipFill>
          <a:blip r:embed="rId5"/>
          <a:stretch>
            <a:fillRect/>
          </a:stretch>
        </p:blipFill>
        <p:spPr>
          <a:xfrm>
            <a:off x="7452360" y="1828800"/>
            <a:ext cx="310896" cy="310896"/>
          </a:xfrm>
          <a:prstGeom prst="rect">
            <a:avLst/>
          </a:prstGeom>
        </p:spPr>
      </p:pic>
      <p:sp>
        <p:nvSpPr>
          <p:cNvPr id="23" name="Text 19"/>
          <p:cNvSpPr/>
          <p:nvPr/>
        </p:nvSpPr>
        <p:spPr>
          <a:xfrm>
            <a:off x="7882128" y="1865376"/>
            <a:ext cx="3566160" cy="274320"/>
          </a:xfrm>
          <a:prstGeom prst="rect">
            <a:avLst/>
          </a:prstGeom>
          <a:noFill/>
          <a:ln/>
        </p:spPr>
        <p:txBody>
          <a:bodyPr wrap="square" lIns="0" tIns="0" rIns="0" bIns="0" rtlCol="0" anchor="ctr"/>
          <a:lstStyle/>
          <a:p>
            <a:pPr marL="0" indent="0">
              <a:buNone/>
            </a:pPr>
            <a:r>
              <a:rPr lang="en-US" sz="1000" b="1" kern="0" spc="100" dirty="0">
                <a:solidFill>
                  <a:srgbClr val="95D5B2"/>
                </a:solidFill>
                <a:latin typeface="Calibri" pitchFamily="34" charset="0"/>
                <a:ea typeface="Calibri" pitchFamily="34" charset="-122"/>
                <a:cs typeface="Calibri" pitchFamily="34" charset="-120"/>
              </a:rPr>
              <a:t>PRINCIPAL BUSINESS ACTIVITY</a:t>
            </a:r>
            <a:endParaRPr lang="en-US" sz="1000" dirty="0"/>
          </a:p>
        </p:txBody>
      </p:sp>
      <p:sp>
        <p:nvSpPr>
          <p:cNvPr id="24" name="Text 20"/>
          <p:cNvSpPr/>
          <p:nvPr/>
        </p:nvSpPr>
        <p:spPr>
          <a:xfrm>
            <a:off x="7452360" y="2286000"/>
            <a:ext cx="3840480" cy="1554480"/>
          </a:xfrm>
          <a:prstGeom prst="rect">
            <a:avLst/>
          </a:prstGeom>
          <a:noFill/>
          <a:ln/>
        </p:spPr>
        <p:txBody>
          <a:bodyPr wrap="square" lIns="0" tIns="0" rIns="0" bIns="0" rtlCol="0" anchor="ctr"/>
          <a:lstStyle/>
          <a:p>
            <a:pPr marL="0" indent="0">
              <a:lnSpc>
                <a:spcPct val="125000"/>
              </a:lnSpc>
              <a:buNone/>
            </a:pPr>
            <a:r>
              <a:rPr lang="en-US" sz="1080" dirty="0">
                <a:solidFill>
                  <a:srgbClr val="FFFFFF"/>
                </a:solidFill>
                <a:latin typeface="Calibri" pitchFamily="34" charset="0"/>
                <a:ea typeface="Calibri" pitchFamily="34" charset="-122"/>
                <a:cs typeface="Calibri" pitchFamily="34" charset="-120"/>
              </a:rPr>
              <a:t>Development, production, and commercialisation of eco-friendly technologies and products , including air and water purification systems, personal hygiene solutions, and sustainable innovations for healthier living and environmental protection.</a:t>
            </a:r>
            <a:endParaRPr lang="en-US" sz="1080" dirty="0"/>
          </a:p>
        </p:txBody>
      </p:sp>
      <p:sp>
        <p:nvSpPr>
          <p:cNvPr id="30" name="Text 25"/>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31" name="Text 26"/>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CONTENTS</a:t>
            </a:r>
            <a:endParaRPr lang="en-US" sz="1250" dirty="0"/>
          </a:p>
        </p:txBody>
      </p:sp>
      <p:sp>
        <p:nvSpPr>
          <p:cNvPr id="3"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000" b="1" dirty="0">
                <a:solidFill>
                  <a:srgbClr val="1A2B22"/>
                </a:solidFill>
                <a:latin typeface="Cambria" pitchFamily="34" charset="0"/>
                <a:ea typeface="Cambria" pitchFamily="34" charset="-122"/>
                <a:cs typeface="Cambria" pitchFamily="34" charset="-120"/>
              </a:rPr>
              <a:t>What's Inside This Portfolio</a:t>
            </a:r>
            <a:endParaRPr lang="en-US" sz="3000" dirty="0"/>
          </a:p>
        </p:txBody>
      </p:sp>
      <p:sp>
        <p:nvSpPr>
          <p:cNvPr id="4" name="Shape 2"/>
          <p:cNvSpPr/>
          <p:nvPr/>
        </p:nvSpPr>
        <p:spPr>
          <a:xfrm>
            <a:off x="640080" y="1691640"/>
            <a:ext cx="5349240" cy="1280160"/>
          </a:xfrm>
          <a:prstGeom prst="roundRect">
            <a:avLst>
              <a:gd name="adj" fmla="val 7143"/>
            </a:avLst>
          </a:prstGeom>
          <a:solidFill>
            <a:srgbClr val="FAF9F6"/>
          </a:solidFill>
          <a:ln w="9525">
            <a:solidFill>
              <a:srgbClr val="E3E6E0"/>
            </a:solidFill>
            <a:prstDash val="solid"/>
          </a:ln>
        </p:spPr>
      </p:sp>
      <p:sp>
        <p:nvSpPr>
          <p:cNvPr id="5" name="Text 3"/>
          <p:cNvSpPr/>
          <p:nvPr/>
        </p:nvSpPr>
        <p:spPr>
          <a:xfrm>
            <a:off x="868680" y="1874520"/>
            <a:ext cx="1005840" cy="914400"/>
          </a:xfrm>
          <a:prstGeom prst="rect">
            <a:avLst/>
          </a:prstGeom>
          <a:noFill/>
          <a:ln/>
        </p:spPr>
        <p:txBody>
          <a:bodyPr wrap="square" lIns="0" tIns="0" rIns="0" bIns="0" rtlCol="0" anchor="ctr"/>
          <a:lstStyle/>
          <a:p>
            <a:pPr marL="0" indent="0">
              <a:buNone/>
            </a:pPr>
            <a:r>
              <a:rPr lang="en-US" sz="3400" b="1" dirty="0">
                <a:solidFill>
                  <a:srgbClr val="D8E8DC"/>
                </a:solidFill>
                <a:latin typeface="Cambria" pitchFamily="34" charset="0"/>
                <a:ea typeface="Cambria" pitchFamily="34" charset="-122"/>
                <a:cs typeface="Cambria" pitchFamily="34" charset="-120"/>
              </a:rPr>
              <a:t>01</a:t>
            </a:r>
            <a:endParaRPr lang="en-US" sz="3400" dirty="0"/>
          </a:p>
        </p:txBody>
      </p:sp>
      <p:sp>
        <p:nvSpPr>
          <p:cNvPr id="6" name="Shape 4"/>
          <p:cNvSpPr/>
          <p:nvPr/>
        </p:nvSpPr>
        <p:spPr>
          <a:xfrm>
            <a:off x="2057400" y="1920240"/>
            <a:ext cx="0" cy="822960"/>
          </a:xfrm>
          <a:prstGeom prst="line">
            <a:avLst/>
          </a:prstGeom>
          <a:noFill/>
          <a:ln w="12700">
            <a:solidFill>
              <a:srgbClr val="E3E6E0"/>
            </a:solidFill>
            <a:prstDash val="solid"/>
          </a:ln>
        </p:spPr>
      </p:sp>
      <p:sp>
        <p:nvSpPr>
          <p:cNvPr id="7" name="Text 5"/>
          <p:cNvSpPr/>
          <p:nvPr/>
        </p:nvSpPr>
        <p:spPr>
          <a:xfrm>
            <a:off x="2286000" y="1920240"/>
            <a:ext cx="3520440" cy="411480"/>
          </a:xfrm>
          <a:prstGeom prst="rect">
            <a:avLst/>
          </a:prstGeom>
          <a:noFill/>
          <a:ln/>
        </p:spPr>
        <p:txBody>
          <a:bodyPr wrap="square" lIns="0" tIns="0" rIns="0" bIns="0" rtlCol="0" anchor="ctr"/>
          <a:lstStyle/>
          <a:p>
            <a:pPr marL="0" indent="0">
              <a:buNone/>
            </a:pPr>
            <a:r>
              <a:rPr lang="en-US" sz="1450" b="1" dirty="0">
                <a:solidFill>
                  <a:srgbClr val="1A2B22"/>
                </a:solidFill>
                <a:latin typeface="Cambria" pitchFamily="34" charset="0"/>
                <a:ea typeface="Cambria" pitchFamily="34" charset="-122"/>
                <a:cs typeface="Cambria" pitchFamily="34" charset="-120"/>
              </a:rPr>
              <a:t>Executive Profile</a:t>
            </a:r>
            <a:endParaRPr lang="en-US" sz="1450" dirty="0"/>
          </a:p>
        </p:txBody>
      </p:sp>
      <p:sp>
        <p:nvSpPr>
          <p:cNvPr id="8" name="Text 6"/>
          <p:cNvSpPr/>
          <p:nvPr/>
        </p:nvSpPr>
        <p:spPr>
          <a:xfrm>
            <a:off x="2286000" y="2350008"/>
            <a:ext cx="3520440" cy="502920"/>
          </a:xfrm>
          <a:prstGeom prst="rect">
            <a:avLst/>
          </a:prstGeom>
          <a:noFill/>
          <a:ln/>
        </p:spPr>
        <p:txBody>
          <a:bodyPr wrap="square" lIns="0" tIns="0" rIns="0" bIns="0" rtlCol="0" anchor="ctr"/>
          <a:lstStyle/>
          <a:p>
            <a:pPr marL="0" indent="0">
              <a:lnSpc>
                <a:spcPct val="120000"/>
              </a:lnSpc>
              <a:buNone/>
            </a:pPr>
            <a:r>
              <a:rPr lang="en-US" sz="1050" dirty="0">
                <a:solidFill>
                  <a:srgbClr val="6B7A70"/>
                </a:solidFill>
                <a:latin typeface="Calibri" pitchFamily="34" charset="0"/>
                <a:ea typeface="Calibri" pitchFamily="34" charset="-122"/>
                <a:cs typeface="Calibri" pitchFamily="34" charset="-120"/>
              </a:rPr>
              <a:t>Who We Are · Vision · Mission · Values</a:t>
            </a:r>
            <a:endParaRPr lang="en-US" sz="1050" dirty="0"/>
          </a:p>
        </p:txBody>
      </p:sp>
      <p:sp>
        <p:nvSpPr>
          <p:cNvPr id="9" name="Shape 7"/>
          <p:cNvSpPr/>
          <p:nvPr/>
        </p:nvSpPr>
        <p:spPr>
          <a:xfrm>
            <a:off x="6172200" y="1691640"/>
            <a:ext cx="5349240" cy="1280160"/>
          </a:xfrm>
          <a:prstGeom prst="roundRect">
            <a:avLst>
              <a:gd name="adj" fmla="val 7143"/>
            </a:avLst>
          </a:prstGeom>
          <a:solidFill>
            <a:srgbClr val="FAF9F6"/>
          </a:solidFill>
          <a:ln w="9525">
            <a:solidFill>
              <a:srgbClr val="E3E6E0"/>
            </a:solidFill>
            <a:prstDash val="solid"/>
          </a:ln>
        </p:spPr>
      </p:sp>
      <p:sp>
        <p:nvSpPr>
          <p:cNvPr id="10" name="Text 8"/>
          <p:cNvSpPr/>
          <p:nvPr/>
        </p:nvSpPr>
        <p:spPr>
          <a:xfrm>
            <a:off x="6400800" y="1874520"/>
            <a:ext cx="1005840" cy="914400"/>
          </a:xfrm>
          <a:prstGeom prst="rect">
            <a:avLst/>
          </a:prstGeom>
          <a:noFill/>
          <a:ln/>
        </p:spPr>
        <p:txBody>
          <a:bodyPr wrap="square" lIns="0" tIns="0" rIns="0" bIns="0" rtlCol="0" anchor="ctr"/>
          <a:lstStyle/>
          <a:p>
            <a:pPr marL="0" indent="0">
              <a:buNone/>
            </a:pPr>
            <a:r>
              <a:rPr lang="en-US" sz="3400" b="1" dirty="0">
                <a:solidFill>
                  <a:srgbClr val="D8E8DC"/>
                </a:solidFill>
                <a:latin typeface="Cambria" pitchFamily="34" charset="0"/>
                <a:ea typeface="Cambria" pitchFamily="34" charset="-122"/>
                <a:cs typeface="Cambria" pitchFamily="34" charset="-120"/>
              </a:rPr>
              <a:t>02</a:t>
            </a:r>
            <a:endParaRPr lang="en-US" sz="3400" dirty="0"/>
          </a:p>
        </p:txBody>
      </p:sp>
      <p:sp>
        <p:nvSpPr>
          <p:cNvPr id="11" name="Shape 9"/>
          <p:cNvSpPr/>
          <p:nvPr/>
        </p:nvSpPr>
        <p:spPr>
          <a:xfrm>
            <a:off x="7589520" y="1920240"/>
            <a:ext cx="0" cy="822960"/>
          </a:xfrm>
          <a:prstGeom prst="line">
            <a:avLst/>
          </a:prstGeom>
          <a:noFill/>
          <a:ln w="12700">
            <a:solidFill>
              <a:srgbClr val="E3E6E0"/>
            </a:solidFill>
            <a:prstDash val="solid"/>
          </a:ln>
        </p:spPr>
      </p:sp>
      <p:sp>
        <p:nvSpPr>
          <p:cNvPr id="12" name="Text 10"/>
          <p:cNvSpPr/>
          <p:nvPr/>
        </p:nvSpPr>
        <p:spPr>
          <a:xfrm>
            <a:off x="7818120" y="1920240"/>
            <a:ext cx="3520440" cy="411480"/>
          </a:xfrm>
          <a:prstGeom prst="rect">
            <a:avLst/>
          </a:prstGeom>
          <a:noFill/>
          <a:ln/>
        </p:spPr>
        <p:txBody>
          <a:bodyPr wrap="square" lIns="0" tIns="0" rIns="0" bIns="0" rtlCol="0" anchor="ctr"/>
          <a:lstStyle/>
          <a:p>
            <a:pPr marL="0" indent="0">
              <a:buNone/>
            </a:pPr>
            <a:r>
              <a:rPr lang="en-US" sz="1450" b="1" dirty="0">
                <a:solidFill>
                  <a:srgbClr val="1A2B22"/>
                </a:solidFill>
                <a:latin typeface="Cambria" pitchFamily="34" charset="0"/>
                <a:ea typeface="Cambria" pitchFamily="34" charset="-122"/>
                <a:cs typeface="Cambria" pitchFamily="34" charset="-120"/>
              </a:rPr>
              <a:t>Company Background</a:t>
            </a:r>
            <a:endParaRPr lang="en-US" sz="1450" dirty="0"/>
          </a:p>
        </p:txBody>
      </p:sp>
      <p:sp>
        <p:nvSpPr>
          <p:cNvPr id="13" name="Text 11"/>
          <p:cNvSpPr/>
          <p:nvPr/>
        </p:nvSpPr>
        <p:spPr>
          <a:xfrm>
            <a:off x="7818120" y="2350008"/>
            <a:ext cx="3520440" cy="502920"/>
          </a:xfrm>
          <a:prstGeom prst="rect">
            <a:avLst/>
          </a:prstGeom>
          <a:noFill/>
          <a:ln/>
        </p:spPr>
        <p:txBody>
          <a:bodyPr wrap="square" lIns="0" tIns="0" rIns="0" bIns="0" rtlCol="0" anchor="ctr"/>
          <a:lstStyle/>
          <a:p>
            <a:pPr marL="0" indent="0">
              <a:lnSpc>
                <a:spcPct val="120000"/>
              </a:lnSpc>
              <a:buNone/>
            </a:pPr>
            <a:r>
              <a:rPr lang="en-US" sz="1050" dirty="0">
                <a:solidFill>
                  <a:srgbClr val="6B7A70"/>
                </a:solidFill>
                <a:latin typeface="Calibri" pitchFamily="34" charset="0"/>
                <a:ea typeface="Calibri" pitchFamily="34" charset="-122"/>
                <a:cs typeface="Calibri" pitchFamily="34" charset="-120"/>
              </a:rPr>
              <a:t>Our Story &amp; Legal Registration</a:t>
            </a:r>
            <a:endParaRPr lang="en-US" sz="1050" dirty="0"/>
          </a:p>
        </p:txBody>
      </p:sp>
      <p:sp>
        <p:nvSpPr>
          <p:cNvPr id="14" name="Shape 12"/>
          <p:cNvSpPr/>
          <p:nvPr/>
        </p:nvSpPr>
        <p:spPr>
          <a:xfrm>
            <a:off x="640080" y="3154680"/>
            <a:ext cx="5349240" cy="1280160"/>
          </a:xfrm>
          <a:prstGeom prst="roundRect">
            <a:avLst>
              <a:gd name="adj" fmla="val 7143"/>
            </a:avLst>
          </a:prstGeom>
          <a:solidFill>
            <a:srgbClr val="FAF9F6"/>
          </a:solidFill>
          <a:ln w="9525">
            <a:solidFill>
              <a:srgbClr val="E3E6E0"/>
            </a:solidFill>
            <a:prstDash val="solid"/>
          </a:ln>
        </p:spPr>
      </p:sp>
      <p:sp>
        <p:nvSpPr>
          <p:cNvPr id="15" name="Text 13"/>
          <p:cNvSpPr/>
          <p:nvPr/>
        </p:nvSpPr>
        <p:spPr>
          <a:xfrm>
            <a:off x="868680" y="3337560"/>
            <a:ext cx="1005840" cy="914400"/>
          </a:xfrm>
          <a:prstGeom prst="rect">
            <a:avLst/>
          </a:prstGeom>
          <a:noFill/>
          <a:ln/>
        </p:spPr>
        <p:txBody>
          <a:bodyPr wrap="square" lIns="0" tIns="0" rIns="0" bIns="0" rtlCol="0" anchor="ctr"/>
          <a:lstStyle/>
          <a:p>
            <a:pPr marL="0" indent="0">
              <a:buNone/>
            </a:pPr>
            <a:r>
              <a:rPr lang="en-US" sz="3400" b="1" dirty="0">
                <a:solidFill>
                  <a:srgbClr val="D8E8DC"/>
                </a:solidFill>
                <a:latin typeface="Cambria" pitchFamily="34" charset="0"/>
                <a:ea typeface="Cambria" pitchFamily="34" charset="-122"/>
                <a:cs typeface="Cambria" pitchFamily="34" charset="-120"/>
              </a:rPr>
              <a:t>03</a:t>
            </a:r>
            <a:endParaRPr lang="en-US" sz="3400" dirty="0"/>
          </a:p>
        </p:txBody>
      </p:sp>
      <p:sp>
        <p:nvSpPr>
          <p:cNvPr id="16" name="Shape 14"/>
          <p:cNvSpPr/>
          <p:nvPr/>
        </p:nvSpPr>
        <p:spPr>
          <a:xfrm>
            <a:off x="2057400" y="3383280"/>
            <a:ext cx="0" cy="822960"/>
          </a:xfrm>
          <a:prstGeom prst="line">
            <a:avLst/>
          </a:prstGeom>
          <a:noFill/>
          <a:ln w="12700">
            <a:solidFill>
              <a:srgbClr val="E3E6E0"/>
            </a:solidFill>
            <a:prstDash val="solid"/>
          </a:ln>
        </p:spPr>
      </p:sp>
      <p:sp>
        <p:nvSpPr>
          <p:cNvPr id="17" name="Text 15"/>
          <p:cNvSpPr/>
          <p:nvPr/>
        </p:nvSpPr>
        <p:spPr>
          <a:xfrm>
            <a:off x="2286000" y="3383280"/>
            <a:ext cx="3520440" cy="411480"/>
          </a:xfrm>
          <a:prstGeom prst="rect">
            <a:avLst/>
          </a:prstGeom>
          <a:noFill/>
          <a:ln/>
        </p:spPr>
        <p:txBody>
          <a:bodyPr wrap="square" lIns="0" tIns="0" rIns="0" bIns="0" rtlCol="0" anchor="ctr"/>
          <a:lstStyle/>
          <a:p>
            <a:pPr marL="0" indent="0">
              <a:buNone/>
            </a:pPr>
            <a:r>
              <a:rPr lang="en-US" sz="1450" b="1" dirty="0">
                <a:solidFill>
                  <a:srgbClr val="1A2B22"/>
                </a:solidFill>
                <a:latin typeface="Cambria" pitchFamily="34" charset="0"/>
                <a:ea typeface="Cambria" pitchFamily="34" charset="-122"/>
                <a:cs typeface="Cambria" pitchFamily="34" charset="-120"/>
              </a:rPr>
              <a:t>What We Do</a:t>
            </a:r>
            <a:endParaRPr lang="en-US" sz="1450" dirty="0"/>
          </a:p>
        </p:txBody>
      </p:sp>
      <p:sp>
        <p:nvSpPr>
          <p:cNvPr id="18" name="Text 16"/>
          <p:cNvSpPr/>
          <p:nvPr/>
        </p:nvSpPr>
        <p:spPr>
          <a:xfrm>
            <a:off x="2286000" y="3813048"/>
            <a:ext cx="3520440" cy="502920"/>
          </a:xfrm>
          <a:prstGeom prst="rect">
            <a:avLst/>
          </a:prstGeom>
          <a:noFill/>
          <a:ln/>
        </p:spPr>
        <p:txBody>
          <a:bodyPr wrap="square" lIns="0" tIns="0" rIns="0" bIns="0" rtlCol="0" anchor="ctr"/>
          <a:lstStyle/>
          <a:p>
            <a:pPr marL="0" indent="0">
              <a:lnSpc>
                <a:spcPct val="120000"/>
              </a:lnSpc>
              <a:buNone/>
            </a:pPr>
            <a:r>
              <a:rPr lang="en-US" sz="1050" dirty="0">
                <a:solidFill>
                  <a:srgbClr val="6B7A70"/>
                </a:solidFill>
                <a:latin typeface="Calibri" pitchFamily="34" charset="0"/>
                <a:ea typeface="Calibri" pitchFamily="34" charset="-122"/>
                <a:cs typeface="Calibri" pitchFamily="34" charset="-120"/>
              </a:rPr>
              <a:t>Our Products &amp; The Science of Neem</a:t>
            </a:r>
            <a:endParaRPr lang="en-US" sz="1050" dirty="0"/>
          </a:p>
        </p:txBody>
      </p:sp>
      <p:sp>
        <p:nvSpPr>
          <p:cNvPr id="19" name="Shape 17"/>
          <p:cNvSpPr/>
          <p:nvPr/>
        </p:nvSpPr>
        <p:spPr>
          <a:xfrm>
            <a:off x="6172200" y="3154680"/>
            <a:ext cx="5349240" cy="1280160"/>
          </a:xfrm>
          <a:prstGeom prst="roundRect">
            <a:avLst>
              <a:gd name="adj" fmla="val 7143"/>
            </a:avLst>
          </a:prstGeom>
          <a:solidFill>
            <a:srgbClr val="FAF9F6"/>
          </a:solidFill>
          <a:ln w="9525">
            <a:solidFill>
              <a:srgbClr val="E3E6E0"/>
            </a:solidFill>
            <a:prstDash val="solid"/>
          </a:ln>
        </p:spPr>
      </p:sp>
      <p:sp>
        <p:nvSpPr>
          <p:cNvPr id="20" name="Text 18"/>
          <p:cNvSpPr/>
          <p:nvPr/>
        </p:nvSpPr>
        <p:spPr>
          <a:xfrm>
            <a:off x="6400800" y="3337560"/>
            <a:ext cx="1005840" cy="914400"/>
          </a:xfrm>
          <a:prstGeom prst="rect">
            <a:avLst/>
          </a:prstGeom>
          <a:noFill/>
          <a:ln/>
        </p:spPr>
        <p:txBody>
          <a:bodyPr wrap="square" lIns="0" tIns="0" rIns="0" bIns="0" rtlCol="0" anchor="ctr"/>
          <a:lstStyle/>
          <a:p>
            <a:pPr marL="0" indent="0">
              <a:buNone/>
            </a:pPr>
            <a:r>
              <a:rPr lang="en-US" sz="3400" b="1" dirty="0">
                <a:solidFill>
                  <a:srgbClr val="D8E8DC"/>
                </a:solidFill>
                <a:latin typeface="Cambria" pitchFamily="34" charset="0"/>
                <a:ea typeface="Cambria" pitchFamily="34" charset="-122"/>
                <a:cs typeface="Cambria" pitchFamily="34" charset="-120"/>
              </a:rPr>
              <a:t>04</a:t>
            </a:r>
            <a:endParaRPr lang="en-US" sz="3400" dirty="0"/>
          </a:p>
        </p:txBody>
      </p:sp>
      <p:sp>
        <p:nvSpPr>
          <p:cNvPr id="21" name="Shape 19"/>
          <p:cNvSpPr/>
          <p:nvPr/>
        </p:nvSpPr>
        <p:spPr>
          <a:xfrm>
            <a:off x="7589520" y="3383280"/>
            <a:ext cx="0" cy="822960"/>
          </a:xfrm>
          <a:prstGeom prst="line">
            <a:avLst/>
          </a:prstGeom>
          <a:noFill/>
          <a:ln w="12700">
            <a:solidFill>
              <a:srgbClr val="E3E6E0"/>
            </a:solidFill>
            <a:prstDash val="solid"/>
          </a:ln>
        </p:spPr>
      </p:sp>
      <p:sp>
        <p:nvSpPr>
          <p:cNvPr id="22" name="Text 20"/>
          <p:cNvSpPr/>
          <p:nvPr/>
        </p:nvSpPr>
        <p:spPr>
          <a:xfrm>
            <a:off x="7818120" y="3383280"/>
            <a:ext cx="3520440" cy="411480"/>
          </a:xfrm>
          <a:prstGeom prst="rect">
            <a:avLst/>
          </a:prstGeom>
          <a:noFill/>
          <a:ln/>
        </p:spPr>
        <p:txBody>
          <a:bodyPr wrap="square" lIns="0" tIns="0" rIns="0" bIns="0" rtlCol="0" anchor="ctr"/>
          <a:lstStyle/>
          <a:p>
            <a:pPr marL="0" indent="0">
              <a:buNone/>
            </a:pPr>
            <a:r>
              <a:rPr lang="en-US" sz="1450" b="1" dirty="0">
                <a:solidFill>
                  <a:srgbClr val="1A2B22"/>
                </a:solidFill>
                <a:latin typeface="Cambria" pitchFamily="34" charset="0"/>
                <a:ea typeface="Cambria" pitchFamily="34" charset="-122"/>
                <a:cs typeface="Cambria" pitchFamily="34" charset="-120"/>
              </a:rPr>
              <a:t>Strategy &amp; Operations</a:t>
            </a:r>
            <a:endParaRPr lang="en-US" sz="1450" dirty="0"/>
          </a:p>
        </p:txBody>
      </p:sp>
      <p:sp>
        <p:nvSpPr>
          <p:cNvPr id="23" name="Text 21"/>
          <p:cNvSpPr/>
          <p:nvPr/>
        </p:nvSpPr>
        <p:spPr>
          <a:xfrm>
            <a:off x="7818120" y="3813048"/>
            <a:ext cx="3520440" cy="502920"/>
          </a:xfrm>
          <a:prstGeom prst="rect">
            <a:avLst/>
          </a:prstGeom>
          <a:noFill/>
          <a:ln/>
        </p:spPr>
        <p:txBody>
          <a:bodyPr wrap="square" lIns="0" tIns="0" rIns="0" bIns="0" rtlCol="0" anchor="ctr"/>
          <a:lstStyle/>
          <a:p>
            <a:pPr marL="0" indent="0">
              <a:lnSpc>
                <a:spcPct val="120000"/>
              </a:lnSpc>
              <a:buNone/>
            </a:pPr>
            <a:r>
              <a:rPr lang="en-US" sz="1050" dirty="0">
                <a:solidFill>
                  <a:srgbClr val="6B7A70"/>
                </a:solidFill>
                <a:latin typeface="Calibri" pitchFamily="34" charset="0"/>
                <a:ea typeface="Calibri" pitchFamily="34" charset="-122"/>
                <a:cs typeface="Calibri" pitchFamily="34" charset="-120"/>
              </a:rPr>
              <a:t>Advantage · Business Model · Structure</a:t>
            </a:r>
            <a:endParaRPr lang="en-US" sz="1050" dirty="0"/>
          </a:p>
        </p:txBody>
      </p:sp>
      <p:sp>
        <p:nvSpPr>
          <p:cNvPr id="24" name="Shape 22"/>
          <p:cNvSpPr/>
          <p:nvPr/>
        </p:nvSpPr>
        <p:spPr>
          <a:xfrm>
            <a:off x="640080" y="4617720"/>
            <a:ext cx="5349240" cy="1280160"/>
          </a:xfrm>
          <a:prstGeom prst="roundRect">
            <a:avLst>
              <a:gd name="adj" fmla="val 7143"/>
            </a:avLst>
          </a:prstGeom>
          <a:solidFill>
            <a:srgbClr val="FAF9F6"/>
          </a:solidFill>
          <a:ln w="9525">
            <a:solidFill>
              <a:srgbClr val="E3E6E0"/>
            </a:solidFill>
            <a:prstDash val="solid"/>
          </a:ln>
        </p:spPr>
      </p:sp>
      <p:sp>
        <p:nvSpPr>
          <p:cNvPr id="25" name="Text 23"/>
          <p:cNvSpPr/>
          <p:nvPr/>
        </p:nvSpPr>
        <p:spPr>
          <a:xfrm>
            <a:off x="868680" y="4800600"/>
            <a:ext cx="1005840" cy="914400"/>
          </a:xfrm>
          <a:prstGeom prst="rect">
            <a:avLst/>
          </a:prstGeom>
          <a:noFill/>
          <a:ln/>
        </p:spPr>
        <p:txBody>
          <a:bodyPr wrap="square" lIns="0" tIns="0" rIns="0" bIns="0" rtlCol="0" anchor="ctr"/>
          <a:lstStyle/>
          <a:p>
            <a:pPr marL="0" indent="0">
              <a:buNone/>
            </a:pPr>
            <a:r>
              <a:rPr lang="en-US" sz="3400" b="1" dirty="0">
                <a:solidFill>
                  <a:srgbClr val="D8E8DC"/>
                </a:solidFill>
                <a:latin typeface="Cambria" pitchFamily="34" charset="0"/>
                <a:ea typeface="Cambria" pitchFamily="34" charset="-122"/>
                <a:cs typeface="Cambria" pitchFamily="34" charset="-120"/>
              </a:rPr>
              <a:t>05</a:t>
            </a:r>
            <a:endParaRPr lang="en-US" sz="3400" dirty="0"/>
          </a:p>
        </p:txBody>
      </p:sp>
      <p:sp>
        <p:nvSpPr>
          <p:cNvPr id="26" name="Shape 24"/>
          <p:cNvSpPr/>
          <p:nvPr/>
        </p:nvSpPr>
        <p:spPr>
          <a:xfrm>
            <a:off x="2057400" y="4846320"/>
            <a:ext cx="0" cy="822960"/>
          </a:xfrm>
          <a:prstGeom prst="line">
            <a:avLst/>
          </a:prstGeom>
          <a:noFill/>
          <a:ln w="12700">
            <a:solidFill>
              <a:srgbClr val="E3E6E0"/>
            </a:solidFill>
            <a:prstDash val="solid"/>
          </a:ln>
        </p:spPr>
      </p:sp>
      <p:sp>
        <p:nvSpPr>
          <p:cNvPr id="27" name="Text 25"/>
          <p:cNvSpPr/>
          <p:nvPr/>
        </p:nvSpPr>
        <p:spPr>
          <a:xfrm>
            <a:off x="2286000" y="4846320"/>
            <a:ext cx="3520440" cy="411480"/>
          </a:xfrm>
          <a:prstGeom prst="rect">
            <a:avLst/>
          </a:prstGeom>
          <a:noFill/>
          <a:ln/>
        </p:spPr>
        <p:txBody>
          <a:bodyPr wrap="square" lIns="0" tIns="0" rIns="0" bIns="0" rtlCol="0" anchor="ctr"/>
          <a:lstStyle/>
          <a:p>
            <a:pPr marL="0" indent="0">
              <a:buNone/>
            </a:pPr>
            <a:r>
              <a:rPr lang="en-US" sz="1450" b="1" dirty="0">
                <a:solidFill>
                  <a:srgbClr val="1A2B22"/>
                </a:solidFill>
                <a:latin typeface="Cambria" pitchFamily="34" charset="0"/>
                <a:ea typeface="Cambria" pitchFamily="34" charset="-122"/>
                <a:cs typeface="Cambria" pitchFamily="34" charset="-120"/>
              </a:rPr>
              <a:t>Responsibility</a:t>
            </a:r>
            <a:endParaRPr lang="en-US" sz="1450" dirty="0"/>
          </a:p>
        </p:txBody>
      </p:sp>
      <p:sp>
        <p:nvSpPr>
          <p:cNvPr id="28" name="Text 26"/>
          <p:cNvSpPr/>
          <p:nvPr/>
        </p:nvSpPr>
        <p:spPr>
          <a:xfrm>
            <a:off x="2286000" y="5276088"/>
            <a:ext cx="3520440" cy="502920"/>
          </a:xfrm>
          <a:prstGeom prst="rect">
            <a:avLst/>
          </a:prstGeom>
          <a:noFill/>
          <a:ln/>
        </p:spPr>
        <p:txBody>
          <a:bodyPr wrap="square" lIns="0" tIns="0" rIns="0" bIns="0" rtlCol="0" anchor="ctr"/>
          <a:lstStyle/>
          <a:p>
            <a:pPr marL="0" indent="0">
              <a:lnSpc>
                <a:spcPct val="120000"/>
              </a:lnSpc>
              <a:buNone/>
            </a:pPr>
            <a:r>
              <a:rPr lang="en-US" sz="1050" dirty="0">
                <a:solidFill>
                  <a:srgbClr val="6B7A70"/>
                </a:solidFill>
                <a:latin typeface="Calibri" pitchFamily="34" charset="0"/>
                <a:ea typeface="Calibri" pitchFamily="34" charset="-122"/>
                <a:cs typeface="Calibri" pitchFamily="34" charset="-120"/>
              </a:rPr>
              <a:t>Quality · Sustainability · Research · CSR</a:t>
            </a:r>
            <a:endParaRPr lang="en-US" sz="1050" dirty="0"/>
          </a:p>
        </p:txBody>
      </p:sp>
      <p:sp>
        <p:nvSpPr>
          <p:cNvPr id="29" name="Shape 27"/>
          <p:cNvSpPr/>
          <p:nvPr/>
        </p:nvSpPr>
        <p:spPr>
          <a:xfrm>
            <a:off x="6172200" y="4617720"/>
            <a:ext cx="5349240" cy="1280160"/>
          </a:xfrm>
          <a:prstGeom prst="roundRect">
            <a:avLst>
              <a:gd name="adj" fmla="val 7143"/>
            </a:avLst>
          </a:prstGeom>
          <a:solidFill>
            <a:srgbClr val="FAF9F6"/>
          </a:solidFill>
          <a:ln w="9525">
            <a:solidFill>
              <a:srgbClr val="E3E6E0"/>
            </a:solidFill>
            <a:prstDash val="solid"/>
          </a:ln>
        </p:spPr>
      </p:sp>
      <p:sp>
        <p:nvSpPr>
          <p:cNvPr id="30" name="Text 28"/>
          <p:cNvSpPr/>
          <p:nvPr/>
        </p:nvSpPr>
        <p:spPr>
          <a:xfrm>
            <a:off x="6400800" y="4800600"/>
            <a:ext cx="1005840" cy="914400"/>
          </a:xfrm>
          <a:prstGeom prst="rect">
            <a:avLst/>
          </a:prstGeom>
          <a:noFill/>
          <a:ln/>
        </p:spPr>
        <p:txBody>
          <a:bodyPr wrap="square" lIns="0" tIns="0" rIns="0" bIns="0" rtlCol="0" anchor="ctr"/>
          <a:lstStyle/>
          <a:p>
            <a:pPr marL="0" indent="0">
              <a:buNone/>
            </a:pPr>
            <a:r>
              <a:rPr lang="en-US" sz="3400" b="1" dirty="0">
                <a:solidFill>
                  <a:srgbClr val="D8E8DC"/>
                </a:solidFill>
                <a:latin typeface="Cambria" pitchFamily="34" charset="0"/>
                <a:ea typeface="Cambria" pitchFamily="34" charset="-122"/>
                <a:cs typeface="Cambria" pitchFamily="34" charset="-120"/>
              </a:rPr>
              <a:t>06</a:t>
            </a:r>
            <a:endParaRPr lang="en-US" sz="3400" dirty="0"/>
          </a:p>
        </p:txBody>
      </p:sp>
      <p:sp>
        <p:nvSpPr>
          <p:cNvPr id="31" name="Shape 29"/>
          <p:cNvSpPr/>
          <p:nvPr/>
        </p:nvSpPr>
        <p:spPr>
          <a:xfrm>
            <a:off x="7589520" y="4846320"/>
            <a:ext cx="0" cy="822960"/>
          </a:xfrm>
          <a:prstGeom prst="line">
            <a:avLst/>
          </a:prstGeom>
          <a:noFill/>
          <a:ln w="12700">
            <a:solidFill>
              <a:srgbClr val="E3E6E0"/>
            </a:solidFill>
            <a:prstDash val="solid"/>
          </a:ln>
        </p:spPr>
      </p:sp>
      <p:sp>
        <p:nvSpPr>
          <p:cNvPr id="32" name="Text 30"/>
          <p:cNvSpPr/>
          <p:nvPr/>
        </p:nvSpPr>
        <p:spPr>
          <a:xfrm>
            <a:off x="7818120" y="4846320"/>
            <a:ext cx="3520440" cy="411480"/>
          </a:xfrm>
          <a:prstGeom prst="rect">
            <a:avLst/>
          </a:prstGeom>
          <a:noFill/>
          <a:ln/>
        </p:spPr>
        <p:txBody>
          <a:bodyPr wrap="square" lIns="0" tIns="0" rIns="0" bIns="0" rtlCol="0" anchor="ctr"/>
          <a:lstStyle/>
          <a:p>
            <a:pPr marL="0" indent="0">
              <a:buNone/>
            </a:pPr>
            <a:r>
              <a:rPr lang="en-US" sz="1450" b="1" dirty="0">
                <a:solidFill>
                  <a:srgbClr val="1A2B22"/>
                </a:solidFill>
                <a:latin typeface="Cambria" pitchFamily="34" charset="0"/>
                <a:ea typeface="Cambria" pitchFamily="34" charset="-122"/>
                <a:cs typeface="Cambria" pitchFamily="34" charset="-120"/>
              </a:rPr>
              <a:t>Looking Ahead</a:t>
            </a:r>
            <a:endParaRPr lang="en-US" sz="1450" dirty="0"/>
          </a:p>
        </p:txBody>
      </p:sp>
      <p:sp>
        <p:nvSpPr>
          <p:cNvPr id="33" name="Text 31"/>
          <p:cNvSpPr/>
          <p:nvPr/>
        </p:nvSpPr>
        <p:spPr>
          <a:xfrm>
            <a:off x="7818120" y="5276088"/>
            <a:ext cx="3520440" cy="502920"/>
          </a:xfrm>
          <a:prstGeom prst="rect">
            <a:avLst/>
          </a:prstGeom>
          <a:noFill/>
          <a:ln/>
        </p:spPr>
        <p:txBody>
          <a:bodyPr wrap="square" lIns="0" tIns="0" rIns="0" bIns="0" rtlCol="0" anchor="ctr"/>
          <a:lstStyle/>
          <a:p>
            <a:pPr marL="0" indent="0">
              <a:lnSpc>
                <a:spcPct val="120000"/>
              </a:lnSpc>
              <a:buNone/>
            </a:pPr>
            <a:r>
              <a:rPr lang="en-US" sz="1050" dirty="0">
                <a:solidFill>
                  <a:srgbClr val="6B7A70"/>
                </a:solidFill>
                <a:latin typeface="Calibri" pitchFamily="34" charset="0"/>
                <a:ea typeface="Calibri" pitchFamily="34" charset="-122"/>
                <a:cs typeface="Calibri" pitchFamily="34" charset="-120"/>
              </a:rPr>
              <a:t>Partnerships · Growth Plans · Contact</a:t>
            </a:r>
            <a:endParaRPr lang="en-US" sz="1050" dirty="0"/>
          </a:p>
        </p:txBody>
      </p:sp>
      <p:sp>
        <p:nvSpPr>
          <p:cNvPr id="34" name="Text 32"/>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35" name="Text 33"/>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WHAT WE DO</a:t>
            </a:r>
            <a:endParaRPr lang="en-US" sz="1250" dirty="0"/>
          </a:p>
        </p:txBody>
      </p:sp>
      <p:sp>
        <p:nvSpPr>
          <p:cNvPr id="3" name="Text 1"/>
          <p:cNvSpPr/>
          <p:nvPr/>
        </p:nvSpPr>
        <p:spPr>
          <a:xfrm>
            <a:off x="640080" y="804672"/>
            <a:ext cx="10058400" cy="685800"/>
          </a:xfrm>
          <a:prstGeom prst="rect">
            <a:avLst/>
          </a:prstGeom>
          <a:noFill/>
          <a:ln/>
        </p:spPr>
        <p:txBody>
          <a:bodyPr wrap="square" lIns="0" tIns="0" rIns="0" bIns="0" rtlCol="0" anchor="ctr"/>
          <a:lstStyle/>
          <a:p>
            <a:pPr marL="0" indent="0">
              <a:buNone/>
            </a:pPr>
            <a:r>
              <a:rPr lang="en-US" sz="2700" b="1" dirty="0">
                <a:solidFill>
                  <a:srgbClr val="1A2B22"/>
                </a:solidFill>
                <a:latin typeface="Cambria" pitchFamily="34" charset="0"/>
                <a:ea typeface="Cambria" pitchFamily="34" charset="-122"/>
                <a:cs typeface="Cambria" pitchFamily="34" charset="-120"/>
              </a:rPr>
              <a:t>Turning Neem Science Into Everyday Solutions</a:t>
            </a:r>
            <a:endParaRPr lang="en-US" sz="2700" dirty="0"/>
          </a:p>
        </p:txBody>
      </p:sp>
      <p:sp>
        <p:nvSpPr>
          <p:cNvPr id="4" name="Text 2"/>
          <p:cNvSpPr/>
          <p:nvPr/>
        </p:nvSpPr>
        <p:spPr>
          <a:xfrm>
            <a:off x="640080" y="1645920"/>
            <a:ext cx="10881360" cy="960120"/>
          </a:xfrm>
          <a:prstGeom prst="rect">
            <a:avLst/>
          </a:prstGeom>
          <a:noFill/>
          <a:ln/>
        </p:spPr>
        <p:txBody>
          <a:bodyPr wrap="square" lIns="0" tIns="0" rIns="0" bIns="0" rtlCol="0" anchor="ctr"/>
          <a:lstStyle/>
          <a:p>
            <a:pPr marL="0" indent="0">
              <a:lnSpc>
                <a:spcPct val="135000"/>
              </a:lnSpc>
              <a:buNone/>
            </a:pPr>
            <a:r>
              <a:rPr lang="en-US" sz="1350" dirty="0">
                <a:solidFill>
                  <a:srgbClr val="3F4A42"/>
                </a:solidFill>
                <a:latin typeface="Calibri" pitchFamily="34" charset="0"/>
                <a:ea typeface="Calibri" pitchFamily="34" charset="-122"/>
                <a:cs typeface="Calibri" pitchFamily="34" charset="-120"/>
              </a:rPr>
              <a:t>EcoNeemTech researches, formulates, and commercialises Neem-based products that replace harsh synthetic chemicals with safe, naturally derived alternatives  without compromising performance. We work across personal hygiene, home care, and environmental protection, translating the antibacterial, antifungal, and antioxidant properties of Neem into products people use every day.</a:t>
            </a:r>
            <a:endParaRPr lang="en-US" sz="1350" dirty="0"/>
          </a:p>
        </p:txBody>
      </p:sp>
      <p:sp>
        <p:nvSpPr>
          <p:cNvPr id="5" name="Shape 3"/>
          <p:cNvSpPr/>
          <p:nvPr/>
        </p:nvSpPr>
        <p:spPr>
          <a:xfrm>
            <a:off x="640080" y="2880360"/>
            <a:ext cx="2560320" cy="3108960"/>
          </a:xfrm>
          <a:prstGeom prst="roundRect">
            <a:avLst>
              <a:gd name="adj" fmla="val 3571"/>
            </a:avLst>
          </a:prstGeom>
          <a:solidFill>
            <a:srgbClr val="1B4332"/>
          </a:solidFill>
          <a:ln/>
          <a:effectLst>
            <a:outerShdw blurRad="127000" dist="38100" dir="5400000" algn="bl" rotWithShape="0">
              <a:srgbClr val="1B4332">
                <a:alpha val="10000"/>
              </a:srgbClr>
            </a:outerShdw>
          </a:effectLst>
        </p:spPr>
      </p:sp>
      <p:sp>
        <p:nvSpPr>
          <p:cNvPr id="6" name="Shape 4"/>
          <p:cNvSpPr/>
          <p:nvPr/>
        </p:nvSpPr>
        <p:spPr>
          <a:xfrm>
            <a:off x="868680" y="3154680"/>
            <a:ext cx="566928" cy="566928"/>
          </a:xfrm>
          <a:prstGeom prst="ellipse">
            <a:avLst/>
          </a:prstGeom>
          <a:solidFill>
            <a:srgbClr val="FFFFFF">
              <a:alpha val="12000"/>
            </a:srgbClr>
          </a:solidFill>
          <a:ln/>
        </p:spPr>
      </p:sp>
      <p:pic>
        <p:nvPicPr>
          <p:cNvPr id="7" name="Image 0" descr="assets/icons/seedling_white.png"/>
          <p:cNvPicPr>
            <a:picLocks noChangeAspect="1"/>
          </p:cNvPicPr>
          <p:nvPr/>
        </p:nvPicPr>
        <p:blipFill>
          <a:blip r:embed="rId4"/>
          <a:stretch>
            <a:fillRect/>
          </a:stretch>
        </p:blipFill>
        <p:spPr>
          <a:xfrm>
            <a:off x="1024128" y="3310128"/>
            <a:ext cx="274320" cy="274320"/>
          </a:xfrm>
          <a:prstGeom prst="rect">
            <a:avLst/>
          </a:prstGeom>
        </p:spPr>
      </p:pic>
      <p:sp>
        <p:nvSpPr>
          <p:cNvPr id="8" name="Text 5"/>
          <p:cNvSpPr/>
          <p:nvPr/>
        </p:nvSpPr>
        <p:spPr>
          <a:xfrm>
            <a:off x="2606040" y="3108960"/>
            <a:ext cx="548640" cy="365760"/>
          </a:xfrm>
          <a:prstGeom prst="rect">
            <a:avLst/>
          </a:prstGeom>
          <a:noFill/>
          <a:ln/>
        </p:spPr>
        <p:txBody>
          <a:bodyPr wrap="square" lIns="0" tIns="0" rIns="0" bIns="0" rtlCol="0" anchor="ctr"/>
          <a:lstStyle/>
          <a:p>
            <a:pPr marL="0" indent="0" algn="r">
              <a:buNone/>
            </a:pPr>
            <a:r>
              <a:rPr lang="en-US" sz="1600" b="1" dirty="0">
                <a:solidFill>
                  <a:srgbClr val="FFFFFF">
                    <a:alpha val="50000"/>
                  </a:srgbClr>
                </a:solidFill>
                <a:latin typeface="Cambria" pitchFamily="34" charset="0"/>
                <a:ea typeface="Cambria" pitchFamily="34" charset="-122"/>
                <a:cs typeface="Cambria" pitchFamily="34" charset="-120"/>
              </a:rPr>
              <a:t>01</a:t>
            </a:r>
            <a:endParaRPr lang="en-US" sz="1600" dirty="0"/>
          </a:p>
        </p:txBody>
      </p:sp>
      <p:sp>
        <p:nvSpPr>
          <p:cNvPr id="9" name="Text 6"/>
          <p:cNvSpPr/>
          <p:nvPr/>
        </p:nvSpPr>
        <p:spPr>
          <a:xfrm>
            <a:off x="868680" y="3886200"/>
            <a:ext cx="214884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Source</a:t>
            </a:r>
            <a:endParaRPr lang="en-US" sz="1500" dirty="0"/>
          </a:p>
        </p:txBody>
      </p:sp>
      <p:sp>
        <p:nvSpPr>
          <p:cNvPr id="10" name="Text 7"/>
          <p:cNvSpPr/>
          <p:nvPr/>
        </p:nvSpPr>
        <p:spPr>
          <a:xfrm>
            <a:off x="868680" y="4297680"/>
            <a:ext cx="2148840" cy="1554480"/>
          </a:xfrm>
          <a:prstGeom prst="rect">
            <a:avLst/>
          </a:prstGeom>
          <a:noFill/>
          <a:ln/>
        </p:spPr>
        <p:txBody>
          <a:bodyPr wrap="square" lIns="0" tIns="0" rIns="0" bIns="0" rtlCol="0" anchor="ctr"/>
          <a:lstStyle/>
          <a:p>
            <a:pPr marL="0" indent="0">
              <a:lnSpc>
                <a:spcPct val="125000"/>
              </a:lnSpc>
              <a:buNone/>
            </a:pPr>
            <a:r>
              <a:rPr lang="en-US" sz="1100" dirty="0">
                <a:solidFill>
                  <a:srgbClr val="FFFFFF"/>
                </a:solidFill>
                <a:latin typeface="Calibri" pitchFamily="34" charset="0"/>
                <a:ea typeface="Calibri" pitchFamily="34" charset="-122"/>
                <a:cs typeface="Calibri" pitchFamily="34" charset="-120"/>
              </a:rPr>
              <a:t>We responsibly source Neem leaves, seeds, and oil from sustainable cultivation.</a:t>
            </a:r>
            <a:endParaRPr lang="en-US" sz="1100" dirty="0"/>
          </a:p>
        </p:txBody>
      </p:sp>
      <p:sp>
        <p:nvSpPr>
          <p:cNvPr id="11" name="Shape 8"/>
          <p:cNvSpPr/>
          <p:nvPr/>
        </p:nvSpPr>
        <p:spPr>
          <a:xfrm>
            <a:off x="3383280" y="2880360"/>
            <a:ext cx="2560320" cy="3108960"/>
          </a:xfrm>
          <a:prstGeom prst="roundRect">
            <a:avLst>
              <a:gd name="adj" fmla="val 3571"/>
            </a:avLst>
          </a:prstGeom>
          <a:solidFill>
            <a:srgbClr val="2D6A4F"/>
          </a:solidFill>
          <a:ln/>
          <a:effectLst>
            <a:outerShdw blurRad="127000" dist="38100" dir="5400000" algn="bl" rotWithShape="0">
              <a:srgbClr val="1B4332">
                <a:alpha val="10000"/>
              </a:srgbClr>
            </a:outerShdw>
          </a:effectLst>
        </p:spPr>
      </p:sp>
      <p:sp>
        <p:nvSpPr>
          <p:cNvPr id="12" name="Shape 9"/>
          <p:cNvSpPr/>
          <p:nvPr/>
        </p:nvSpPr>
        <p:spPr>
          <a:xfrm>
            <a:off x="3611880" y="3154680"/>
            <a:ext cx="566928" cy="566928"/>
          </a:xfrm>
          <a:prstGeom prst="ellipse">
            <a:avLst/>
          </a:prstGeom>
          <a:solidFill>
            <a:srgbClr val="FFFFFF">
              <a:alpha val="12000"/>
            </a:srgbClr>
          </a:solidFill>
          <a:ln/>
        </p:spPr>
      </p:sp>
      <p:pic>
        <p:nvPicPr>
          <p:cNvPr id="13" name="Image 1" descr="assets/icons/flask_white.png"/>
          <p:cNvPicPr>
            <a:picLocks noChangeAspect="1"/>
          </p:cNvPicPr>
          <p:nvPr/>
        </p:nvPicPr>
        <p:blipFill>
          <a:blip r:embed="rId5"/>
          <a:stretch>
            <a:fillRect/>
          </a:stretch>
        </p:blipFill>
        <p:spPr>
          <a:xfrm>
            <a:off x="3767328" y="3310128"/>
            <a:ext cx="274320" cy="274320"/>
          </a:xfrm>
          <a:prstGeom prst="rect">
            <a:avLst/>
          </a:prstGeom>
        </p:spPr>
      </p:pic>
      <p:sp>
        <p:nvSpPr>
          <p:cNvPr id="14" name="Text 10"/>
          <p:cNvSpPr/>
          <p:nvPr/>
        </p:nvSpPr>
        <p:spPr>
          <a:xfrm>
            <a:off x="5349240" y="3108960"/>
            <a:ext cx="548640" cy="365760"/>
          </a:xfrm>
          <a:prstGeom prst="rect">
            <a:avLst/>
          </a:prstGeom>
          <a:noFill/>
          <a:ln/>
        </p:spPr>
        <p:txBody>
          <a:bodyPr wrap="square" lIns="0" tIns="0" rIns="0" bIns="0" rtlCol="0" anchor="ctr"/>
          <a:lstStyle/>
          <a:p>
            <a:pPr marL="0" indent="0" algn="r">
              <a:buNone/>
            </a:pPr>
            <a:r>
              <a:rPr lang="en-US" sz="1600" b="1" dirty="0">
                <a:solidFill>
                  <a:srgbClr val="FFFFFF">
                    <a:alpha val="50000"/>
                  </a:srgbClr>
                </a:solidFill>
                <a:latin typeface="Cambria" pitchFamily="34" charset="0"/>
                <a:ea typeface="Cambria" pitchFamily="34" charset="-122"/>
                <a:cs typeface="Cambria" pitchFamily="34" charset="-120"/>
              </a:rPr>
              <a:t>02</a:t>
            </a:r>
            <a:endParaRPr lang="en-US" sz="1600" dirty="0"/>
          </a:p>
        </p:txBody>
      </p:sp>
      <p:sp>
        <p:nvSpPr>
          <p:cNvPr id="15" name="Text 11"/>
          <p:cNvSpPr/>
          <p:nvPr/>
        </p:nvSpPr>
        <p:spPr>
          <a:xfrm>
            <a:off x="3611880" y="3886200"/>
            <a:ext cx="214884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Formulate</a:t>
            </a:r>
            <a:endParaRPr lang="en-US" sz="1500" dirty="0"/>
          </a:p>
        </p:txBody>
      </p:sp>
      <p:sp>
        <p:nvSpPr>
          <p:cNvPr id="16" name="Text 12"/>
          <p:cNvSpPr/>
          <p:nvPr/>
        </p:nvSpPr>
        <p:spPr>
          <a:xfrm>
            <a:off x="3611880" y="4297680"/>
            <a:ext cx="2148840" cy="1554480"/>
          </a:xfrm>
          <a:prstGeom prst="rect">
            <a:avLst/>
          </a:prstGeom>
          <a:noFill/>
          <a:ln/>
        </p:spPr>
        <p:txBody>
          <a:bodyPr wrap="square" lIns="0" tIns="0" rIns="0" bIns="0" rtlCol="0" anchor="ctr"/>
          <a:lstStyle/>
          <a:p>
            <a:pPr marL="0" indent="0">
              <a:lnSpc>
                <a:spcPct val="125000"/>
              </a:lnSpc>
              <a:buNone/>
            </a:pPr>
            <a:r>
              <a:rPr lang="en-US" sz="1100" dirty="0">
                <a:solidFill>
                  <a:srgbClr val="FFFFFF"/>
                </a:solidFill>
                <a:latin typeface="Calibri" pitchFamily="34" charset="0"/>
                <a:ea typeface="Calibri" pitchFamily="34" charset="-122"/>
                <a:cs typeface="Calibri" pitchFamily="34" charset="-120"/>
              </a:rPr>
              <a:t>Active compounds are extracted and blended into stable, effective formulations.</a:t>
            </a:r>
            <a:endParaRPr lang="en-US" sz="1100" dirty="0"/>
          </a:p>
        </p:txBody>
      </p:sp>
      <p:sp>
        <p:nvSpPr>
          <p:cNvPr id="17" name="Shape 13"/>
          <p:cNvSpPr/>
          <p:nvPr/>
        </p:nvSpPr>
        <p:spPr>
          <a:xfrm>
            <a:off x="6126480" y="2880360"/>
            <a:ext cx="2560320" cy="3108960"/>
          </a:xfrm>
          <a:prstGeom prst="roundRect">
            <a:avLst>
              <a:gd name="adj" fmla="val 3571"/>
            </a:avLst>
          </a:prstGeom>
          <a:solidFill>
            <a:srgbClr val="1B4332"/>
          </a:solidFill>
          <a:ln/>
          <a:effectLst>
            <a:outerShdw blurRad="127000" dist="38100" dir="5400000" algn="bl" rotWithShape="0">
              <a:srgbClr val="1B4332">
                <a:alpha val="10000"/>
              </a:srgbClr>
            </a:outerShdw>
          </a:effectLst>
        </p:spPr>
      </p:sp>
      <p:sp>
        <p:nvSpPr>
          <p:cNvPr id="18" name="Shape 14"/>
          <p:cNvSpPr/>
          <p:nvPr/>
        </p:nvSpPr>
        <p:spPr>
          <a:xfrm>
            <a:off x="6355080" y="3154680"/>
            <a:ext cx="566928" cy="566928"/>
          </a:xfrm>
          <a:prstGeom prst="ellipse">
            <a:avLst/>
          </a:prstGeom>
          <a:solidFill>
            <a:srgbClr val="FFFFFF">
              <a:alpha val="12000"/>
            </a:srgbClr>
          </a:solidFill>
          <a:ln/>
        </p:spPr>
      </p:sp>
      <p:pic>
        <p:nvPicPr>
          <p:cNvPr id="19" name="Image 2" descr="assets/icons/shield_white.png"/>
          <p:cNvPicPr>
            <a:picLocks noChangeAspect="1"/>
          </p:cNvPicPr>
          <p:nvPr/>
        </p:nvPicPr>
        <p:blipFill>
          <a:blip r:embed="rId6"/>
          <a:stretch>
            <a:fillRect/>
          </a:stretch>
        </p:blipFill>
        <p:spPr>
          <a:xfrm>
            <a:off x="6510528" y="3310128"/>
            <a:ext cx="274320" cy="274320"/>
          </a:xfrm>
          <a:prstGeom prst="rect">
            <a:avLst/>
          </a:prstGeom>
        </p:spPr>
      </p:pic>
      <p:sp>
        <p:nvSpPr>
          <p:cNvPr id="20" name="Text 15"/>
          <p:cNvSpPr/>
          <p:nvPr/>
        </p:nvSpPr>
        <p:spPr>
          <a:xfrm>
            <a:off x="8092440" y="3108960"/>
            <a:ext cx="548640" cy="365760"/>
          </a:xfrm>
          <a:prstGeom prst="rect">
            <a:avLst/>
          </a:prstGeom>
          <a:noFill/>
          <a:ln/>
        </p:spPr>
        <p:txBody>
          <a:bodyPr wrap="square" lIns="0" tIns="0" rIns="0" bIns="0" rtlCol="0" anchor="ctr"/>
          <a:lstStyle/>
          <a:p>
            <a:pPr marL="0" indent="0" algn="r">
              <a:buNone/>
            </a:pPr>
            <a:r>
              <a:rPr lang="en-US" sz="1600" b="1" dirty="0">
                <a:solidFill>
                  <a:srgbClr val="FFFFFF">
                    <a:alpha val="50000"/>
                  </a:srgbClr>
                </a:solidFill>
                <a:latin typeface="Cambria" pitchFamily="34" charset="0"/>
                <a:ea typeface="Cambria" pitchFamily="34" charset="-122"/>
                <a:cs typeface="Cambria" pitchFamily="34" charset="-120"/>
              </a:rPr>
              <a:t>03</a:t>
            </a:r>
            <a:endParaRPr lang="en-US" sz="1600" dirty="0"/>
          </a:p>
        </p:txBody>
      </p:sp>
      <p:sp>
        <p:nvSpPr>
          <p:cNvPr id="21" name="Text 16"/>
          <p:cNvSpPr/>
          <p:nvPr/>
        </p:nvSpPr>
        <p:spPr>
          <a:xfrm>
            <a:off x="6355080" y="3886200"/>
            <a:ext cx="214884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Protect</a:t>
            </a:r>
            <a:endParaRPr lang="en-US" sz="1500" dirty="0"/>
          </a:p>
        </p:txBody>
      </p:sp>
      <p:sp>
        <p:nvSpPr>
          <p:cNvPr id="22" name="Text 17"/>
          <p:cNvSpPr/>
          <p:nvPr/>
        </p:nvSpPr>
        <p:spPr>
          <a:xfrm>
            <a:off x="6355080" y="4297680"/>
            <a:ext cx="2148840" cy="1554480"/>
          </a:xfrm>
          <a:prstGeom prst="rect">
            <a:avLst/>
          </a:prstGeom>
          <a:noFill/>
          <a:ln/>
        </p:spPr>
        <p:txBody>
          <a:bodyPr wrap="square" lIns="0" tIns="0" rIns="0" bIns="0" rtlCol="0" anchor="ctr"/>
          <a:lstStyle/>
          <a:p>
            <a:pPr marL="0" indent="0">
              <a:lnSpc>
                <a:spcPct val="125000"/>
              </a:lnSpc>
              <a:buNone/>
            </a:pPr>
            <a:r>
              <a:rPr lang="en-US" sz="1100" dirty="0">
                <a:solidFill>
                  <a:srgbClr val="FFFFFF"/>
                </a:solidFill>
                <a:latin typeface="Calibri" pitchFamily="34" charset="0"/>
                <a:ea typeface="Calibri" pitchFamily="34" charset="-122"/>
                <a:cs typeface="Calibri" pitchFamily="34" charset="-120"/>
              </a:rPr>
              <a:t>Finished products deliver antibacterial, antifungal, and protective everyday benefits.</a:t>
            </a:r>
            <a:endParaRPr lang="en-US" sz="1100" dirty="0"/>
          </a:p>
        </p:txBody>
      </p:sp>
      <p:sp>
        <p:nvSpPr>
          <p:cNvPr id="23" name="Shape 18"/>
          <p:cNvSpPr/>
          <p:nvPr/>
        </p:nvSpPr>
        <p:spPr>
          <a:xfrm>
            <a:off x="8869680" y="2880360"/>
            <a:ext cx="2560320" cy="3108960"/>
          </a:xfrm>
          <a:prstGeom prst="roundRect">
            <a:avLst>
              <a:gd name="adj" fmla="val 3571"/>
            </a:avLst>
          </a:prstGeom>
          <a:solidFill>
            <a:srgbClr val="2D6A4F"/>
          </a:solidFill>
          <a:ln/>
          <a:effectLst>
            <a:outerShdw blurRad="127000" dist="38100" dir="5400000" algn="bl" rotWithShape="0">
              <a:srgbClr val="1B4332">
                <a:alpha val="10000"/>
              </a:srgbClr>
            </a:outerShdw>
          </a:effectLst>
        </p:spPr>
      </p:sp>
      <p:sp>
        <p:nvSpPr>
          <p:cNvPr id="24" name="Shape 19"/>
          <p:cNvSpPr/>
          <p:nvPr/>
        </p:nvSpPr>
        <p:spPr>
          <a:xfrm>
            <a:off x="9098280" y="3154680"/>
            <a:ext cx="566928" cy="566928"/>
          </a:xfrm>
          <a:prstGeom prst="ellipse">
            <a:avLst/>
          </a:prstGeom>
          <a:solidFill>
            <a:srgbClr val="FFFFFF">
              <a:alpha val="12000"/>
            </a:srgbClr>
          </a:solidFill>
          <a:ln/>
        </p:spPr>
      </p:sp>
      <p:pic>
        <p:nvPicPr>
          <p:cNvPr id="25" name="Image 3" descr="assets/icons/recycle_white.png"/>
          <p:cNvPicPr>
            <a:picLocks noChangeAspect="1"/>
          </p:cNvPicPr>
          <p:nvPr/>
        </p:nvPicPr>
        <p:blipFill>
          <a:blip r:embed="rId7"/>
          <a:stretch>
            <a:fillRect/>
          </a:stretch>
        </p:blipFill>
        <p:spPr>
          <a:xfrm>
            <a:off x="9253728" y="3310128"/>
            <a:ext cx="274320" cy="274320"/>
          </a:xfrm>
          <a:prstGeom prst="rect">
            <a:avLst/>
          </a:prstGeom>
        </p:spPr>
      </p:pic>
      <p:sp>
        <p:nvSpPr>
          <p:cNvPr id="26" name="Text 20"/>
          <p:cNvSpPr/>
          <p:nvPr/>
        </p:nvSpPr>
        <p:spPr>
          <a:xfrm>
            <a:off x="10835640" y="3108960"/>
            <a:ext cx="548640" cy="365760"/>
          </a:xfrm>
          <a:prstGeom prst="rect">
            <a:avLst/>
          </a:prstGeom>
          <a:noFill/>
          <a:ln/>
        </p:spPr>
        <p:txBody>
          <a:bodyPr wrap="square" lIns="0" tIns="0" rIns="0" bIns="0" rtlCol="0" anchor="ctr"/>
          <a:lstStyle/>
          <a:p>
            <a:pPr marL="0" indent="0" algn="r">
              <a:buNone/>
            </a:pPr>
            <a:r>
              <a:rPr lang="en-US" sz="1600" b="1" dirty="0">
                <a:solidFill>
                  <a:srgbClr val="FFFFFF">
                    <a:alpha val="50000"/>
                  </a:srgbClr>
                </a:solidFill>
                <a:latin typeface="Cambria" pitchFamily="34" charset="0"/>
                <a:ea typeface="Cambria" pitchFamily="34" charset="-122"/>
                <a:cs typeface="Cambria" pitchFamily="34" charset="-120"/>
              </a:rPr>
              <a:t>04</a:t>
            </a:r>
            <a:endParaRPr lang="en-US" sz="1600" dirty="0"/>
          </a:p>
        </p:txBody>
      </p:sp>
      <p:sp>
        <p:nvSpPr>
          <p:cNvPr id="27" name="Text 21"/>
          <p:cNvSpPr/>
          <p:nvPr/>
        </p:nvSpPr>
        <p:spPr>
          <a:xfrm>
            <a:off x="9098280" y="3886200"/>
            <a:ext cx="214884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Sustain</a:t>
            </a:r>
            <a:endParaRPr lang="en-US" sz="1500" dirty="0"/>
          </a:p>
        </p:txBody>
      </p:sp>
      <p:sp>
        <p:nvSpPr>
          <p:cNvPr id="28" name="Text 22"/>
          <p:cNvSpPr/>
          <p:nvPr/>
        </p:nvSpPr>
        <p:spPr>
          <a:xfrm>
            <a:off x="9098280" y="4297680"/>
            <a:ext cx="2148840" cy="1554480"/>
          </a:xfrm>
          <a:prstGeom prst="rect">
            <a:avLst/>
          </a:prstGeom>
          <a:noFill/>
          <a:ln/>
        </p:spPr>
        <p:txBody>
          <a:bodyPr wrap="square" lIns="0" tIns="0" rIns="0" bIns="0" rtlCol="0" anchor="ctr"/>
          <a:lstStyle/>
          <a:p>
            <a:pPr marL="0" indent="0">
              <a:lnSpc>
                <a:spcPct val="125000"/>
              </a:lnSpc>
              <a:buNone/>
            </a:pPr>
            <a:r>
              <a:rPr lang="en-US" sz="1100" dirty="0">
                <a:solidFill>
                  <a:srgbClr val="FFFFFF"/>
                </a:solidFill>
                <a:latin typeface="Calibri" pitchFamily="34" charset="0"/>
                <a:ea typeface="Calibri" pitchFamily="34" charset="-122"/>
                <a:cs typeface="Calibri" pitchFamily="34" charset="-120"/>
              </a:rPr>
              <a:t>Packaging and processes are designed to minimise environmental footprint.</a:t>
            </a:r>
            <a:endParaRPr lang="en-US" sz="1100" dirty="0"/>
          </a:p>
        </p:txBody>
      </p:sp>
      <p:sp>
        <p:nvSpPr>
          <p:cNvPr id="29" name="Text 23"/>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30" name="Text 24"/>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OUR PRODUCTS</a:t>
            </a:r>
            <a:endParaRPr lang="en-US" sz="1250" dirty="0"/>
          </a:p>
        </p:txBody>
      </p:sp>
      <p:sp>
        <p:nvSpPr>
          <p:cNvPr id="3" name="Text 1"/>
          <p:cNvSpPr/>
          <p:nvPr/>
        </p:nvSpPr>
        <p:spPr>
          <a:xfrm>
            <a:off x="640080" y="804672"/>
            <a:ext cx="10058400" cy="685800"/>
          </a:xfrm>
          <a:prstGeom prst="rect">
            <a:avLst/>
          </a:prstGeom>
          <a:noFill/>
          <a:ln/>
        </p:spPr>
        <p:txBody>
          <a:bodyPr wrap="square" lIns="0" tIns="0" rIns="0" bIns="0" rtlCol="0" anchor="ctr"/>
          <a:lstStyle/>
          <a:p>
            <a:pPr marL="0" indent="0">
              <a:buNone/>
            </a:pPr>
            <a:r>
              <a:rPr lang="en-US" sz="2700" b="1" dirty="0">
                <a:solidFill>
                  <a:srgbClr val="1A2B22"/>
                </a:solidFill>
                <a:latin typeface="Cambria" pitchFamily="34" charset="0"/>
                <a:ea typeface="Cambria" pitchFamily="34" charset="-122"/>
                <a:cs typeface="Cambria" pitchFamily="34" charset="-120"/>
              </a:rPr>
              <a:t>Neem-Based Personal &amp; Home Care</a:t>
            </a:r>
            <a:endParaRPr lang="en-US" sz="2700" dirty="0"/>
          </a:p>
        </p:txBody>
      </p:sp>
      <p:sp>
        <p:nvSpPr>
          <p:cNvPr id="4" name="Text 2"/>
          <p:cNvSpPr/>
          <p:nvPr/>
        </p:nvSpPr>
        <p:spPr>
          <a:xfrm>
            <a:off x="640080" y="1417320"/>
            <a:ext cx="10058400" cy="365760"/>
          </a:xfrm>
          <a:prstGeom prst="rect">
            <a:avLst/>
          </a:prstGeom>
          <a:noFill/>
          <a:ln/>
        </p:spPr>
        <p:txBody>
          <a:bodyPr wrap="square" lIns="0" tIns="0" rIns="0" bIns="0" rtlCol="0" anchor="ctr"/>
          <a:lstStyle/>
          <a:p>
            <a:pPr marL="0" indent="0">
              <a:buNone/>
            </a:pPr>
            <a:r>
              <a:rPr lang="en-US" sz="1250" i="1" dirty="0">
                <a:solidFill>
                  <a:srgbClr val="6B7A70"/>
                </a:solidFill>
                <a:latin typeface="Calibri" pitchFamily="34" charset="0"/>
                <a:ea typeface="Calibri" pitchFamily="34" charset="-122"/>
                <a:cs typeface="Calibri" pitchFamily="34" charset="-120"/>
              </a:rPr>
              <a:t>Each product is purpose-built around Neem's natural antibacterial and antifungal properties.</a:t>
            </a:r>
            <a:endParaRPr lang="en-US" sz="1250" dirty="0"/>
          </a:p>
        </p:txBody>
      </p:sp>
      <p:sp>
        <p:nvSpPr>
          <p:cNvPr id="5" name="Shape 3"/>
          <p:cNvSpPr/>
          <p:nvPr/>
        </p:nvSpPr>
        <p:spPr>
          <a:xfrm>
            <a:off x="640080" y="1965960"/>
            <a:ext cx="2121408" cy="4069080"/>
          </a:xfrm>
          <a:prstGeom prst="roundRect">
            <a:avLst>
              <a:gd name="adj" fmla="val 431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6" name="Shape 4"/>
          <p:cNvSpPr/>
          <p:nvPr/>
        </p:nvSpPr>
        <p:spPr>
          <a:xfrm>
            <a:off x="1380744" y="2240280"/>
            <a:ext cx="640080" cy="640080"/>
          </a:xfrm>
          <a:prstGeom prst="ellipse">
            <a:avLst/>
          </a:prstGeom>
          <a:solidFill>
            <a:srgbClr val="D8E8DC"/>
          </a:solidFill>
          <a:ln/>
        </p:spPr>
      </p:sp>
      <p:pic>
        <p:nvPicPr>
          <p:cNvPr id="7" name="Image 0" descr="assets/icons/pumpsoap_deep.png"/>
          <p:cNvPicPr>
            <a:picLocks noChangeAspect="1"/>
          </p:cNvPicPr>
          <p:nvPr/>
        </p:nvPicPr>
        <p:blipFill>
          <a:blip r:embed="rId4"/>
          <a:stretch>
            <a:fillRect/>
          </a:stretch>
        </p:blipFill>
        <p:spPr>
          <a:xfrm>
            <a:off x="1536192" y="2395728"/>
            <a:ext cx="329184" cy="329184"/>
          </a:xfrm>
          <a:prstGeom prst="rect">
            <a:avLst/>
          </a:prstGeom>
        </p:spPr>
      </p:pic>
      <p:sp>
        <p:nvSpPr>
          <p:cNvPr id="8" name="Text 5"/>
          <p:cNvSpPr/>
          <p:nvPr/>
        </p:nvSpPr>
        <p:spPr>
          <a:xfrm>
            <a:off x="777240" y="3044952"/>
            <a:ext cx="1847088" cy="502920"/>
          </a:xfrm>
          <a:prstGeom prst="rect">
            <a:avLst/>
          </a:prstGeom>
          <a:noFill/>
          <a:ln/>
        </p:spPr>
        <p:txBody>
          <a:bodyPr wrap="square" lIns="0" tIns="0" rIns="0" bIns="0" rtlCol="0" anchor="ctr"/>
          <a:lstStyle/>
          <a:p>
            <a:pPr marL="0" indent="0" algn="ctr">
              <a:lnSpc>
                <a:spcPct val="100000"/>
              </a:lnSpc>
              <a:buNone/>
            </a:pPr>
            <a:r>
              <a:rPr lang="en-US" sz="1350" b="1" dirty="0">
                <a:solidFill>
                  <a:srgbClr val="1A2B22"/>
                </a:solidFill>
                <a:latin typeface="Cambria" pitchFamily="34" charset="0"/>
                <a:ea typeface="Cambria" pitchFamily="34" charset="-122"/>
                <a:cs typeface="Cambria" pitchFamily="34" charset="-120"/>
              </a:rPr>
              <a:t>Neem Soap</a:t>
            </a:r>
            <a:endParaRPr lang="en-US" sz="1350" dirty="0"/>
          </a:p>
        </p:txBody>
      </p:sp>
      <p:sp>
        <p:nvSpPr>
          <p:cNvPr id="9" name="Text 6"/>
          <p:cNvSpPr/>
          <p:nvPr/>
        </p:nvSpPr>
        <p:spPr>
          <a:xfrm>
            <a:off x="804672" y="3593592"/>
            <a:ext cx="1792224" cy="1143000"/>
          </a:xfrm>
          <a:prstGeom prst="rect">
            <a:avLst/>
          </a:prstGeom>
          <a:noFill/>
          <a:ln/>
        </p:spPr>
        <p:txBody>
          <a:bodyPr wrap="square" lIns="0" tIns="0" rIns="0" bIns="0" rtlCol="0" anchor="ctr"/>
          <a:lstStyle/>
          <a:p>
            <a:pPr marL="0" indent="0" algn="ctr">
              <a:lnSpc>
                <a:spcPct val="122000"/>
              </a:lnSpc>
              <a:buNone/>
            </a:pPr>
            <a:r>
              <a:rPr lang="en-US" sz="980" dirty="0">
                <a:solidFill>
                  <a:srgbClr val="3F4A42"/>
                </a:solidFill>
                <a:latin typeface="Calibri" pitchFamily="34" charset="0"/>
                <a:ea typeface="Calibri" pitchFamily="34" charset="-122"/>
                <a:cs typeface="Calibri" pitchFamily="34" charset="-120"/>
              </a:rPr>
              <a:t>A gentle, antibacterial cleansing bar for daily skin protection.</a:t>
            </a:r>
            <a:endParaRPr lang="en-US" sz="980" dirty="0"/>
          </a:p>
        </p:txBody>
      </p:sp>
      <p:sp>
        <p:nvSpPr>
          <p:cNvPr id="10" name="Shape 7"/>
          <p:cNvSpPr/>
          <p:nvPr/>
        </p:nvSpPr>
        <p:spPr>
          <a:xfrm>
            <a:off x="914400" y="4846320"/>
            <a:ext cx="1572768" cy="0"/>
          </a:xfrm>
          <a:prstGeom prst="line">
            <a:avLst/>
          </a:prstGeom>
          <a:noFill/>
          <a:ln w="12700">
            <a:solidFill>
              <a:srgbClr val="E3E6E0"/>
            </a:solidFill>
            <a:prstDash val="solid"/>
          </a:ln>
        </p:spPr>
      </p:sp>
      <p:sp>
        <p:nvSpPr>
          <p:cNvPr id="11" name="Text 8"/>
          <p:cNvSpPr/>
          <p:nvPr/>
        </p:nvSpPr>
        <p:spPr>
          <a:xfrm>
            <a:off x="804672" y="4937760"/>
            <a:ext cx="1792224" cy="182880"/>
          </a:xfrm>
          <a:prstGeom prst="rect">
            <a:avLst/>
          </a:prstGeom>
          <a:noFill/>
          <a:ln/>
        </p:spPr>
        <p:txBody>
          <a:bodyPr wrap="square" lIns="0" tIns="0" rIns="0" bIns="0" rtlCol="0" anchor="ctr"/>
          <a:lstStyle/>
          <a:p>
            <a:pPr marL="0" indent="0" algn="ctr">
              <a:buNone/>
            </a:pPr>
            <a:r>
              <a:rPr lang="en-US" sz="750" b="1" kern="0" spc="100" dirty="0">
                <a:solidFill>
                  <a:srgbClr val="2D6A4F"/>
                </a:solidFill>
                <a:latin typeface="Calibri" pitchFamily="34" charset="0"/>
                <a:ea typeface="Calibri" pitchFamily="34" charset="-122"/>
                <a:cs typeface="Calibri" pitchFamily="34" charset="-120"/>
              </a:rPr>
              <a:t>FOR</a:t>
            </a:r>
            <a:endParaRPr lang="en-US" sz="750" dirty="0"/>
          </a:p>
        </p:txBody>
      </p:sp>
      <p:sp>
        <p:nvSpPr>
          <p:cNvPr id="12" name="Text 9"/>
          <p:cNvSpPr/>
          <p:nvPr/>
        </p:nvSpPr>
        <p:spPr>
          <a:xfrm>
            <a:off x="804672" y="5120640"/>
            <a:ext cx="1792224" cy="822960"/>
          </a:xfrm>
          <a:prstGeom prst="rect">
            <a:avLst/>
          </a:prstGeom>
          <a:noFill/>
          <a:ln/>
        </p:spPr>
        <p:txBody>
          <a:bodyPr wrap="square" lIns="0" tIns="0" rIns="0" bIns="0" rtlCol="0" anchor="ctr"/>
          <a:lstStyle/>
          <a:p>
            <a:pPr marL="0" indent="0" algn="ctr">
              <a:lnSpc>
                <a:spcPct val="120000"/>
              </a:lnSpc>
              <a:buNone/>
            </a:pPr>
            <a:r>
              <a:rPr lang="en-US" sz="900" i="1" dirty="0">
                <a:solidFill>
                  <a:srgbClr val="6B7A70"/>
                </a:solidFill>
                <a:latin typeface="Calibri" pitchFamily="34" charset="0"/>
                <a:ea typeface="Calibri" pitchFamily="34" charset="-122"/>
                <a:cs typeface="Calibri" pitchFamily="34" charset="-120"/>
              </a:rPr>
              <a:t>Households seeking chemical-free skincare</a:t>
            </a:r>
            <a:endParaRPr lang="en-US" sz="900" dirty="0"/>
          </a:p>
        </p:txBody>
      </p:sp>
      <p:sp>
        <p:nvSpPr>
          <p:cNvPr id="13" name="Shape 10"/>
          <p:cNvSpPr/>
          <p:nvPr/>
        </p:nvSpPr>
        <p:spPr>
          <a:xfrm>
            <a:off x="2926080" y="1965960"/>
            <a:ext cx="2121408" cy="4069080"/>
          </a:xfrm>
          <a:prstGeom prst="roundRect">
            <a:avLst>
              <a:gd name="adj" fmla="val 431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14" name="Shape 11"/>
          <p:cNvSpPr/>
          <p:nvPr/>
        </p:nvSpPr>
        <p:spPr>
          <a:xfrm>
            <a:off x="3666744" y="2240280"/>
            <a:ext cx="640080" cy="640080"/>
          </a:xfrm>
          <a:prstGeom prst="ellipse">
            <a:avLst/>
          </a:prstGeom>
          <a:solidFill>
            <a:srgbClr val="D8E8DC"/>
          </a:solidFill>
          <a:ln/>
        </p:spPr>
      </p:sp>
      <p:pic>
        <p:nvPicPr>
          <p:cNvPr id="15" name="Image 1" descr="assets/icons/magic_deep.png"/>
          <p:cNvPicPr>
            <a:picLocks noChangeAspect="1"/>
          </p:cNvPicPr>
          <p:nvPr/>
        </p:nvPicPr>
        <p:blipFill>
          <a:blip r:embed="rId5"/>
          <a:stretch>
            <a:fillRect/>
          </a:stretch>
        </p:blipFill>
        <p:spPr>
          <a:xfrm>
            <a:off x="3822192" y="2395728"/>
            <a:ext cx="329184" cy="329184"/>
          </a:xfrm>
          <a:prstGeom prst="rect">
            <a:avLst/>
          </a:prstGeom>
        </p:spPr>
      </p:pic>
      <p:sp>
        <p:nvSpPr>
          <p:cNvPr id="16" name="Text 12"/>
          <p:cNvSpPr/>
          <p:nvPr/>
        </p:nvSpPr>
        <p:spPr>
          <a:xfrm>
            <a:off x="3063240" y="3044952"/>
            <a:ext cx="1847088" cy="502920"/>
          </a:xfrm>
          <a:prstGeom prst="rect">
            <a:avLst/>
          </a:prstGeom>
          <a:noFill/>
          <a:ln/>
        </p:spPr>
        <p:txBody>
          <a:bodyPr wrap="square" lIns="0" tIns="0" rIns="0" bIns="0" rtlCol="0" anchor="ctr"/>
          <a:lstStyle/>
          <a:p>
            <a:pPr marL="0" indent="0" algn="ctr">
              <a:lnSpc>
                <a:spcPct val="100000"/>
              </a:lnSpc>
              <a:buNone/>
            </a:pPr>
            <a:r>
              <a:rPr lang="en-US" sz="1350" b="1" dirty="0">
                <a:solidFill>
                  <a:srgbClr val="1A2B22"/>
                </a:solidFill>
                <a:latin typeface="Cambria" pitchFamily="34" charset="0"/>
                <a:ea typeface="Cambria" pitchFamily="34" charset="-122"/>
                <a:cs typeface="Cambria" pitchFamily="34" charset="-120"/>
              </a:rPr>
              <a:t>Neem Face Mask</a:t>
            </a:r>
            <a:endParaRPr lang="en-US" sz="1350" dirty="0"/>
          </a:p>
        </p:txBody>
      </p:sp>
      <p:sp>
        <p:nvSpPr>
          <p:cNvPr id="17" name="Text 13"/>
          <p:cNvSpPr/>
          <p:nvPr/>
        </p:nvSpPr>
        <p:spPr>
          <a:xfrm>
            <a:off x="3090672" y="3593592"/>
            <a:ext cx="1792224" cy="1143000"/>
          </a:xfrm>
          <a:prstGeom prst="rect">
            <a:avLst/>
          </a:prstGeom>
          <a:noFill/>
          <a:ln/>
        </p:spPr>
        <p:txBody>
          <a:bodyPr wrap="square" lIns="0" tIns="0" rIns="0" bIns="0" rtlCol="0" anchor="ctr"/>
          <a:lstStyle/>
          <a:p>
            <a:pPr marL="0" indent="0" algn="ctr">
              <a:lnSpc>
                <a:spcPct val="122000"/>
              </a:lnSpc>
              <a:buNone/>
            </a:pPr>
            <a:r>
              <a:rPr lang="en-US" sz="980" dirty="0">
                <a:solidFill>
                  <a:srgbClr val="3F4A42"/>
                </a:solidFill>
                <a:latin typeface="Calibri" pitchFamily="34" charset="0"/>
                <a:ea typeface="Calibri" pitchFamily="34" charset="-122"/>
                <a:cs typeface="Calibri" pitchFamily="34" charset="-120"/>
              </a:rPr>
              <a:t>Neem-infused mask for deep purification and skin protection.</a:t>
            </a:r>
            <a:endParaRPr lang="en-US" sz="980" dirty="0"/>
          </a:p>
        </p:txBody>
      </p:sp>
      <p:sp>
        <p:nvSpPr>
          <p:cNvPr id="18" name="Shape 14"/>
          <p:cNvSpPr/>
          <p:nvPr/>
        </p:nvSpPr>
        <p:spPr>
          <a:xfrm>
            <a:off x="3200400" y="4846320"/>
            <a:ext cx="1572768" cy="0"/>
          </a:xfrm>
          <a:prstGeom prst="line">
            <a:avLst/>
          </a:prstGeom>
          <a:noFill/>
          <a:ln w="12700">
            <a:solidFill>
              <a:srgbClr val="E3E6E0"/>
            </a:solidFill>
            <a:prstDash val="solid"/>
          </a:ln>
        </p:spPr>
      </p:sp>
      <p:sp>
        <p:nvSpPr>
          <p:cNvPr id="19" name="Text 15"/>
          <p:cNvSpPr/>
          <p:nvPr/>
        </p:nvSpPr>
        <p:spPr>
          <a:xfrm>
            <a:off x="3090672" y="4937760"/>
            <a:ext cx="1792224" cy="182880"/>
          </a:xfrm>
          <a:prstGeom prst="rect">
            <a:avLst/>
          </a:prstGeom>
          <a:noFill/>
          <a:ln/>
        </p:spPr>
        <p:txBody>
          <a:bodyPr wrap="square" lIns="0" tIns="0" rIns="0" bIns="0" rtlCol="0" anchor="ctr"/>
          <a:lstStyle/>
          <a:p>
            <a:pPr marL="0" indent="0" algn="ctr">
              <a:buNone/>
            </a:pPr>
            <a:r>
              <a:rPr lang="en-US" sz="750" b="1" kern="0" spc="100" dirty="0">
                <a:solidFill>
                  <a:srgbClr val="2D6A4F"/>
                </a:solidFill>
                <a:latin typeface="Calibri" pitchFamily="34" charset="0"/>
                <a:ea typeface="Calibri" pitchFamily="34" charset="-122"/>
                <a:cs typeface="Calibri" pitchFamily="34" charset="-120"/>
              </a:rPr>
              <a:t>FOR</a:t>
            </a:r>
            <a:endParaRPr lang="en-US" sz="750" dirty="0"/>
          </a:p>
        </p:txBody>
      </p:sp>
      <p:sp>
        <p:nvSpPr>
          <p:cNvPr id="20" name="Text 16"/>
          <p:cNvSpPr/>
          <p:nvPr/>
        </p:nvSpPr>
        <p:spPr>
          <a:xfrm>
            <a:off x="3090672" y="5120640"/>
            <a:ext cx="1792224" cy="822960"/>
          </a:xfrm>
          <a:prstGeom prst="rect">
            <a:avLst/>
          </a:prstGeom>
          <a:noFill/>
          <a:ln/>
        </p:spPr>
        <p:txBody>
          <a:bodyPr wrap="square" lIns="0" tIns="0" rIns="0" bIns="0" rtlCol="0" anchor="ctr"/>
          <a:lstStyle/>
          <a:p>
            <a:pPr marL="0" indent="0" algn="ctr">
              <a:lnSpc>
                <a:spcPct val="120000"/>
              </a:lnSpc>
              <a:buNone/>
            </a:pPr>
            <a:r>
              <a:rPr lang="en-US" sz="900" i="1" dirty="0">
                <a:solidFill>
                  <a:srgbClr val="6B7A70"/>
                </a:solidFill>
                <a:latin typeface="Calibri" pitchFamily="34" charset="0"/>
                <a:ea typeface="Calibri" pitchFamily="34" charset="-122"/>
                <a:cs typeface="Calibri" pitchFamily="34" charset="-120"/>
              </a:rPr>
              <a:t>Skincare-conscious consumers</a:t>
            </a:r>
            <a:endParaRPr lang="en-US" sz="900" dirty="0"/>
          </a:p>
        </p:txBody>
      </p:sp>
      <p:sp>
        <p:nvSpPr>
          <p:cNvPr id="21" name="Shape 17"/>
          <p:cNvSpPr/>
          <p:nvPr/>
        </p:nvSpPr>
        <p:spPr>
          <a:xfrm>
            <a:off x="5212080" y="1965960"/>
            <a:ext cx="2121408" cy="4069080"/>
          </a:xfrm>
          <a:prstGeom prst="roundRect">
            <a:avLst>
              <a:gd name="adj" fmla="val 431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22" name="Shape 18"/>
          <p:cNvSpPr/>
          <p:nvPr/>
        </p:nvSpPr>
        <p:spPr>
          <a:xfrm>
            <a:off x="5952744" y="2240280"/>
            <a:ext cx="640080" cy="640080"/>
          </a:xfrm>
          <a:prstGeom prst="ellipse">
            <a:avLst/>
          </a:prstGeom>
          <a:solidFill>
            <a:srgbClr val="D8E8DC"/>
          </a:solidFill>
          <a:ln/>
        </p:spPr>
      </p:sp>
      <p:pic>
        <p:nvPicPr>
          <p:cNvPr id="23" name="Image 2" descr="assets/icons/sun_deep.png"/>
          <p:cNvPicPr>
            <a:picLocks noChangeAspect="1"/>
          </p:cNvPicPr>
          <p:nvPr/>
        </p:nvPicPr>
        <p:blipFill>
          <a:blip r:embed="rId6"/>
          <a:stretch>
            <a:fillRect/>
          </a:stretch>
        </p:blipFill>
        <p:spPr>
          <a:xfrm>
            <a:off x="6108192" y="2395728"/>
            <a:ext cx="329184" cy="329184"/>
          </a:xfrm>
          <a:prstGeom prst="rect">
            <a:avLst/>
          </a:prstGeom>
        </p:spPr>
      </p:pic>
      <p:sp>
        <p:nvSpPr>
          <p:cNvPr id="24" name="Text 19"/>
          <p:cNvSpPr/>
          <p:nvPr/>
        </p:nvSpPr>
        <p:spPr>
          <a:xfrm>
            <a:off x="5349240" y="3044952"/>
            <a:ext cx="1847088" cy="502920"/>
          </a:xfrm>
          <a:prstGeom prst="rect">
            <a:avLst/>
          </a:prstGeom>
          <a:noFill/>
          <a:ln/>
        </p:spPr>
        <p:txBody>
          <a:bodyPr wrap="square" lIns="0" tIns="0" rIns="0" bIns="0" rtlCol="0" anchor="ctr"/>
          <a:lstStyle/>
          <a:p>
            <a:pPr marL="0" indent="0" algn="ctr">
              <a:lnSpc>
                <a:spcPct val="100000"/>
              </a:lnSpc>
              <a:buNone/>
            </a:pPr>
            <a:r>
              <a:rPr lang="en-US" sz="1350" b="1" dirty="0">
                <a:solidFill>
                  <a:srgbClr val="1A2B22"/>
                </a:solidFill>
                <a:latin typeface="Cambria" pitchFamily="34" charset="0"/>
                <a:ea typeface="Cambria" pitchFamily="34" charset="-122"/>
                <a:cs typeface="Cambria" pitchFamily="34" charset="-120"/>
              </a:rPr>
              <a:t>Neem Hair Cream</a:t>
            </a:r>
            <a:endParaRPr lang="en-US" sz="1350" dirty="0"/>
          </a:p>
        </p:txBody>
      </p:sp>
      <p:sp>
        <p:nvSpPr>
          <p:cNvPr id="25" name="Text 20"/>
          <p:cNvSpPr/>
          <p:nvPr/>
        </p:nvSpPr>
        <p:spPr>
          <a:xfrm>
            <a:off x="5376672" y="3593592"/>
            <a:ext cx="1792224" cy="1143000"/>
          </a:xfrm>
          <a:prstGeom prst="rect">
            <a:avLst/>
          </a:prstGeom>
          <a:noFill/>
          <a:ln/>
        </p:spPr>
        <p:txBody>
          <a:bodyPr wrap="square" lIns="0" tIns="0" rIns="0" bIns="0" rtlCol="0" anchor="ctr"/>
          <a:lstStyle/>
          <a:p>
            <a:pPr marL="0" indent="0" algn="ctr">
              <a:lnSpc>
                <a:spcPct val="122000"/>
              </a:lnSpc>
              <a:buNone/>
            </a:pPr>
            <a:r>
              <a:rPr lang="en-US" sz="980" dirty="0">
                <a:solidFill>
                  <a:srgbClr val="3F4A42"/>
                </a:solidFill>
                <a:latin typeface="Calibri" pitchFamily="34" charset="0"/>
                <a:ea typeface="Calibri" pitchFamily="34" charset="-122"/>
                <a:cs typeface="Calibri" pitchFamily="34" charset="-120"/>
              </a:rPr>
              <a:t>Nourishing cream that supports rich, healthy hair growth.</a:t>
            </a:r>
            <a:endParaRPr lang="en-US" sz="980" dirty="0"/>
          </a:p>
        </p:txBody>
      </p:sp>
      <p:sp>
        <p:nvSpPr>
          <p:cNvPr id="26" name="Shape 21"/>
          <p:cNvSpPr/>
          <p:nvPr/>
        </p:nvSpPr>
        <p:spPr>
          <a:xfrm>
            <a:off x="5486400" y="4846320"/>
            <a:ext cx="1572768" cy="0"/>
          </a:xfrm>
          <a:prstGeom prst="line">
            <a:avLst/>
          </a:prstGeom>
          <a:noFill/>
          <a:ln w="12700">
            <a:solidFill>
              <a:srgbClr val="E3E6E0"/>
            </a:solidFill>
            <a:prstDash val="solid"/>
          </a:ln>
        </p:spPr>
      </p:sp>
      <p:sp>
        <p:nvSpPr>
          <p:cNvPr id="27" name="Text 22"/>
          <p:cNvSpPr/>
          <p:nvPr/>
        </p:nvSpPr>
        <p:spPr>
          <a:xfrm>
            <a:off x="5376672" y="4937760"/>
            <a:ext cx="1792224" cy="182880"/>
          </a:xfrm>
          <a:prstGeom prst="rect">
            <a:avLst/>
          </a:prstGeom>
          <a:noFill/>
          <a:ln/>
        </p:spPr>
        <p:txBody>
          <a:bodyPr wrap="square" lIns="0" tIns="0" rIns="0" bIns="0" rtlCol="0" anchor="ctr"/>
          <a:lstStyle/>
          <a:p>
            <a:pPr marL="0" indent="0" algn="ctr">
              <a:buNone/>
            </a:pPr>
            <a:r>
              <a:rPr lang="en-US" sz="750" b="1" kern="0" spc="100" dirty="0">
                <a:solidFill>
                  <a:srgbClr val="2D6A4F"/>
                </a:solidFill>
                <a:latin typeface="Calibri" pitchFamily="34" charset="0"/>
                <a:ea typeface="Calibri" pitchFamily="34" charset="-122"/>
                <a:cs typeface="Calibri" pitchFamily="34" charset="-120"/>
              </a:rPr>
              <a:t>FOR</a:t>
            </a:r>
            <a:endParaRPr lang="en-US" sz="750" dirty="0"/>
          </a:p>
        </p:txBody>
      </p:sp>
      <p:sp>
        <p:nvSpPr>
          <p:cNvPr id="28" name="Text 23"/>
          <p:cNvSpPr/>
          <p:nvPr/>
        </p:nvSpPr>
        <p:spPr>
          <a:xfrm>
            <a:off x="5376672" y="5120640"/>
            <a:ext cx="1792224" cy="822960"/>
          </a:xfrm>
          <a:prstGeom prst="rect">
            <a:avLst/>
          </a:prstGeom>
          <a:noFill/>
          <a:ln/>
        </p:spPr>
        <p:txBody>
          <a:bodyPr wrap="square" lIns="0" tIns="0" rIns="0" bIns="0" rtlCol="0" anchor="ctr"/>
          <a:lstStyle/>
          <a:p>
            <a:pPr marL="0" indent="0" algn="ctr">
              <a:lnSpc>
                <a:spcPct val="120000"/>
              </a:lnSpc>
              <a:buNone/>
            </a:pPr>
            <a:r>
              <a:rPr lang="en-US" sz="900" i="1" dirty="0">
                <a:solidFill>
                  <a:srgbClr val="6B7A70"/>
                </a:solidFill>
                <a:latin typeface="Calibri" pitchFamily="34" charset="0"/>
                <a:ea typeface="Calibri" pitchFamily="34" charset="-122"/>
                <a:cs typeface="Calibri" pitchFamily="34" charset="-120"/>
              </a:rPr>
              <a:t>Everyday hair care users</a:t>
            </a:r>
            <a:endParaRPr lang="en-US" sz="900" dirty="0"/>
          </a:p>
        </p:txBody>
      </p:sp>
      <p:sp>
        <p:nvSpPr>
          <p:cNvPr id="29" name="Shape 24"/>
          <p:cNvSpPr/>
          <p:nvPr/>
        </p:nvSpPr>
        <p:spPr>
          <a:xfrm>
            <a:off x="7498080" y="1965960"/>
            <a:ext cx="2121408" cy="4069080"/>
          </a:xfrm>
          <a:prstGeom prst="roundRect">
            <a:avLst>
              <a:gd name="adj" fmla="val 431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30" name="Shape 25"/>
          <p:cNvSpPr/>
          <p:nvPr/>
        </p:nvSpPr>
        <p:spPr>
          <a:xfrm>
            <a:off x="8238744" y="2240280"/>
            <a:ext cx="640080" cy="640080"/>
          </a:xfrm>
          <a:prstGeom prst="ellipse">
            <a:avLst/>
          </a:prstGeom>
          <a:solidFill>
            <a:srgbClr val="D8E8DC"/>
          </a:solidFill>
          <a:ln/>
        </p:spPr>
      </p:sp>
      <p:pic>
        <p:nvPicPr>
          <p:cNvPr id="31" name="Image 3" descr="assets/icons/tooth_deep.png"/>
          <p:cNvPicPr>
            <a:picLocks noChangeAspect="1"/>
          </p:cNvPicPr>
          <p:nvPr/>
        </p:nvPicPr>
        <p:blipFill>
          <a:blip r:embed="rId7"/>
          <a:stretch>
            <a:fillRect/>
          </a:stretch>
        </p:blipFill>
        <p:spPr>
          <a:xfrm>
            <a:off x="8394192" y="2395728"/>
            <a:ext cx="329184" cy="329184"/>
          </a:xfrm>
          <a:prstGeom prst="rect">
            <a:avLst/>
          </a:prstGeom>
        </p:spPr>
      </p:pic>
      <p:sp>
        <p:nvSpPr>
          <p:cNvPr id="32" name="Text 26"/>
          <p:cNvSpPr/>
          <p:nvPr/>
        </p:nvSpPr>
        <p:spPr>
          <a:xfrm>
            <a:off x="7635240" y="3044952"/>
            <a:ext cx="1847088" cy="502920"/>
          </a:xfrm>
          <a:prstGeom prst="rect">
            <a:avLst/>
          </a:prstGeom>
          <a:noFill/>
          <a:ln/>
        </p:spPr>
        <p:txBody>
          <a:bodyPr wrap="square" lIns="0" tIns="0" rIns="0" bIns="0" rtlCol="0" anchor="ctr"/>
          <a:lstStyle/>
          <a:p>
            <a:pPr marL="0" indent="0" algn="ctr">
              <a:lnSpc>
                <a:spcPct val="100000"/>
              </a:lnSpc>
              <a:buNone/>
            </a:pPr>
            <a:r>
              <a:rPr lang="en-US" sz="1350" b="1" dirty="0">
                <a:solidFill>
                  <a:srgbClr val="1A2B22"/>
                </a:solidFill>
                <a:latin typeface="Cambria" pitchFamily="34" charset="0"/>
                <a:ea typeface="Cambria" pitchFamily="34" charset="-122"/>
                <a:cs typeface="Cambria" pitchFamily="34" charset="-120"/>
              </a:rPr>
              <a:t>Neem Toothpaste</a:t>
            </a:r>
            <a:endParaRPr lang="en-US" sz="1350" dirty="0"/>
          </a:p>
        </p:txBody>
      </p:sp>
      <p:sp>
        <p:nvSpPr>
          <p:cNvPr id="33" name="Text 27"/>
          <p:cNvSpPr/>
          <p:nvPr/>
        </p:nvSpPr>
        <p:spPr>
          <a:xfrm>
            <a:off x="7662672" y="3593592"/>
            <a:ext cx="1792224" cy="1143000"/>
          </a:xfrm>
          <a:prstGeom prst="rect">
            <a:avLst/>
          </a:prstGeom>
          <a:noFill/>
          <a:ln/>
        </p:spPr>
        <p:txBody>
          <a:bodyPr wrap="square" lIns="0" tIns="0" rIns="0" bIns="0" rtlCol="0" anchor="ctr"/>
          <a:lstStyle/>
          <a:p>
            <a:pPr marL="0" indent="0" algn="ctr">
              <a:lnSpc>
                <a:spcPct val="122000"/>
              </a:lnSpc>
              <a:buNone/>
            </a:pPr>
            <a:r>
              <a:rPr lang="en-US" sz="980" dirty="0">
                <a:solidFill>
                  <a:srgbClr val="3F4A42"/>
                </a:solidFill>
                <a:latin typeface="Calibri" pitchFamily="34" charset="0"/>
                <a:ea typeface="Calibri" pitchFamily="34" charset="-122"/>
                <a:cs typeface="Calibri" pitchFamily="34" charset="-120"/>
              </a:rPr>
              <a:t>Keeps teeth healthy while fighting germs, naturally.</a:t>
            </a:r>
            <a:endParaRPr lang="en-US" sz="980" dirty="0"/>
          </a:p>
        </p:txBody>
      </p:sp>
      <p:sp>
        <p:nvSpPr>
          <p:cNvPr id="34" name="Shape 28"/>
          <p:cNvSpPr/>
          <p:nvPr/>
        </p:nvSpPr>
        <p:spPr>
          <a:xfrm>
            <a:off x="7772400" y="4846320"/>
            <a:ext cx="1572768" cy="0"/>
          </a:xfrm>
          <a:prstGeom prst="line">
            <a:avLst/>
          </a:prstGeom>
          <a:noFill/>
          <a:ln w="12700">
            <a:solidFill>
              <a:srgbClr val="E3E6E0"/>
            </a:solidFill>
            <a:prstDash val="solid"/>
          </a:ln>
        </p:spPr>
      </p:sp>
      <p:sp>
        <p:nvSpPr>
          <p:cNvPr id="35" name="Text 29"/>
          <p:cNvSpPr/>
          <p:nvPr/>
        </p:nvSpPr>
        <p:spPr>
          <a:xfrm>
            <a:off x="7662672" y="4937760"/>
            <a:ext cx="1792224" cy="182880"/>
          </a:xfrm>
          <a:prstGeom prst="rect">
            <a:avLst/>
          </a:prstGeom>
          <a:noFill/>
          <a:ln/>
        </p:spPr>
        <p:txBody>
          <a:bodyPr wrap="square" lIns="0" tIns="0" rIns="0" bIns="0" rtlCol="0" anchor="ctr"/>
          <a:lstStyle/>
          <a:p>
            <a:pPr marL="0" indent="0" algn="ctr">
              <a:buNone/>
            </a:pPr>
            <a:r>
              <a:rPr lang="en-US" sz="750" b="1" kern="0" spc="100" dirty="0">
                <a:solidFill>
                  <a:srgbClr val="2D6A4F"/>
                </a:solidFill>
                <a:latin typeface="Calibri" pitchFamily="34" charset="0"/>
                <a:ea typeface="Calibri" pitchFamily="34" charset="-122"/>
                <a:cs typeface="Calibri" pitchFamily="34" charset="-120"/>
              </a:rPr>
              <a:t>FOR</a:t>
            </a:r>
            <a:endParaRPr lang="en-US" sz="750" dirty="0"/>
          </a:p>
        </p:txBody>
      </p:sp>
      <p:sp>
        <p:nvSpPr>
          <p:cNvPr id="36" name="Text 30"/>
          <p:cNvSpPr/>
          <p:nvPr/>
        </p:nvSpPr>
        <p:spPr>
          <a:xfrm>
            <a:off x="7662672" y="5120640"/>
            <a:ext cx="1792224" cy="822960"/>
          </a:xfrm>
          <a:prstGeom prst="rect">
            <a:avLst/>
          </a:prstGeom>
          <a:noFill/>
          <a:ln/>
        </p:spPr>
        <p:txBody>
          <a:bodyPr wrap="square" lIns="0" tIns="0" rIns="0" bIns="0" rtlCol="0" anchor="ctr"/>
          <a:lstStyle/>
          <a:p>
            <a:pPr marL="0" indent="0" algn="ctr">
              <a:lnSpc>
                <a:spcPct val="120000"/>
              </a:lnSpc>
              <a:buNone/>
            </a:pPr>
            <a:r>
              <a:rPr lang="en-US" sz="900" i="1" dirty="0">
                <a:solidFill>
                  <a:srgbClr val="6B7A70"/>
                </a:solidFill>
                <a:latin typeface="Calibri" pitchFamily="34" charset="0"/>
                <a:ea typeface="Calibri" pitchFamily="34" charset="-122"/>
                <a:cs typeface="Calibri" pitchFamily="34" charset="-120"/>
              </a:rPr>
              <a:t>Families seeking natural oral care</a:t>
            </a:r>
            <a:endParaRPr lang="en-US" sz="900" dirty="0"/>
          </a:p>
        </p:txBody>
      </p:sp>
      <p:sp>
        <p:nvSpPr>
          <p:cNvPr id="37" name="Shape 31"/>
          <p:cNvSpPr/>
          <p:nvPr/>
        </p:nvSpPr>
        <p:spPr>
          <a:xfrm>
            <a:off x="9784080" y="1965960"/>
            <a:ext cx="2121408" cy="4069080"/>
          </a:xfrm>
          <a:prstGeom prst="roundRect">
            <a:avLst>
              <a:gd name="adj" fmla="val 431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38" name="Shape 32"/>
          <p:cNvSpPr/>
          <p:nvPr/>
        </p:nvSpPr>
        <p:spPr>
          <a:xfrm>
            <a:off x="10524744" y="2240280"/>
            <a:ext cx="640080" cy="640080"/>
          </a:xfrm>
          <a:prstGeom prst="ellipse">
            <a:avLst/>
          </a:prstGeom>
          <a:solidFill>
            <a:srgbClr val="D8E8DC"/>
          </a:solidFill>
          <a:ln/>
        </p:spPr>
      </p:sp>
      <p:pic>
        <p:nvPicPr>
          <p:cNvPr id="39" name="Image 4" descr="assets/icons/wind_deep.png"/>
          <p:cNvPicPr>
            <a:picLocks noChangeAspect="1"/>
          </p:cNvPicPr>
          <p:nvPr/>
        </p:nvPicPr>
        <p:blipFill>
          <a:blip r:embed="rId8"/>
          <a:stretch>
            <a:fillRect/>
          </a:stretch>
        </p:blipFill>
        <p:spPr>
          <a:xfrm>
            <a:off x="10680192" y="2395728"/>
            <a:ext cx="329184" cy="329184"/>
          </a:xfrm>
          <a:prstGeom prst="rect">
            <a:avLst/>
          </a:prstGeom>
        </p:spPr>
      </p:pic>
      <p:sp>
        <p:nvSpPr>
          <p:cNvPr id="40" name="Text 33"/>
          <p:cNvSpPr/>
          <p:nvPr/>
        </p:nvSpPr>
        <p:spPr>
          <a:xfrm>
            <a:off x="9921240" y="3044952"/>
            <a:ext cx="1847088" cy="502920"/>
          </a:xfrm>
          <a:prstGeom prst="rect">
            <a:avLst/>
          </a:prstGeom>
          <a:noFill/>
          <a:ln/>
        </p:spPr>
        <p:txBody>
          <a:bodyPr wrap="square" lIns="0" tIns="0" rIns="0" bIns="0" rtlCol="0" anchor="ctr"/>
          <a:lstStyle/>
          <a:p>
            <a:pPr marL="0" indent="0" algn="ctr">
              <a:lnSpc>
                <a:spcPct val="100000"/>
              </a:lnSpc>
              <a:buNone/>
            </a:pPr>
            <a:r>
              <a:rPr lang="en-US" sz="1350" b="1" dirty="0">
                <a:solidFill>
                  <a:srgbClr val="1A2B22"/>
                </a:solidFill>
                <a:latin typeface="Cambria" pitchFamily="34" charset="0"/>
                <a:ea typeface="Cambria" pitchFamily="34" charset="-122"/>
                <a:cs typeface="Cambria" pitchFamily="34" charset="-120"/>
              </a:rPr>
              <a:t>Neem Wipes</a:t>
            </a:r>
            <a:endParaRPr lang="en-US" sz="1350" dirty="0"/>
          </a:p>
        </p:txBody>
      </p:sp>
      <p:sp>
        <p:nvSpPr>
          <p:cNvPr id="41" name="Text 34"/>
          <p:cNvSpPr/>
          <p:nvPr/>
        </p:nvSpPr>
        <p:spPr>
          <a:xfrm>
            <a:off x="9948672" y="3593592"/>
            <a:ext cx="1792224" cy="1143000"/>
          </a:xfrm>
          <a:prstGeom prst="rect">
            <a:avLst/>
          </a:prstGeom>
          <a:noFill/>
          <a:ln/>
        </p:spPr>
        <p:txBody>
          <a:bodyPr wrap="square" lIns="0" tIns="0" rIns="0" bIns="0" rtlCol="0" anchor="ctr"/>
          <a:lstStyle/>
          <a:p>
            <a:pPr marL="0" indent="0" algn="ctr">
              <a:lnSpc>
                <a:spcPct val="122000"/>
              </a:lnSpc>
              <a:buNone/>
            </a:pPr>
            <a:r>
              <a:rPr lang="en-US" sz="980" dirty="0">
                <a:solidFill>
                  <a:srgbClr val="3F4A42"/>
                </a:solidFill>
                <a:latin typeface="Calibri" pitchFamily="34" charset="0"/>
                <a:ea typeface="Calibri" pitchFamily="34" charset="-122"/>
                <a:cs typeface="Calibri" pitchFamily="34" charset="-120"/>
              </a:rPr>
              <a:t>Antimicrobial wipes offering a safe, chemical-free alternative.</a:t>
            </a:r>
            <a:endParaRPr lang="en-US" sz="980" dirty="0"/>
          </a:p>
        </p:txBody>
      </p:sp>
      <p:sp>
        <p:nvSpPr>
          <p:cNvPr id="42" name="Shape 35"/>
          <p:cNvSpPr/>
          <p:nvPr/>
        </p:nvSpPr>
        <p:spPr>
          <a:xfrm>
            <a:off x="10058400" y="4846320"/>
            <a:ext cx="1572768" cy="0"/>
          </a:xfrm>
          <a:prstGeom prst="line">
            <a:avLst/>
          </a:prstGeom>
          <a:noFill/>
          <a:ln w="12700">
            <a:solidFill>
              <a:srgbClr val="E3E6E0"/>
            </a:solidFill>
            <a:prstDash val="solid"/>
          </a:ln>
        </p:spPr>
      </p:sp>
      <p:sp>
        <p:nvSpPr>
          <p:cNvPr id="43" name="Text 36"/>
          <p:cNvSpPr/>
          <p:nvPr/>
        </p:nvSpPr>
        <p:spPr>
          <a:xfrm>
            <a:off x="9948672" y="4937760"/>
            <a:ext cx="1792224" cy="182880"/>
          </a:xfrm>
          <a:prstGeom prst="rect">
            <a:avLst/>
          </a:prstGeom>
          <a:noFill/>
          <a:ln/>
        </p:spPr>
        <p:txBody>
          <a:bodyPr wrap="square" lIns="0" tIns="0" rIns="0" bIns="0" rtlCol="0" anchor="ctr"/>
          <a:lstStyle/>
          <a:p>
            <a:pPr marL="0" indent="0" algn="ctr">
              <a:buNone/>
            </a:pPr>
            <a:r>
              <a:rPr lang="en-US" sz="750" b="1" kern="0" spc="100" dirty="0">
                <a:solidFill>
                  <a:srgbClr val="2D6A4F"/>
                </a:solidFill>
                <a:latin typeface="Calibri" pitchFamily="34" charset="0"/>
                <a:ea typeface="Calibri" pitchFamily="34" charset="-122"/>
                <a:cs typeface="Calibri" pitchFamily="34" charset="-120"/>
              </a:rPr>
              <a:t>FOR</a:t>
            </a:r>
            <a:endParaRPr lang="en-US" sz="750" dirty="0"/>
          </a:p>
        </p:txBody>
      </p:sp>
      <p:sp>
        <p:nvSpPr>
          <p:cNvPr id="44" name="Text 37"/>
          <p:cNvSpPr/>
          <p:nvPr/>
        </p:nvSpPr>
        <p:spPr>
          <a:xfrm>
            <a:off x="9948672" y="5120640"/>
            <a:ext cx="1792224" cy="822960"/>
          </a:xfrm>
          <a:prstGeom prst="rect">
            <a:avLst/>
          </a:prstGeom>
          <a:noFill/>
          <a:ln/>
        </p:spPr>
        <p:txBody>
          <a:bodyPr wrap="square" lIns="0" tIns="0" rIns="0" bIns="0" rtlCol="0" anchor="ctr"/>
          <a:lstStyle/>
          <a:p>
            <a:pPr marL="0" indent="0" algn="ctr">
              <a:lnSpc>
                <a:spcPct val="120000"/>
              </a:lnSpc>
              <a:buNone/>
            </a:pPr>
            <a:r>
              <a:rPr lang="en-US" sz="900" i="1" dirty="0">
                <a:solidFill>
                  <a:srgbClr val="6B7A70"/>
                </a:solidFill>
                <a:latin typeface="Calibri" pitchFamily="34" charset="0"/>
                <a:ea typeface="Calibri" pitchFamily="34" charset="-122"/>
                <a:cs typeface="Calibri" pitchFamily="34" charset="-120"/>
              </a:rPr>
              <a:t>On-the-go hygiene needs</a:t>
            </a:r>
            <a:endParaRPr lang="en-US" sz="900" dirty="0"/>
          </a:p>
        </p:txBody>
      </p:sp>
      <p:sp>
        <p:nvSpPr>
          <p:cNvPr id="45" name="Text 38"/>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46" name="Text 39"/>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OUR PRODUCTS</a:t>
            </a:r>
            <a:endParaRPr lang="en-US" sz="1250" dirty="0"/>
          </a:p>
        </p:txBody>
      </p:sp>
      <p:sp>
        <p:nvSpPr>
          <p:cNvPr id="3" name="Text 1"/>
          <p:cNvSpPr/>
          <p:nvPr/>
        </p:nvSpPr>
        <p:spPr>
          <a:xfrm>
            <a:off x="640080" y="804672"/>
            <a:ext cx="10972800" cy="685800"/>
          </a:xfrm>
          <a:prstGeom prst="rect">
            <a:avLst/>
          </a:prstGeom>
          <a:noFill/>
          <a:ln/>
        </p:spPr>
        <p:txBody>
          <a:bodyPr wrap="square" lIns="0" tIns="0" rIns="0" bIns="0" rtlCol="0" anchor="ctr"/>
          <a:lstStyle/>
          <a:p>
            <a:pPr marL="0" indent="0">
              <a:buNone/>
            </a:pPr>
            <a:r>
              <a:rPr lang="en-US" sz="2500" b="1" dirty="0">
                <a:solidFill>
                  <a:srgbClr val="1A2B22"/>
                </a:solidFill>
                <a:latin typeface="Cambria" pitchFamily="34" charset="0"/>
                <a:ea typeface="Cambria" pitchFamily="34" charset="-122"/>
                <a:cs typeface="Cambria" pitchFamily="34" charset="-120"/>
              </a:rPr>
              <a:t>Neem-Based Environmental &amp; Wellness Solutions</a:t>
            </a:r>
            <a:endParaRPr lang="en-US" sz="2500" dirty="0"/>
          </a:p>
        </p:txBody>
      </p:sp>
      <p:sp>
        <p:nvSpPr>
          <p:cNvPr id="4" name="Text 2"/>
          <p:cNvSpPr/>
          <p:nvPr/>
        </p:nvSpPr>
        <p:spPr>
          <a:xfrm>
            <a:off x="640080" y="1417320"/>
            <a:ext cx="10058400" cy="365760"/>
          </a:xfrm>
          <a:prstGeom prst="rect">
            <a:avLst/>
          </a:prstGeom>
          <a:noFill/>
          <a:ln/>
        </p:spPr>
        <p:txBody>
          <a:bodyPr wrap="square" lIns="0" tIns="0" rIns="0" bIns="0" rtlCol="0" anchor="ctr"/>
          <a:lstStyle/>
          <a:p>
            <a:pPr marL="0" indent="0">
              <a:buNone/>
            </a:pPr>
            <a:r>
              <a:rPr lang="en-US" sz="1250" i="1" dirty="0">
                <a:solidFill>
                  <a:srgbClr val="6B7A70"/>
                </a:solidFill>
                <a:latin typeface="Calibri" pitchFamily="34" charset="0"/>
                <a:ea typeface="Calibri" pitchFamily="34" charset="-122"/>
                <a:cs typeface="Calibri" pitchFamily="34" charset="-120"/>
              </a:rPr>
              <a:t>Extending Neem's benefits beyond personal care  into the home and the body's natural defences.</a:t>
            </a:r>
            <a:endParaRPr lang="en-US" sz="1250" dirty="0"/>
          </a:p>
        </p:txBody>
      </p:sp>
      <p:sp>
        <p:nvSpPr>
          <p:cNvPr id="5" name="Shape 3"/>
          <p:cNvSpPr/>
          <p:nvPr/>
        </p:nvSpPr>
        <p:spPr>
          <a:xfrm>
            <a:off x="640080" y="1965960"/>
            <a:ext cx="2121408" cy="4069080"/>
          </a:xfrm>
          <a:prstGeom prst="roundRect">
            <a:avLst>
              <a:gd name="adj" fmla="val 431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6" name="Shape 4"/>
          <p:cNvSpPr/>
          <p:nvPr/>
        </p:nvSpPr>
        <p:spPr>
          <a:xfrm>
            <a:off x="1380744" y="2240280"/>
            <a:ext cx="640080" cy="640080"/>
          </a:xfrm>
          <a:prstGeom prst="ellipse">
            <a:avLst/>
          </a:prstGeom>
          <a:solidFill>
            <a:srgbClr val="D8E8DC"/>
          </a:solidFill>
          <a:ln/>
        </p:spPr>
      </p:sp>
      <p:pic>
        <p:nvPicPr>
          <p:cNvPr id="7" name="Image 0" descr="assets/icons/fan_deep.png"/>
          <p:cNvPicPr>
            <a:picLocks noChangeAspect="1"/>
          </p:cNvPicPr>
          <p:nvPr/>
        </p:nvPicPr>
        <p:blipFill>
          <a:blip r:embed="rId4"/>
          <a:stretch>
            <a:fillRect/>
          </a:stretch>
        </p:blipFill>
        <p:spPr>
          <a:xfrm>
            <a:off x="1536192" y="2395728"/>
            <a:ext cx="329184" cy="329184"/>
          </a:xfrm>
          <a:prstGeom prst="rect">
            <a:avLst/>
          </a:prstGeom>
        </p:spPr>
      </p:pic>
      <p:sp>
        <p:nvSpPr>
          <p:cNvPr id="8" name="Text 5"/>
          <p:cNvSpPr/>
          <p:nvPr/>
        </p:nvSpPr>
        <p:spPr>
          <a:xfrm>
            <a:off x="777240" y="3044952"/>
            <a:ext cx="1847088" cy="502920"/>
          </a:xfrm>
          <a:prstGeom prst="rect">
            <a:avLst/>
          </a:prstGeom>
          <a:noFill/>
          <a:ln/>
        </p:spPr>
        <p:txBody>
          <a:bodyPr wrap="square" lIns="0" tIns="0" rIns="0" bIns="0" rtlCol="0" anchor="ctr"/>
          <a:lstStyle/>
          <a:p>
            <a:pPr marL="0" indent="0" algn="ctr">
              <a:lnSpc>
                <a:spcPct val="100000"/>
              </a:lnSpc>
              <a:buNone/>
            </a:pPr>
            <a:r>
              <a:rPr lang="en-US" sz="1350" b="1" dirty="0">
                <a:solidFill>
                  <a:srgbClr val="1A2B22"/>
                </a:solidFill>
                <a:latin typeface="Cambria" pitchFamily="34" charset="0"/>
                <a:ea typeface="Cambria" pitchFamily="34" charset="-122"/>
                <a:cs typeface="Cambria" pitchFamily="34" charset="-120"/>
              </a:rPr>
              <a:t>Air Freshener</a:t>
            </a:r>
            <a:endParaRPr lang="en-US" sz="1350" dirty="0"/>
          </a:p>
        </p:txBody>
      </p:sp>
      <p:sp>
        <p:nvSpPr>
          <p:cNvPr id="9" name="Text 6"/>
          <p:cNvSpPr/>
          <p:nvPr/>
        </p:nvSpPr>
        <p:spPr>
          <a:xfrm>
            <a:off x="804672" y="3593592"/>
            <a:ext cx="1792224" cy="1143000"/>
          </a:xfrm>
          <a:prstGeom prst="rect">
            <a:avLst/>
          </a:prstGeom>
          <a:noFill/>
          <a:ln/>
        </p:spPr>
        <p:txBody>
          <a:bodyPr wrap="square" lIns="0" tIns="0" rIns="0" bIns="0" rtlCol="0" anchor="ctr"/>
          <a:lstStyle/>
          <a:p>
            <a:pPr marL="0" indent="0" algn="ctr">
              <a:lnSpc>
                <a:spcPct val="122000"/>
              </a:lnSpc>
              <a:buNone/>
            </a:pPr>
            <a:r>
              <a:rPr lang="en-US" sz="980" dirty="0">
                <a:solidFill>
                  <a:srgbClr val="3F4A42"/>
                </a:solidFill>
                <a:latin typeface="Calibri" pitchFamily="34" charset="0"/>
                <a:ea typeface="Calibri" pitchFamily="34" charset="-122"/>
                <a:cs typeface="Calibri" pitchFamily="34" charset="-120"/>
              </a:rPr>
              <a:t>Neem-based air freshener engineered for natural air purification.</a:t>
            </a:r>
            <a:endParaRPr lang="en-US" sz="980" dirty="0"/>
          </a:p>
        </p:txBody>
      </p:sp>
      <p:sp>
        <p:nvSpPr>
          <p:cNvPr id="10" name="Shape 7"/>
          <p:cNvSpPr/>
          <p:nvPr/>
        </p:nvSpPr>
        <p:spPr>
          <a:xfrm>
            <a:off x="914400" y="4846320"/>
            <a:ext cx="1572768" cy="0"/>
          </a:xfrm>
          <a:prstGeom prst="line">
            <a:avLst/>
          </a:prstGeom>
          <a:noFill/>
          <a:ln w="12700">
            <a:solidFill>
              <a:srgbClr val="E3E6E0"/>
            </a:solidFill>
            <a:prstDash val="solid"/>
          </a:ln>
        </p:spPr>
      </p:sp>
      <p:sp>
        <p:nvSpPr>
          <p:cNvPr id="11" name="Text 8"/>
          <p:cNvSpPr/>
          <p:nvPr/>
        </p:nvSpPr>
        <p:spPr>
          <a:xfrm>
            <a:off x="804672" y="4937760"/>
            <a:ext cx="1792224" cy="182880"/>
          </a:xfrm>
          <a:prstGeom prst="rect">
            <a:avLst/>
          </a:prstGeom>
          <a:noFill/>
          <a:ln/>
        </p:spPr>
        <p:txBody>
          <a:bodyPr wrap="square" lIns="0" tIns="0" rIns="0" bIns="0" rtlCol="0" anchor="ctr"/>
          <a:lstStyle/>
          <a:p>
            <a:pPr marL="0" indent="0" algn="ctr">
              <a:buNone/>
            </a:pPr>
            <a:r>
              <a:rPr lang="en-US" sz="750" b="1" kern="0" spc="100" dirty="0">
                <a:solidFill>
                  <a:srgbClr val="2D6A4F"/>
                </a:solidFill>
                <a:latin typeface="Calibri" pitchFamily="34" charset="0"/>
                <a:ea typeface="Calibri" pitchFamily="34" charset="-122"/>
                <a:cs typeface="Calibri" pitchFamily="34" charset="-120"/>
              </a:rPr>
              <a:t>FOR</a:t>
            </a:r>
            <a:endParaRPr lang="en-US" sz="750" dirty="0"/>
          </a:p>
        </p:txBody>
      </p:sp>
      <p:sp>
        <p:nvSpPr>
          <p:cNvPr id="12" name="Text 9"/>
          <p:cNvSpPr/>
          <p:nvPr/>
        </p:nvSpPr>
        <p:spPr>
          <a:xfrm>
            <a:off x="804672" y="5120640"/>
            <a:ext cx="1792224" cy="822960"/>
          </a:xfrm>
          <a:prstGeom prst="rect">
            <a:avLst/>
          </a:prstGeom>
          <a:noFill/>
          <a:ln/>
        </p:spPr>
        <p:txBody>
          <a:bodyPr wrap="square" lIns="0" tIns="0" rIns="0" bIns="0" rtlCol="0" anchor="ctr"/>
          <a:lstStyle/>
          <a:p>
            <a:pPr marL="0" indent="0" algn="ctr">
              <a:lnSpc>
                <a:spcPct val="120000"/>
              </a:lnSpc>
              <a:buNone/>
            </a:pPr>
            <a:r>
              <a:rPr lang="en-US" sz="900" i="1" dirty="0">
                <a:solidFill>
                  <a:srgbClr val="6B7A70"/>
                </a:solidFill>
                <a:latin typeface="Calibri" pitchFamily="34" charset="0"/>
                <a:ea typeface="Calibri" pitchFamily="34" charset="-122"/>
                <a:cs typeface="Calibri" pitchFamily="34" charset="-120"/>
              </a:rPr>
              <a:t>Homes and offices seeking cleaner air</a:t>
            </a:r>
            <a:endParaRPr lang="en-US" sz="900" dirty="0"/>
          </a:p>
        </p:txBody>
      </p:sp>
      <p:sp>
        <p:nvSpPr>
          <p:cNvPr id="13" name="Shape 10"/>
          <p:cNvSpPr/>
          <p:nvPr/>
        </p:nvSpPr>
        <p:spPr>
          <a:xfrm>
            <a:off x="2926080" y="1965960"/>
            <a:ext cx="2121408" cy="4069080"/>
          </a:xfrm>
          <a:prstGeom prst="roundRect">
            <a:avLst>
              <a:gd name="adj" fmla="val 431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14" name="Shape 11"/>
          <p:cNvSpPr/>
          <p:nvPr/>
        </p:nvSpPr>
        <p:spPr>
          <a:xfrm>
            <a:off x="3666744" y="2240280"/>
            <a:ext cx="640080" cy="640080"/>
          </a:xfrm>
          <a:prstGeom prst="ellipse">
            <a:avLst/>
          </a:prstGeom>
          <a:solidFill>
            <a:srgbClr val="D8E8DC"/>
          </a:solidFill>
          <a:ln/>
        </p:spPr>
      </p:sp>
      <p:pic>
        <p:nvPicPr>
          <p:cNvPr id="15" name="Image 1" descr="assets/icons/spray_deep.png"/>
          <p:cNvPicPr>
            <a:picLocks noChangeAspect="1"/>
          </p:cNvPicPr>
          <p:nvPr/>
        </p:nvPicPr>
        <p:blipFill>
          <a:blip r:embed="rId5"/>
          <a:stretch>
            <a:fillRect/>
          </a:stretch>
        </p:blipFill>
        <p:spPr>
          <a:xfrm>
            <a:off x="3822192" y="2395728"/>
            <a:ext cx="329184" cy="329184"/>
          </a:xfrm>
          <a:prstGeom prst="rect">
            <a:avLst/>
          </a:prstGeom>
        </p:spPr>
      </p:pic>
      <p:sp>
        <p:nvSpPr>
          <p:cNvPr id="16" name="Text 12"/>
          <p:cNvSpPr/>
          <p:nvPr/>
        </p:nvSpPr>
        <p:spPr>
          <a:xfrm>
            <a:off x="3063240" y="3044952"/>
            <a:ext cx="1847088" cy="502920"/>
          </a:xfrm>
          <a:prstGeom prst="rect">
            <a:avLst/>
          </a:prstGeom>
          <a:noFill/>
          <a:ln/>
        </p:spPr>
        <p:txBody>
          <a:bodyPr wrap="square" lIns="0" tIns="0" rIns="0" bIns="0" rtlCol="0" anchor="ctr"/>
          <a:lstStyle/>
          <a:p>
            <a:pPr marL="0" indent="0" algn="ctr">
              <a:lnSpc>
                <a:spcPct val="100000"/>
              </a:lnSpc>
              <a:buNone/>
            </a:pPr>
            <a:r>
              <a:rPr lang="en-US" sz="1350" b="1" dirty="0">
                <a:solidFill>
                  <a:srgbClr val="1A2B22"/>
                </a:solidFill>
                <a:latin typeface="Cambria" pitchFamily="34" charset="0"/>
                <a:ea typeface="Cambria" pitchFamily="34" charset="-122"/>
                <a:cs typeface="Cambria" pitchFamily="34" charset="-120"/>
              </a:rPr>
              <a:t>Facial Cream</a:t>
            </a:r>
            <a:endParaRPr lang="en-US" sz="1350" dirty="0"/>
          </a:p>
        </p:txBody>
      </p:sp>
      <p:sp>
        <p:nvSpPr>
          <p:cNvPr id="17" name="Text 13"/>
          <p:cNvSpPr/>
          <p:nvPr/>
        </p:nvSpPr>
        <p:spPr>
          <a:xfrm>
            <a:off x="3090672" y="3593592"/>
            <a:ext cx="1792224" cy="1143000"/>
          </a:xfrm>
          <a:prstGeom prst="rect">
            <a:avLst/>
          </a:prstGeom>
          <a:noFill/>
          <a:ln/>
        </p:spPr>
        <p:txBody>
          <a:bodyPr wrap="square" lIns="0" tIns="0" rIns="0" bIns="0" rtlCol="0" anchor="ctr"/>
          <a:lstStyle/>
          <a:p>
            <a:pPr marL="0" indent="0" algn="ctr">
              <a:lnSpc>
                <a:spcPct val="122000"/>
              </a:lnSpc>
              <a:buNone/>
            </a:pPr>
            <a:r>
              <a:rPr lang="en-US" sz="980" dirty="0">
                <a:solidFill>
                  <a:srgbClr val="3F4A42"/>
                </a:solidFill>
                <a:latin typeface="Calibri" pitchFamily="34" charset="0"/>
                <a:ea typeface="Calibri" pitchFamily="34" charset="-122"/>
                <a:cs typeface="Calibri" pitchFamily="34" charset="-120"/>
              </a:rPr>
              <a:t>Designed to fight acne, brighten complexion, and restore healthy skin.</a:t>
            </a:r>
            <a:endParaRPr lang="en-US" sz="980" dirty="0"/>
          </a:p>
        </p:txBody>
      </p:sp>
      <p:sp>
        <p:nvSpPr>
          <p:cNvPr id="18" name="Shape 14"/>
          <p:cNvSpPr/>
          <p:nvPr/>
        </p:nvSpPr>
        <p:spPr>
          <a:xfrm>
            <a:off x="3200400" y="4846320"/>
            <a:ext cx="1572768" cy="0"/>
          </a:xfrm>
          <a:prstGeom prst="line">
            <a:avLst/>
          </a:prstGeom>
          <a:noFill/>
          <a:ln w="12700">
            <a:solidFill>
              <a:srgbClr val="E3E6E0"/>
            </a:solidFill>
            <a:prstDash val="solid"/>
          </a:ln>
        </p:spPr>
      </p:sp>
      <p:sp>
        <p:nvSpPr>
          <p:cNvPr id="19" name="Text 15"/>
          <p:cNvSpPr/>
          <p:nvPr/>
        </p:nvSpPr>
        <p:spPr>
          <a:xfrm>
            <a:off x="3090672" y="4937760"/>
            <a:ext cx="1792224" cy="182880"/>
          </a:xfrm>
          <a:prstGeom prst="rect">
            <a:avLst/>
          </a:prstGeom>
          <a:noFill/>
          <a:ln/>
        </p:spPr>
        <p:txBody>
          <a:bodyPr wrap="square" lIns="0" tIns="0" rIns="0" bIns="0" rtlCol="0" anchor="ctr"/>
          <a:lstStyle/>
          <a:p>
            <a:pPr marL="0" indent="0" algn="ctr">
              <a:buNone/>
            </a:pPr>
            <a:r>
              <a:rPr lang="en-US" sz="750" b="1" kern="0" spc="100" dirty="0">
                <a:solidFill>
                  <a:srgbClr val="2D6A4F"/>
                </a:solidFill>
                <a:latin typeface="Calibri" pitchFamily="34" charset="0"/>
                <a:ea typeface="Calibri" pitchFamily="34" charset="-122"/>
                <a:cs typeface="Calibri" pitchFamily="34" charset="-120"/>
              </a:rPr>
              <a:t>FOR</a:t>
            </a:r>
            <a:endParaRPr lang="en-US" sz="750" dirty="0"/>
          </a:p>
        </p:txBody>
      </p:sp>
      <p:sp>
        <p:nvSpPr>
          <p:cNvPr id="20" name="Text 16"/>
          <p:cNvSpPr/>
          <p:nvPr/>
        </p:nvSpPr>
        <p:spPr>
          <a:xfrm>
            <a:off x="3090672" y="5120640"/>
            <a:ext cx="1792224" cy="822960"/>
          </a:xfrm>
          <a:prstGeom prst="rect">
            <a:avLst/>
          </a:prstGeom>
          <a:noFill/>
          <a:ln/>
        </p:spPr>
        <p:txBody>
          <a:bodyPr wrap="square" lIns="0" tIns="0" rIns="0" bIns="0" rtlCol="0" anchor="ctr"/>
          <a:lstStyle/>
          <a:p>
            <a:pPr marL="0" indent="0" algn="ctr">
              <a:lnSpc>
                <a:spcPct val="120000"/>
              </a:lnSpc>
              <a:buNone/>
            </a:pPr>
            <a:r>
              <a:rPr lang="en-US" sz="900" i="1" dirty="0">
                <a:solidFill>
                  <a:srgbClr val="6B7A70"/>
                </a:solidFill>
                <a:latin typeface="Calibri" pitchFamily="34" charset="0"/>
                <a:ea typeface="Calibri" pitchFamily="34" charset="-122"/>
                <a:cs typeface="Calibri" pitchFamily="34" charset="-120"/>
              </a:rPr>
              <a:t>Acne-prone and sensitive skin</a:t>
            </a:r>
            <a:endParaRPr lang="en-US" sz="900" dirty="0"/>
          </a:p>
        </p:txBody>
      </p:sp>
      <p:sp>
        <p:nvSpPr>
          <p:cNvPr id="21" name="Shape 17"/>
          <p:cNvSpPr/>
          <p:nvPr/>
        </p:nvSpPr>
        <p:spPr>
          <a:xfrm>
            <a:off x="5212080" y="1965960"/>
            <a:ext cx="2121408" cy="4069080"/>
          </a:xfrm>
          <a:prstGeom prst="roundRect">
            <a:avLst>
              <a:gd name="adj" fmla="val 431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22" name="Shape 18"/>
          <p:cNvSpPr/>
          <p:nvPr/>
        </p:nvSpPr>
        <p:spPr>
          <a:xfrm>
            <a:off x="5952744" y="2240280"/>
            <a:ext cx="640080" cy="640080"/>
          </a:xfrm>
          <a:prstGeom prst="ellipse">
            <a:avLst/>
          </a:prstGeom>
          <a:solidFill>
            <a:srgbClr val="D8E8DC"/>
          </a:solidFill>
          <a:ln/>
        </p:spPr>
      </p:sp>
      <p:pic>
        <p:nvPicPr>
          <p:cNvPr id="23" name="Image 2" descr="assets/icons/tint_deep.png"/>
          <p:cNvPicPr>
            <a:picLocks noChangeAspect="1"/>
          </p:cNvPicPr>
          <p:nvPr/>
        </p:nvPicPr>
        <p:blipFill>
          <a:blip r:embed="rId6"/>
          <a:stretch>
            <a:fillRect/>
          </a:stretch>
        </p:blipFill>
        <p:spPr>
          <a:xfrm>
            <a:off x="6108192" y="2395728"/>
            <a:ext cx="329184" cy="329184"/>
          </a:xfrm>
          <a:prstGeom prst="rect">
            <a:avLst/>
          </a:prstGeom>
        </p:spPr>
      </p:pic>
      <p:sp>
        <p:nvSpPr>
          <p:cNvPr id="24" name="Text 19"/>
          <p:cNvSpPr/>
          <p:nvPr/>
        </p:nvSpPr>
        <p:spPr>
          <a:xfrm>
            <a:off x="5349240" y="3044952"/>
            <a:ext cx="1847088" cy="502920"/>
          </a:xfrm>
          <a:prstGeom prst="rect">
            <a:avLst/>
          </a:prstGeom>
          <a:noFill/>
          <a:ln/>
        </p:spPr>
        <p:txBody>
          <a:bodyPr wrap="square" lIns="0" tIns="0" rIns="0" bIns="0" rtlCol="0" anchor="ctr"/>
          <a:lstStyle/>
          <a:p>
            <a:pPr marL="0" indent="0" algn="ctr">
              <a:lnSpc>
                <a:spcPct val="100000"/>
              </a:lnSpc>
              <a:buNone/>
            </a:pPr>
            <a:r>
              <a:rPr lang="en-US" sz="1350" b="1" dirty="0">
                <a:solidFill>
                  <a:srgbClr val="1A2B22"/>
                </a:solidFill>
                <a:latin typeface="Cambria" pitchFamily="34" charset="0"/>
                <a:ea typeface="Cambria" pitchFamily="34" charset="-122"/>
                <a:cs typeface="Cambria" pitchFamily="34" charset="-120"/>
              </a:rPr>
              <a:t>Water Guard</a:t>
            </a:r>
            <a:endParaRPr lang="en-US" sz="1350" dirty="0"/>
          </a:p>
        </p:txBody>
      </p:sp>
      <p:sp>
        <p:nvSpPr>
          <p:cNvPr id="25" name="Text 20"/>
          <p:cNvSpPr/>
          <p:nvPr/>
        </p:nvSpPr>
        <p:spPr>
          <a:xfrm>
            <a:off x="5376672" y="3593592"/>
            <a:ext cx="1792224" cy="1143000"/>
          </a:xfrm>
          <a:prstGeom prst="rect">
            <a:avLst/>
          </a:prstGeom>
          <a:noFill/>
          <a:ln/>
        </p:spPr>
        <p:txBody>
          <a:bodyPr wrap="square" lIns="0" tIns="0" rIns="0" bIns="0" rtlCol="0" anchor="ctr"/>
          <a:lstStyle/>
          <a:p>
            <a:pPr marL="0" indent="0" algn="ctr">
              <a:lnSpc>
                <a:spcPct val="122000"/>
              </a:lnSpc>
              <a:buNone/>
            </a:pPr>
            <a:r>
              <a:rPr lang="en-US" sz="980" dirty="0">
                <a:solidFill>
                  <a:srgbClr val="3F4A42"/>
                </a:solidFill>
                <a:latin typeface="Calibri" pitchFamily="34" charset="0"/>
                <a:ea typeface="Calibri" pitchFamily="34" charset="-122"/>
                <a:cs typeface="Calibri" pitchFamily="34" charset="-120"/>
              </a:rPr>
              <a:t>A low-cost, eco-friendly alternative to commercial water disinfectants.</a:t>
            </a:r>
            <a:endParaRPr lang="en-US" sz="980" dirty="0"/>
          </a:p>
        </p:txBody>
      </p:sp>
      <p:sp>
        <p:nvSpPr>
          <p:cNvPr id="26" name="Shape 21"/>
          <p:cNvSpPr/>
          <p:nvPr/>
        </p:nvSpPr>
        <p:spPr>
          <a:xfrm>
            <a:off x="5486400" y="4846320"/>
            <a:ext cx="1572768" cy="0"/>
          </a:xfrm>
          <a:prstGeom prst="line">
            <a:avLst/>
          </a:prstGeom>
          <a:noFill/>
          <a:ln w="12700">
            <a:solidFill>
              <a:srgbClr val="E3E6E0"/>
            </a:solidFill>
            <a:prstDash val="solid"/>
          </a:ln>
        </p:spPr>
      </p:sp>
      <p:sp>
        <p:nvSpPr>
          <p:cNvPr id="27" name="Text 22"/>
          <p:cNvSpPr/>
          <p:nvPr/>
        </p:nvSpPr>
        <p:spPr>
          <a:xfrm>
            <a:off x="5376672" y="4937760"/>
            <a:ext cx="1792224" cy="182880"/>
          </a:xfrm>
          <a:prstGeom prst="rect">
            <a:avLst/>
          </a:prstGeom>
          <a:noFill/>
          <a:ln/>
        </p:spPr>
        <p:txBody>
          <a:bodyPr wrap="square" lIns="0" tIns="0" rIns="0" bIns="0" rtlCol="0" anchor="ctr"/>
          <a:lstStyle/>
          <a:p>
            <a:pPr marL="0" indent="0" algn="ctr">
              <a:buNone/>
            </a:pPr>
            <a:r>
              <a:rPr lang="en-US" sz="750" b="1" kern="0" spc="100" dirty="0">
                <a:solidFill>
                  <a:srgbClr val="2D6A4F"/>
                </a:solidFill>
                <a:latin typeface="Calibri" pitchFamily="34" charset="0"/>
                <a:ea typeface="Calibri" pitchFamily="34" charset="-122"/>
                <a:cs typeface="Calibri" pitchFamily="34" charset="-120"/>
              </a:rPr>
              <a:t>FOR</a:t>
            </a:r>
            <a:endParaRPr lang="en-US" sz="750" dirty="0"/>
          </a:p>
        </p:txBody>
      </p:sp>
      <p:sp>
        <p:nvSpPr>
          <p:cNvPr id="28" name="Text 23"/>
          <p:cNvSpPr/>
          <p:nvPr/>
        </p:nvSpPr>
        <p:spPr>
          <a:xfrm>
            <a:off x="5376672" y="5120640"/>
            <a:ext cx="1792224" cy="822960"/>
          </a:xfrm>
          <a:prstGeom prst="rect">
            <a:avLst/>
          </a:prstGeom>
          <a:noFill/>
          <a:ln/>
        </p:spPr>
        <p:txBody>
          <a:bodyPr wrap="square" lIns="0" tIns="0" rIns="0" bIns="0" rtlCol="0" anchor="ctr"/>
          <a:lstStyle/>
          <a:p>
            <a:pPr marL="0" indent="0" algn="ctr">
              <a:lnSpc>
                <a:spcPct val="120000"/>
              </a:lnSpc>
              <a:buNone/>
            </a:pPr>
            <a:r>
              <a:rPr lang="en-US" sz="900" i="1" dirty="0">
                <a:solidFill>
                  <a:srgbClr val="6B7A70"/>
                </a:solidFill>
                <a:latin typeface="Calibri" pitchFamily="34" charset="0"/>
                <a:ea typeface="Calibri" pitchFamily="34" charset="-122"/>
                <a:cs typeface="Calibri" pitchFamily="34" charset="-120"/>
              </a:rPr>
              <a:t>Low-income &amp; rural communities</a:t>
            </a:r>
            <a:endParaRPr lang="en-US" sz="900" dirty="0"/>
          </a:p>
        </p:txBody>
      </p:sp>
      <p:sp>
        <p:nvSpPr>
          <p:cNvPr id="29" name="Shape 24"/>
          <p:cNvSpPr/>
          <p:nvPr/>
        </p:nvSpPr>
        <p:spPr>
          <a:xfrm>
            <a:off x="7498080" y="1965960"/>
            <a:ext cx="2121408" cy="4069080"/>
          </a:xfrm>
          <a:prstGeom prst="roundRect">
            <a:avLst>
              <a:gd name="adj" fmla="val 431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30" name="Shape 25"/>
          <p:cNvSpPr/>
          <p:nvPr/>
        </p:nvSpPr>
        <p:spPr>
          <a:xfrm>
            <a:off x="8238744" y="2240280"/>
            <a:ext cx="640080" cy="640080"/>
          </a:xfrm>
          <a:prstGeom prst="ellipse">
            <a:avLst/>
          </a:prstGeom>
          <a:solidFill>
            <a:srgbClr val="D8E8DC"/>
          </a:solidFill>
          <a:ln/>
        </p:spPr>
      </p:sp>
      <p:pic>
        <p:nvPicPr>
          <p:cNvPr id="31" name="Image 3" descr="assets/icons/heartbeat_deep.png"/>
          <p:cNvPicPr>
            <a:picLocks noChangeAspect="1"/>
          </p:cNvPicPr>
          <p:nvPr/>
        </p:nvPicPr>
        <p:blipFill>
          <a:blip r:embed="rId7"/>
          <a:stretch>
            <a:fillRect/>
          </a:stretch>
        </p:blipFill>
        <p:spPr>
          <a:xfrm>
            <a:off x="8394192" y="2395728"/>
            <a:ext cx="329184" cy="329184"/>
          </a:xfrm>
          <a:prstGeom prst="rect">
            <a:avLst/>
          </a:prstGeom>
        </p:spPr>
      </p:pic>
      <p:sp>
        <p:nvSpPr>
          <p:cNvPr id="32" name="Text 26"/>
          <p:cNvSpPr/>
          <p:nvPr/>
        </p:nvSpPr>
        <p:spPr>
          <a:xfrm>
            <a:off x="7635240" y="3044952"/>
            <a:ext cx="1847088" cy="502920"/>
          </a:xfrm>
          <a:prstGeom prst="rect">
            <a:avLst/>
          </a:prstGeom>
          <a:noFill/>
          <a:ln/>
        </p:spPr>
        <p:txBody>
          <a:bodyPr wrap="square" lIns="0" tIns="0" rIns="0" bIns="0" rtlCol="0" anchor="ctr"/>
          <a:lstStyle/>
          <a:p>
            <a:pPr marL="0" indent="0" algn="ctr">
              <a:lnSpc>
                <a:spcPct val="100000"/>
              </a:lnSpc>
              <a:buNone/>
            </a:pPr>
            <a:r>
              <a:rPr lang="en-US" sz="1350" b="1" dirty="0">
                <a:solidFill>
                  <a:srgbClr val="1A2B22"/>
                </a:solidFill>
                <a:latin typeface="Cambria" pitchFamily="34" charset="0"/>
                <a:ea typeface="Cambria" pitchFamily="34" charset="-122"/>
                <a:cs typeface="Cambria" pitchFamily="34" charset="-120"/>
              </a:rPr>
              <a:t>Herbal Tea Bag</a:t>
            </a:r>
            <a:endParaRPr lang="en-US" sz="1350" dirty="0"/>
          </a:p>
        </p:txBody>
      </p:sp>
      <p:sp>
        <p:nvSpPr>
          <p:cNvPr id="33" name="Text 27"/>
          <p:cNvSpPr/>
          <p:nvPr/>
        </p:nvSpPr>
        <p:spPr>
          <a:xfrm>
            <a:off x="7662672" y="3593592"/>
            <a:ext cx="1792224" cy="1143000"/>
          </a:xfrm>
          <a:prstGeom prst="rect">
            <a:avLst/>
          </a:prstGeom>
          <a:noFill/>
          <a:ln/>
        </p:spPr>
        <p:txBody>
          <a:bodyPr wrap="square" lIns="0" tIns="0" rIns="0" bIns="0" rtlCol="0" anchor="ctr"/>
          <a:lstStyle/>
          <a:p>
            <a:pPr marL="0" indent="0" algn="ctr">
              <a:lnSpc>
                <a:spcPct val="122000"/>
              </a:lnSpc>
              <a:buNone/>
            </a:pPr>
            <a:r>
              <a:rPr lang="en-US" sz="980" dirty="0">
                <a:solidFill>
                  <a:srgbClr val="3F4A42"/>
                </a:solidFill>
                <a:latin typeface="Calibri" pitchFamily="34" charset="0"/>
                <a:ea typeface="Calibri" pitchFamily="34" charset="-122"/>
                <a:cs typeface="Calibri" pitchFamily="34" charset="-120"/>
              </a:rPr>
              <a:t>Neem-based herbal tea supporting immunity and detoxification.</a:t>
            </a:r>
            <a:endParaRPr lang="en-US" sz="980" dirty="0"/>
          </a:p>
        </p:txBody>
      </p:sp>
      <p:sp>
        <p:nvSpPr>
          <p:cNvPr id="34" name="Shape 28"/>
          <p:cNvSpPr/>
          <p:nvPr/>
        </p:nvSpPr>
        <p:spPr>
          <a:xfrm>
            <a:off x="7772400" y="4846320"/>
            <a:ext cx="1572768" cy="0"/>
          </a:xfrm>
          <a:prstGeom prst="line">
            <a:avLst/>
          </a:prstGeom>
          <a:noFill/>
          <a:ln w="12700">
            <a:solidFill>
              <a:srgbClr val="E3E6E0"/>
            </a:solidFill>
            <a:prstDash val="solid"/>
          </a:ln>
        </p:spPr>
      </p:sp>
      <p:sp>
        <p:nvSpPr>
          <p:cNvPr id="35" name="Text 29"/>
          <p:cNvSpPr/>
          <p:nvPr/>
        </p:nvSpPr>
        <p:spPr>
          <a:xfrm>
            <a:off x="7662672" y="4937760"/>
            <a:ext cx="1792224" cy="182880"/>
          </a:xfrm>
          <a:prstGeom prst="rect">
            <a:avLst/>
          </a:prstGeom>
          <a:noFill/>
          <a:ln/>
        </p:spPr>
        <p:txBody>
          <a:bodyPr wrap="square" lIns="0" tIns="0" rIns="0" bIns="0" rtlCol="0" anchor="ctr"/>
          <a:lstStyle/>
          <a:p>
            <a:pPr marL="0" indent="0" algn="ctr">
              <a:buNone/>
            </a:pPr>
            <a:r>
              <a:rPr lang="en-US" sz="750" b="1" kern="0" spc="100" dirty="0">
                <a:solidFill>
                  <a:srgbClr val="2D6A4F"/>
                </a:solidFill>
                <a:latin typeface="Calibri" pitchFamily="34" charset="0"/>
                <a:ea typeface="Calibri" pitchFamily="34" charset="-122"/>
                <a:cs typeface="Calibri" pitchFamily="34" charset="-120"/>
              </a:rPr>
              <a:t>FOR</a:t>
            </a:r>
            <a:endParaRPr lang="en-US" sz="750" dirty="0"/>
          </a:p>
        </p:txBody>
      </p:sp>
      <p:sp>
        <p:nvSpPr>
          <p:cNvPr id="36" name="Text 30"/>
          <p:cNvSpPr/>
          <p:nvPr/>
        </p:nvSpPr>
        <p:spPr>
          <a:xfrm>
            <a:off x="7662672" y="5120640"/>
            <a:ext cx="1792224" cy="822960"/>
          </a:xfrm>
          <a:prstGeom prst="rect">
            <a:avLst/>
          </a:prstGeom>
          <a:noFill/>
          <a:ln/>
        </p:spPr>
        <p:txBody>
          <a:bodyPr wrap="square" lIns="0" tIns="0" rIns="0" bIns="0" rtlCol="0" anchor="ctr"/>
          <a:lstStyle/>
          <a:p>
            <a:pPr marL="0" indent="0" algn="ctr">
              <a:lnSpc>
                <a:spcPct val="120000"/>
              </a:lnSpc>
              <a:buNone/>
            </a:pPr>
            <a:r>
              <a:rPr lang="en-US" sz="900" i="1" dirty="0">
                <a:solidFill>
                  <a:srgbClr val="6B7A70"/>
                </a:solidFill>
                <a:latin typeface="Calibri" pitchFamily="34" charset="0"/>
                <a:ea typeface="Calibri" pitchFamily="34" charset="-122"/>
                <a:cs typeface="Calibri" pitchFamily="34" charset="-120"/>
              </a:rPr>
              <a:t>Health and wellness consumers</a:t>
            </a:r>
            <a:endParaRPr lang="en-US" sz="900" dirty="0"/>
          </a:p>
        </p:txBody>
      </p:sp>
      <p:sp>
        <p:nvSpPr>
          <p:cNvPr id="37" name="Shape 31"/>
          <p:cNvSpPr/>
          <p:nvPr/>
        </p:nvSpPr>
        <p:spPr>
          <a:xfrm>
            <a:off x="9784080" y="1965960"/>
            <a:ext cx="2121408" cy="4069080"/>
          </a:xfrm>
          <a:prstGeom prst="roundRect">
            <a:avLst>
              <a:gd name="adj" fmla="val 431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38" name="Shape 32"/>
          <p:cNvSpPr/>
          <p:nvPr/>
        </p:nvSpPr>
        <p:spPr>
          <a:xfrm>
            <a:off x="10524744" y="2240280"/>
            <a:ext cx="640080" cy="640080"/>
          </a:xfrm>
          <a:prstGeom prst="ellipse">
            <a:avLst/>
          </a:prstGeom>
          <a:solidFill>
            <a:srgbClr val="D8E8DC"/>
          </a:solidFill>
          <a:ln/>
        </p:spPr>
      </p:sp>
      <p:pic>
        <p:nvPicPr>
          <p:cNvPr id="39" name="Image 4" descr="assets/icons/flask_deep.png"/>
          <p:cNvPicPr>
            <a:picLocks noChangeAspect="1"/>
          </p:cNvPicPr>
          <p:nvPr/>
        </p:nvPicPr>
        <p:blipFill>
          <a:blip r:embed="rId8"/>
          <a:stretch>
            <a:fillRect/>
          </a:stretch>
        </p:blipFill>
        <p:spPr>
          <a:xfrm>
            <a:off x="10680192" y="2395728"/>
            <a:ext cx="329184" cy="329184"/>
          </a:xfrm>
          <a:prstGeom prst="rect">
            <a:avLst/>
          </a:prstGeom>
        </p:spPr>
      </p:pic>
      <p:sp>
        <p:nvSpPr>
          <p:cNvPr id="40" name="Text 33"/>
          <p:cNvSpPr/>
          <p:nvPr/>
        </p:nvSpPr>
        <p:spPr>
          <a:xfrm>
            <a:off x="9921240" y="3044952"/>
            <a:ext cx="1847088" cy="502920"/>
          </a:xfrm>
          <a:prstGeom prst="rect">
            <a:avLst/>
          </a:prstGeom>
          <a:noFill/>
          <a:ln/>
        </p:spPr>
        <p:txBody>
          <a:bodyPr wrap="square" lIns="0" tIns="0" rIns="0" bIns="0" rtlCol="0" anchor="ctr"/>
          <a:lstStyle/>
          <a:p>
            <a:pPr marL="0" indent="0" algn="ctr">
              <a:lnSpc>
                <a:spcPct val="100000"/>
              </a:lnSpc>
              <a:buNone/>
            </a:pPr>
            <a:r>
              <a:rPr lang="en-US" sz="1350" b="1" dirty="0">
                <a:solidFill>
                  <a:srgbClr val="1A2B22"/>
                </a:solidFill>
                <a:latin typeface="Cambria" pitchFamily="34" charset="0"/>
                <a:ea typeface="Cambria" pitchFamily="34" charset="-122"/>
                <a:cs typeface="Cambria" pitchFamily="34" charset="-120"/>
              </a:rPr>
              <a:t>Neem Oil Extract</a:t>
            </a:r>
            <a:endParaRPr lang="en-US" sz="1350" dirty="0"/>
          </a:p>
        </p:txBody>
      </p:sp>
      <p:sp>
        <p:nvSpPr>
          <p:cNvPr id="41" name="Text 34"/>
          <p:cNvSpPr/>
          <p:nvPr/>
        </p:nvSpPr>
        <p:spPr>
          <a:xfrm>
            <a:off x="9948672" y="3593592"/>
            <a:ext cx="1792224" cy="1143000"/>
          </a:xfrm>
          <a:prstGeom prst="rect">
            <a:avLst/>
          </a:prstGeom>
          <a:noFill/>
          <a:ln/>
        </p:spPr>
        <p:txBody>
          <a:bodyPr wrap="square" lIns="0" tIns="0" rIns="0" bIns="0" rtlCol="0" anchor="ctr"/>
          <a:lstStyle/>
          <a:p>
            <a:pPr marL="0" indent="0" algn="ctr">
              <a:lnSpc>
                <a:spcPct val="122000"/>
              </a:lnSpc>
              <a:buNone/>
            </a:pPr>
            <a:r>
              <a:rPr lang="en-US" sz="980" dirty="0">
                <a:solidFill>
                  <a:srgbClr val="3F4A42"/>
                </a:solidFill>
                <a:latin typeface="Calibri" pitchFamily="34" charset="0"/>
                <a:ea typeface="Calibri" pitchFamily="34" charset="-122"/>
                <a:cs typeface="Calibri" pitchFamily="34" charset="-120"/>
              </a:rPr>
              <a:t>Pure extract valued for antibacterial, antifungal &amp; anti-inflammatory action.</a:t>
            </a:r>
            <a:endParaRPr lang="en-US" sz="980" dirty="0"/>
          </a:p>
        </p:txBody>
      </p:sp>
      <p:sp>
        <p:nvSpPr>
          <p:cNvPr id="42" name="Shape 35"/>
          <p:cNvSpPr/>
          <p:nvPr/>
        </p:nvSpPr>
        <p:spPr>
          <a:xfrm>
            <a:off x="10058400" y="4846320"/>
            <a:ext cx="1572768" cy="0"/>
          </a:xfrm>
          <a:prstGeom prst="line">
            <a:avLst/>
          </a:prstGeom>
          <a:noFill/>
          <a:ln w="12700">
            <a:solidFill>
              <a:srgbClr val="E3E6E0"/>
            </a:solidFill>
            <a:prstDash val="solid"/>
          </a:ln>
        </p:spPr>
      </p:sp>
      <p:sp>
        <p:nvSpPr>
          <p:cNvPr id="43" name="Text 36"/>
          <p:cNvSpPr/>
          <p:nvPr/>
        </p:nvSpPr>
        <p:spPr>
          <a:xfrm>
            <a:off x="9948672" y="4937760"/>
            <a:ext cx="1792224" cy="182880"/>
          </a:xfrm>
          <a:prstGeom prst="rect">
            <a:avLst/>
          </a:prstGeom>
          <a:noFill/>
          <a:ln/>
        </p:spPr>
        <p:txBody>
          <a:bodyPr wrap="square" lIns="0" tIns="0" rIns="0" bIns="0" rtlCol="0" anchor="ctr"/>
          <a:lstStyle/>
          <a:p>
            <a:pPr marL="0" indent="0" algn="ctr">
              <a:buNone/>
            </a:pPr>
            <a:r>
              <a:rPr lang="en-US" sz="750" b="1" kern="0" spc="100" dirty="0">
                <a:solidFill>
                  <a:srgbClr val="2D6A4F"/>
                </a:solidFill>
                <a:latin typeface="Calibri" pitchFamily="34" charset="0"/>
                <a:ea typeface="Calibri" pitchFamily="34" charset="-122"/>
                <a:cs typeface="Calibri" pitchFamily="34" charset="-120"/>
              </a:rPr>
              <a:t>FOR</a:t>
            </a:r>
            <a:endParaRPr lang="en-US" sz="750" dirty="0"/>
          </a:p>
        </p:txBody>
      </p:sp>
      <p:sp>
        <p:nvSpPr>
          <p:cNvPr id="44" name="Text 37"/>
          <p:cNvSpPr/>
          <p:nvPr/>
        </p:nvSpPr>
        <p:spPr>
          <a:xfrm>
            <a:off x="9948672" y="5120640"/>
            <a:ext cx="1792224" cy="822960"/>
          </a:xfrm>
          <a:prstGeom prst="rect">
            <a:avLst/>
          </a:prstGeom>
          <a:noFill/>
          <a:ln/>
        </p:spPr>
        <p:txBody>
          <a:bodyPr wrap="square" lIns="0" tIns="0" rIns="0" bIns="0" rtlCol="0" anchor="ctr"/>
          <a:lstStyle/>
          <a:p>
            <a:pPr marL="0" indent="0" algn="ctr">
              <a:lnSpc>
                <a:spcPct val="120000"/>
              </a:lnSpc>
              <a:buNone/>
            </a:pPr>
            <a:r>
              <a:rPr lang="en-US" sz="900" i="1" dirty="0">
                <a:solidFill>
                  <a:srgbClr val="6B7A70"/>
                </a:solidFill>
                <a:latin typeface="Calibri" pitchFamily="34" charset="0"/>
                <a:ea typeface="Calibri" pitchFamily="34" charset="-122"/>
                <a:cs typeface="Calibri" pitchFamily="34" charset="-120"/>
              </a:rPr>
              <a:t>Households, clinics &amp; formulators</a:t>
            </a:r>
            <a:endParaRPr lang="en-US" sz="900" dirty="0"/>
          </a:p>
        </p:txBody>
      </p:sp>
      <p:sp>
        <p:nvSpPr>
          <p:cNvPr id="45" name="Text 38"/>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46" name="Text 39"/>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WHY NEEM?</a:t>
            </a:r>
            <a:endParaRPr lang="en-US" sz="1250" dirty="0"/>
          </a:p>
        </p:txBody>
      </p:sp>
      <p:sp>
        <p:nvSpPr>
          <p:cNvPr id="3" name="Text 1"/>
          <p:cNvSpPr/>
          <p:nvPr/>
        </p:nvSpPr>
        <p:spPr>
          <a:xfrm>
            <a:off x="640080" y="804672"/>
            <a:ext cx="10058400" cy="685800"/>
          </a:xfrm>
          <a:prstGeom prst="rect">
            <a:avLst/>
          </a:prstGeom>
          <a:noFill/>
          <a:ln/>
        </p:spPr>
        <p:txBody>
          <a:bodyPr wrap="square" lIns="0" tIns="0" rIns="0" bIns="0" rtlCol="0" anchor="ctr"/>
          <a:lstStyle/>
          <a:p>
            <a:pPr marL="0" indent="0">
              <a:buNone/>
            </a:pPr>
            <a:r>
              <a:rPr lang="en-US" sz="2700" b="1" dirty="0">
                <a:solidFill>
                  <a:srgbClr val="1A2B22"/>
                </a:solidFill>
                <a:latin typeface="Cambria" pitchFamily="34" charset="0"/>
                <a:ea typeface="Cambria" pitchFamily="34" charset="-122"/>
                <a:cs typeface="Cambria" pitchFamily="34" charset="-120"/>
              </a:rPr>
              <a:t>5,000 Years of Use. Modern Science Agrees.</a:t>
            </a:r>
            <a:endParaRPr lang="en-US" sz="2700" dirty="0"/>
          </a:p>
        </p:txBody>
      </p:sp>
      <p:sp>
        <p:nvSpPr>
          <p:cNvPr id="4" name="Text 2"/>
          <p:cNvSpPr/>
          <p:nvPr/>
        </p:nvSpPr>
        <p:spPr>
          <a:xfrm>
            <a:off x="640080" y="1600200"/>
            <a:ext cx="10881360" cy="868680"/>
          </a:xfrm>
          <a:prstGeom prst="rect">
            <a:avLst/>
          </a:prstGeom>
          <a:noFill/>
          <a:ln/>
        </p:spPr>
        <p:txBody>
          <a:bodyPr wrap="square" lIns="0" tIns="0" rIns="0" bIns="0" rtlCol="0" anchor="ctr"/>
          <a:lstStyle/>
          <a:p>
            <a:pPr marL="0" indent="0">
              <a:lnSpc>
                <a:spcPct val="135000"/>
              </a:lnSpc>
              <a:buNone/>
            </a:pPr>
            <a:r>
              <a:rPr lang="en-US" sz="1300" dirty="0">
                <a:solidFill>
                  <a:srgbClr val="3F4A42"/>
                </a:solidFill>
                <a:latin typeface="Calibri" pitchFamily="34" charset="0"/>
                <a:ea typeface="Calibri" pitchFamily="34" charset="-122"/>
                <a:cs typeface="Calibri" pitchFamily="34" charset="-120"/>
              </a:rPr>
              <a:t>Neem (Azadirachta indica) has been used in traditional medicine across Africa and Asia for thousands of years. Modern phytochemical research has since validated many of these traditional claims,  identifying compounds such as azadirachtin, nimbin, and nimbidin as responsible for Neem's therapeutic effects.</a:t>
            </a:r>
            <a:endParaRPr lang="en-US" sz="1300" dirty="0"/>
          </a:p>
        </p:txBody>
      </p:sp>
      <p:sp>
        <p:nvSpPr>
          <p:cNvPr id="5" name="Shape 3"/>
          <p:cNvSpPr/>
          <p:nvPr/>
        </p:nvSpPr>
        <p:spPr>
          <a:xfrm>
            <a:off x="640080" y="2697480"/>
            <a:ext cx="3520440" cy="1600200"/>
          </a:xfrm>
          <a:prstGeom prst="roundRect">
            <a:avLst>
              <a:gd name="adj" fmla="val 5714"/>
            </a:avLst>
          </a:prstGeom>
          <a:solidFill>
            <a:srgbClr val="FAF9F6"/>
          </a:solidFill>
          <a:ln w="9525">
            <a:solidFill>
              <a:srgbClr val="E3E6E0"/>
            </a:solidFill>
            <a:prstDash val="solid"/>
          </a:ln>
        </p:spPr>
      </p:sp>
      <p:sp>
        <p:nvSpPr>
          <p:cNvPr id="6" name="Shape 4"/>
          <p:cNvSpPr/>
          <p:nvPr/>
        </p:nvSpPr>
        <p:spPr>
          <a:xfrm>
            <a:off x="841248" y="2898648"/>
            <a:ext cx="457200" cy="457200"/>
          </a:xfrm>
          <a:prstGeom prst="ellipse">
            <a:avLst/>
          </a:prstGeom>
          <a:solidFill>
            <a:srgbClr val="1B4332"/>
          </a:solidFill>
          <a:ln/>
        </p:spPr>
      </p:sp>
      <p:pic>
        <p:nvPicPr>
          <p:cNvPr id="7" name="Image 0" descr="assets/icons/microscope_deep.png"/>
          <p:cNvPicPr>
            <a:picLocks noChangeAspect="1"/>
          </p:cNvPicPr>
          <p:nvPr/>
        </p:nvPicPr>
        <p:blipFill>
          <a:blip r:embed="rId4"/>
          <a:stretch>
            <a:fillRect/>
          </a:stretch>
        </p:blipFill>
        <p:spPr>
          <a:xfrm>
            <a:off x="950976" y="3008376"/>
            <a:ext cx="237744" cy="237744"/>
          </a:xfrm>
          <a:prstGeom prst="rect">
            <a:avLst/>
          </a:prstGeom>
        </p:spPr>
      </p:pic>
      <p:sp>
        <p:nvSpPr>
          <p:cNvPr id="8" name="Text 5"/>
          <p:cNvSpPr/>
          <p:nvPr/>
        </p:nvSpPr>
        <p:spPr>
          <a:xfrm>
            <a:off x="1417320" y="2880360"/>
            <a:ext cx="2606040" cy="457200"/>
          </a:xfrm>
          <a:prstGeom prst="rect">
            <a:avLst/>
          </a:prstGeom>
          <a:noFill/>
          <a:ln/>
        </p:spPr>
        <p:txBody>
          <a:bodyPr wrap="square" lIns="0" tIns="0" rIns="0" bIns="0" rtlCol="0" anchor="ctr"/>
          <a:lstStyle/>
          <a:p>
            <a:pPr marL="0" indent="0">
              <a:buNone/>
            </a:pPr>
            <a:r>
              <a:rPr lang="en-US" sz="1250" b="1" dirty="0">
                <a:solidFill>
                  <a:srgbClr val="1A2B22"/>
                </a:solidFill>
                <a:latin typeface="Cambria" pitchFamily="34" charset="0"/>
                <a:ea typeface="Cambria" pitchFamily="34" charset="-122"/>
                <a:cs typeface="Cambria" pitchFamily="34" charset="-120"/>
              </a:rPr>
              <a:t>Scientific Importance</a:t>
            </a:r>
            <a:endParaRPr lang="en-US" sz="1250" dirty="0"/>
          </a:p>
        </p:txBody>
      </p:sp>
      <p:sp>
        <p:nvSpPr>
          <p:cNvPr id="9" name="Text 6"/>
          <p:cNvSpPr/>
          <p:nvPr/>
        </p:nvSpPr>
        <p:spPr>
          <a:xfrm>
            <a:off x="841248" y="3447288"/>
            <a:ext cx="3154680" cy="777240"/>
          </a:xfrm>
          <a:prstGeom prst="rect">
            <a:avLst/>
          </a:prstGeom>
          <a:noFill/>
          <a:ln/>
        </p:spPr>
        <p:txBody>
          <a:bodyPr wrap="square" lIns="0" tIns="0" rIns="0" bIns="0" rtlCol="0" anchor="ctr"/>
          <a:lstStyle/>
          <a:p>
            <a:pPr marL="0" indent="0">
              <a:lnSpc>
                <a:spcPct val="122000"/>
              </a:lnSpc>
              <a:buNone/>
            </a:pPr>
            <a:r>
              <a:rPr lang="en-US" sz="1000" dirty="0">
                <a:solidFill>
                  <a:srgbClr val="3F4A42"/>
                </a:solidFill>
                <a:latin typeface="Calibri" pitchFamily="34" charset="0"/>
                <a:ea typeface="Calibri" pitchFamily="34" charset="-122"/>
                <a:cs typeface="Calibri" pitchFamily="34" charset="-120"/>
              </a:rPr>
              <a:t>Rich in antioxidant and bioactive compounds studied extensively in pharmacological research.</a:t>
            </a:r>
            <a:endParaRPr lang="en-US" sz="1000" dirty="0"/>
          </a:p>
        </p:txBody>
      </p:sp>
      <p:sp>
        <p:nvSpPr>
          <p:cNvPr id="10" name="Shape 7"/>
          <p:cNvSpPr/>
          <p:nvPr/>
        </p:nvSpPr>
        <p:spPr>
          <a:xfrm>
            <a:off x="4343400" y="2697480"/>
            <a:ext cx="3520440" cy="1600200"/>
          </a:xfrm>
          <a:prstGeom prst="roundRect">
            <a:avLst>
              <a:gd name="adj" fmla="val 5714"/>
            </a:avLst>
          </a:prstGeom>
          <a:solidFill>
            <a:srgbClr val="FAF9F6"/>
          </a:solidFill>
          <a:ln w="9525">
            <a:solidFill>
              <a:srgbClr val="E3E6E0"/>
            </a:solidFill>
            <a:prstDash val="solid"/>
          </a:ln>
        </p:spPr>
      </p:sp>
      <p:sp>
        <p:nvSpPr>
          <p:cNvPr id="11" name="Shape 8"/>
          <p:cNvSpPr/>
          <p:nvPr/>
        </p:nvSpPr>
        <p:spPr>
          <a:xfrm>
            <a:off x="4544568" y="2898648"/>
            <a:ext cx="457200" cy="457200"/>
          </a:xfrm>
          <a:prstGeom prst="ellipse">
            <a:avLst/>
          </a:prstGeom>
          <a:solidFill>
            <a:srgbClr val="1B4332"/>
          </a:solidFill>
          <a:ln/>
        </p:spPr>
      </p:sp>
      <p:pic>
        <p:nvPicPr>
          <p:cNvPr id="12" name="Image 1" descr="assets/icons/shield_deep.png"/>
          <p:cNvPicPr>
            <a:picLocks noChangeAspect="1"/>
          </p:cNvPicPr>
          <p:nvPr/>
        </p:nvPicPr>
        <p:blipFill>
          <a:blip r:embed="rId5"/>
          <a:stretch>
            <a:fillRect/>
          </a:stretch>
        </p:blipFill>
        <p:spPr>
          <a:xfrm>
            <a:off x="4654296" y="3008376"/>
            <a:ext cx="237744" cy="237744"/>
          </a:xfrm>
          <a:prstGeom prst="rect">
            <a:avLst/>
          </a:prstGeom>
        </p:spPr>
      </p:pic>
      <p:sp>
        <p:nvSpPr>
          <p:cNvPr id="13" name="Text 9"/>
          <p:cNvSpPr/>
          <p:nvPr/>
        </p:nvSpPr>
        <p:spPr>
          <a:xfrm>
            <a:off x="5120640" y="2880360"/>
            <a:ext cx="2606040" cy="457200"/>
          </a:xfrm>
          <a:prstGeom prst="rect">
            <a:avLst/>
          </a:prstGeom>
          <a:noFill/>
          <a:ln/>
        </p:spPr>
        <p:txBody>
          <a:bodyPr wrap="square" lIns="0" tIns="0" rIns="0" bIns="0" rtlCol="0" anchor="ctr"/>
          <a:lstStyle/>
          <a:p>
            <a:pPr marL="0" indent="0">
              <a:buNone/>
            </a:pPr>
            <a:r>
              <a:rPr lang="en-US" sz="1250" b="1" dirty="0">
                <a:solidFill>
                  <a:srgbClr val="1A2B22"/>
                </a:solidFill>
                <a:latin typeface="Cambria" pitchFamily="34" charset="0"/>
                <a:ea typeface="Cambria" pitchFamily="34" charset="-122"/>
                <a:cs typeface="Cambria" pitchFamily="34" charset="-120"/>
              </a:rPr>
              <a:t>Natural Benefits</a:t>
            </a:r>
            <a:endParaRPr lang="en-US" sz="1250" dirty="0"/>
          </a:p>
        </p:txBody>
      </p:sp>
      <p:sp>
        <p:nvSpPr>
          <p:cNvPr id="14" name="Text 10"/>
          <p:cNvSpPr/>
          <p:nvPr/>
        </p:nvSpPr>
        <p:spPr>
          <a:xfrm>
            <a:off x="4544568" y="3447288"/>
            <a:ext cx="3154680" cy="777240"/>
          </a:xfrm>
          <a:prstGeom prst="rect">
            <a:avLst/>
          </a:prstGeom>
          <a:noFill/>
          <a:ln/>
        </p:spPr>
        <p:txBody>
          <a:bodyPr wrap="square" lIns="0" tIns="0" rIns="0" bIns="0" rtlCol="0" anchor="ctr"/>
          <a:lstStyle/>
          <a:p>
            <a:pPr marL="0" indent="0">
              <a:lnSpc>
                <a:spcPct val="122000"/>
              </a:lnSpc>
              <a:buNone/>
            </a:pPr>
            <a:r>
              <a:rPr lang="en-US" sz="1000" dirty="0">
                <a:solidFill>
                  <a:srgbClr val="3F4A42"/>
                </a:solidFill>
                <a:latin typeface="Calibri" pitchFamily="34" charset="0"/>
                <a:ea typeface="Calibri" pitchFamily="34" charset="-122"/>
                <a:cs typeface="Calibri" pitchFamily="34" charset="-120"/>
              </a:rPr>
              <a:t>Documented antibacterial, antifungal, antiviral, and anti-inflammatory properties.</a:t>
            </a:r>
            <a:endParaRPr lang="en-US" sz="1000" dirty="0"/>
          </a:p>
        </p:txBody>
      </p:sp>
      <p:sp>
        <p:nvSpPr>
          <p:cNvPr id="15" name="Shape 11"/>
          <p:cNvSpPr/>
          <p:nvPr/>
        </p:nvSpPr>
        <p:spPr>
          <a:xfrm>
            <a:off x="8046720" y="2697480"/>
            <a:ext cx="3520440" cy="1600200"/>
          </a:xfrm>
          <a:prstGeom prst="roundRect">
            <a:avLst>
              <a:gd name="adj" fmla="val 5714"/>
            </a:avLst>
          </a:prstGeom>
          <a:solidFill>
            <a:srgbClr val="FAF9F6"/>
          </a:solidFill>
          <a:ln w="9525">
            <a:solidFill>
              <a:srgbClr val="E3E6E0"/>
            </a:solidFill>
            <a:prstDash val="solid"/>
          </a:ln>
        </p:spPr>
      </p:sp>
      <p:sp>
        <p:nvSpPr>
          <p:cNvPr id="16" name="Shape 12"/>
          <p:cNvSpPr/>
          <p:nvPr/>
        </p:nvSpPr>
        <p:spPr>
          <a:xfrm>
            <a:off x="8247888" y="2898648"/>
            <a:ext cx="457200" cy="457200"/>
          </a:xfrm>
          <a:prstGeom prst="ellipse">
            <a:avLst/>
          </a:prstGeom>
          <a:solidFill>
            <a:srgbClr val="1B4332"/>
          </a:solidFill>
          <a:ln/>
        </p:spPr>
      </p:sp>
      <p:pic>
        <p:nvPicPr>
          <p:cNvPr id="17" name="Image 2" descr="assets/icons/globe_deep.png"/>
          <p:cNvPicPr>
            <a:picLocks noChangeAspect="1"/>
          </p:cNvPicPr>
          <p:nvPr/>
        </p:nvPicPr>
        <p:blipFill>
          <a:blip r:embed="rId6"/>
          <a:stretch>
            <a:fillRect/>
          </a:stretch>
        </p:blipFill>
        <p:spPr>
          <a:xfrm>
            <a:off x="8357616" y="3008376"/>
            <a:ext cx="237744" cy="237744"/>
          </a:xfrm>
          <a:prstGeom prst="rect">
            <a:avLst/>
          </a:prstGeom>
        </p:spPr>
      </p:pic>
      <p:sp>
        <p:nvSpPr>
          <p:cNvPr id="18" name="Text 13"/>
          <p:cNvSpPr/>
          <p:nvPr/>
        </p:nvSpPr>
        <p:spPr>
          <a:xfrm>
            <a:off x="8823960" y="2880360"/>
            <a:ext cx="2606040" cy="457200"/>
          </a:xfrm>
          <a:prstGeom prst="rect">
            <a:avLst/>
          </a:prstGeom>
          <a:noFill/>
          <a:ln/>
        </p:spPr>
        <p:txBody>
          <a:bodyPr wrap="square" lIns="0" tIns="0" rIns="0" bIns="0" rtlCol="0" anchor="ctr"/>
          <a:lstStyle/>
          <a:p>
            <a:pPr marL="0" indent="0">
              <a:buNone/>
            </a:pPr>
            <a:r>
              <a:rPr lang="en-US" sz="1250" b="1" dirty="0">
                <a:solidFill>
                  <a:srgbClr val="1A2B22"/>
                </a:solidFill>
                <a:latin typeface="Cambria" pitchFamily="34" charset="0"/>
                <a:ea typeface="Cambria" pitchFamily="34" charset="-122"/>
                <a:cs typeface="Cambria" pitchFamily="34" charset="-120"/>
              </a:rPr>
              <a:t>Environmental Benefits</a:t>
            </a:r>
            <a:endParaRPr lang="en-US" sz="1250" dirty="0"/>
          </a:p>
        </p:txBody>
      </p:sp>
      <p:sp>
        <p:nvSpPr>
          <p:cNvPr id="19" name="Text 14"/>
          <p:cNvSpPr/>
          <p:nvPr/>
        </p:nvSpPr>
        <p:spPr>
          <a:xfrm>
            <a:off x="8247888" y="3447288"/>
            <a:ext cx="3154680" cy="777240"/>
          </a:xfrm>
          <a:prstGeom prst="rect">
            <a:avLst/>
          </a:prstGeom>
          <a:noFill/>
          <a:ln/>
        </p:spPr>
        <p:txBody>
          <a:bodyPr wrap="square" lIns="0" tIns="0" rIns="0" bIns="0" rtlCol="0" anchor="ctr"/>
          <a:lstStyle/>
          <a:p>
            <a:pPr marL="0" indent="0">
              <a:lnSpc>
                <a:spcPct val="122000"/>
              </a:lnSpc>
              <a:buNone/>
            </a:pPr>
            <a:r>
              <a:rPr lang="en-US" sz="1000" dirty="0">
                <a:solidFill>
                  <a:srgbClr val="3F4A42"/>
                </a:solidFill>
                <a:latin typeface="Calibri" pitchFamily="34" charset="0"/>
                <a:ea typeface="Calibri" pitchFamily="34" charset="-122"/>
                <a:cs typeface="Calibri" pitchFamily="34" charset="-120"/>
              </a:rPr>
              <a:t>A hardy, fast-growing tree that requires minimal water and improves soil health.</a:t>
            </a:r>
            <a:endParaRPr lang="en-US" sz="1000" dirty="0"/>
          </a:p>
        </p:txBody>
      </p:sp>
      <p:sp>
        <p:nvSpPr>
          <p:cNvPr id="20" name="Shape 15"/>
          <p:cNvSpPr/>
          <p:nvPr/>
        </p:nvSpPr>
        <p:spPr>
          <a:xfrm>
            <a:off x="640080" y="4480560"/>
            <a:ext cx="3520440" cy="1600200"/>
          </a:xfrm>
          <a:prstGeom prst="roundRect">
            <a:avLst>
              <a:gd name="adj" fmla="val 5714"/>
            </a:avLst>
          </a:prstGeom>
          <a:solidFill>
            <a:srgbClr val="FAF9F6"/>
          </a:solidFill>
          <a:ln w="9525">
            <a:solidFill>
              <a:srgbClr val="E3E6E0"/>
            </a:solidFill>
            <a:prstDash val="solid"/>
          </a:ln>
        </p:spPr>
      </p:sp>
      <p:sp>
        <p:nvSpPr>
          <p:cNvPr id="21" name="Shape 16"/>
          <p:cNvSpPr/>
          <p:nvPr/>
        </p:nvSpPr>
        <p:spPr>
          <a:xfrm>
            <a:off x="841248" y="4681728"/>
            <a:ext cx="457200" cy="457200"/>
          </a:xfrm>
          <a:prstGeom prst="ellipse">
            <a:avLst/>
          </a:prstGeom>
          <a:solidFill>
            <a:srgbClr val="1B4332"/>
          </a:solidFill>
          <a:ln/>
        </p:spPr>
      </p:sp>
      <p:pic>
        <p:nvPicPr>
          <p:cNvPr id="22" name="Image 3" descr="assets/icons/heartbeat_deep.png"/>
          <p:cNvPicPr>
            <a:picLocks noChangeAspect="1"/>
          </p:cNvPicPr>
          <p:nvPr/>
        </p:nvPicPr>
        <p:blipFill>
          <a:blip r:embed="rId7"/>
          <a:stretch>
            <a:fillRect/>
          </a:stretch>
        </p:blipFill>
        <p:spPr>
          <a:xfrm>
            <a:off x="950976" y="4791456"/>
            <a:ext cx="237744" cy="237744"/>
          </a:xfrm>
          <a:prstGeom prst="rect">
            <a:avLst/>
          </a:prstGeom>
        </p:spPr>
      </p:pic>
      <p:sp>
        <p:nvSpPr>
          <p:cNvPr id="23" name="Text 17"/>
          <p:cNvSpPr/>
          <p:nvPr/>
        </p:nvSpPr>
        <p:spPr>
          <a:xfrm>
            <a:off x="1417320" y="4663440"/>
            <a:ext cx="2606040" cy="457200"/>
          </a:xfrm>
          <a:prstGeom prst="rect">
            <a:avLst/>
          </a:prstGeom>
          <a:noFill/>
          <a:ln/>
        </p:spPr>
        <p:txBody>
          <a:bodyPr wrap="square" lIns="0" tIns="0" rIns="0" bIns="0" rtlCol="0" anchor="ctr"/>
          <a:lstStyle/>
          <a:p>
            <a:pPr marL="0" indent="0">
              <a:buNone/>
            </a:pPr>
            <a:r>
              <a:rPr lang="en-US" sz="1250" b="1" dirty="0">
                <a:solidFill>
                  <a:srgbClr val="1A2B22"/>
                </a:solidFill>
                <a:latin typeface="Cambria" pitchFamily="34" charset="0"/>
                <a:ea typeface="Cambria" pitchFamily="34" charset="-122"/>
                <a:cs typeface="Cambria" pitchFamily="34" charset="-120"/>
              </a:rPr>
              <a:t>Health Benefits</a:t>
            </a:r>
            <a:endParaRPr lang="en-US" sz="1250" dirty="0"/>
          </a:p>
        </p:txBody>
      </p:sp>
      <p:sp>
        <p:nvSpPr>
          <p:cNvPr id="24" name="Text 18"/>
          <p:cNvSpPr/>
          <p:nvPr/>
        </p:nvSpPr>
        <p:spPr>
          <a:xfrm>
            <a:off x="841248" y="5230368"/>
            <a:ext cx="3154680" cy="777240"/>
          </a:xfrm>
          <a:prstGeom prst="rect">
            <a:avLst/>
          </a:prstGeom>
          <a:noFill/>
          <a:ln/>
        </p:spPr>
        <p:txBody>
          <a:bodyPr wrap="square" lIns="0" tIns="0" rIns="0" bIns="0" rtlCol="0" anchor="ctr"/>
          <a:lstStyle/>
          <a:p>
            <a:pPr marL="0" indent="0">
              <a:lnSpc>
                <a:spcPct val="122000"/>
              </a:lnSpc>
              <a:buNone/>
            </a:pPr>
            <a:r>
              <a:rPr lang="en-US" sz="1000" dirty="0">
                <a:solidFill>
                  <a:srgbClr val="3F4A42"/>
                </a:solidFill>
                <a:latin typeface="Calibri" pitchFamily="34" charset="0"/>
                <a:ea typeface="Calibri" pitchFamily="34" charset="-122"/>
                <a:cs typeface="Calibri" pitchFamily="34" charset="-120"/>
              </a:rPr>
              <a:t>Supports skin, oral, immune, and respiratory health through natural compounds.</a:t>
            </a:r>
            <a:endParaRPr lang="en-US" sz="1000" dirty="0"/>
          </a:p>
        </p:txBody>
      </p:sp>
      <p:sp>
        <p:nvSpPr>
          <p:cNvPr id="25" name="Shape 19"/>
          <p:cNvSpPr/>
          <p:nvPr/>
        </p:nvSpPr>
        <p:spPr>
          <a:xfrm>
            <a:off x="4343400" y="4480560"/>
            <a:ext cx="3520440" cy="1600200"/>
          </a:xfrm>
          <a:prstGeom prst="roundRect">
            <a:avLst>
              <a:gd name="adj" fmla="val 5714"/>
            </a:avLst>
          </a:prstGeom>
          <a:solidFill>
            <a:srgbClr val="FAF9F6"/>
          </a:solidFill>
          <a:ln w="9525">
            <a:solidFill>
              <a:srgbClr val="E3E6E0"/>
            </a:solidFill>
            <a:prstDash val="solid"/>
          </a:ln>
        </p:spPr>
      </p:sp>
      <p:sp>
        <p:nvSpPr>
          <p:cNvPr id="26" name="Shape 20"/>
          <p:cNvSpPr/>
          <p:nvPr/>
        </p:nvSpPr>
        <p:spPr>
          <a:xfrm>
            <a:off x="4544568" y="4681728"/>
            <a:ext cx="457200" cy="457200"/>
          </a:xfrm>
          <a:prstGeom prst="ellipse">
            <a:avLst/>
          </a:prstGeom>
          <a:solidFill>
            <a:srgbClr val="1B4332"/>
          </a:solidFill>
          <a:ln/>
        </p:spPr>
      </p:sp>
      <p:pic>
        <p:nvPicPr>
          <p:cNvPr id="27" name="Image 4" descr="assets/icons/tree_green.png"/>
          <p:cNvPicPr>
            <a:picLocks noChangeAspect="1"/>
          </p:cNvPicPr>
          <p:nvPr/>
        </p:nvPicPr>
        <p:blipFill>
          <a:blip r:embed="rId8"/>
          <a:stretch>
            <a:fillRect/>
          </a:stretch>
        </p:blipFill>
        <p:spPr>
          <a:xfrm>
            <a:off x="4654296" y="4791456"/>
            <a:ext cx="237744" cy="237744"/>
          </a:xfrm>
          <a:prstGeom prst="rect">
            <a:avLst/>
          </a:prstGeom>
        </p:spPr>
      </p:pic>
      <p:sp>
        <p:nvSpPr>
          <p:cNvPr id="28" name="Text 21"/>
          <p:cNvSpPr/>
          <p:nvPr/>
        </p:nvSpPr>
        <p:spPr>
          <a:xfrm>
            <a:off x="5120640" y="4663440"/>
            <a:ext cx="2606040" cy="457200"/>
          </a:xfrm>
          <a:prstGeom prst="rect">
            <a:avLst/>
          </a:prstGeom>
          <a:noFill/>
          <a:ln/>
        </p:spPr>
        <p:txBody>
          <a:bodyPr wrap="square" lIns="0" tIns="0" rIns="0" bIns="0" rtlCol="0" anchor="ctr"/>
          <a:lstStyle/>
          <a:p>
            <a:pPr marL="0" indent="0">
              <a:buNone/>
            </a:pPr>
            <a:r>
              <a:rPr lang="en-US" sz="1250" b="1" dirty="0">
                <a:solidFill>
                  <a:srgbClr val="1A2B22"/>
                </a:solidFill>
                <a:latin typeface="Cambria" pitchFamily="34" charset="0"/>
                <a:ea typeface="Cambria" pitchFamily="34" charset="-122"/>
                <a:cs typeface="Cambria" pitchFamily="34" charset="-120"/>
              </a:rPr>
              <a:t>Traditional Relevance</a:t>
            </a:r>
            <a:endParaRPr lang="en-US" sz="1250" dirty="0"/>
          </a:p>
        </p:txBody>
      </p:sp>
      <p:sp>
        <p:nvSpPr>
          <p:cNvPr id="29" name="Text 22"/>
          <p:cNvSpPr/>
          <p:nvPr/>
        </p:nvSpPr>
        <p:spPr>
          <a:xfrm>
            <a:off x="4544568" y="5230368"/>
            <a:ext cx="3154680" cy="777240"/>
          </a:xfrm>
          <a:prstGeom prst="rect">
            <a:avLst/>
          </a:prstGeom>
          <a:noFill/>
          <a:ln/>
        </p:spPr>
        <p:txBody>
          <a:bodyPr wrap="square" lIns="0" tIns="0" rIns="0" bIns="0" rtlCol="0" anchor="ctr"/>
          <a:lstStyle/>
          <a:p>
            <a:pPr marL="0" indent="0">
              <a:lnSpc>
                <a:spcPct val="122000"/>
              </a:lnSpc>
              <a:buNone/>
            </a:pPr>
            <a:r>
              <a:rPr lang="en-US" sz="1000" dirty="0">
                <a:solidFill>
                  <a:srgbClr val="3F4A42"/>
                </a:solidFill>
                <a:latin typeface="Calibri" pitchFamily="34" charset="0"/>
                <a:ea typeface="Calibri" pitchFamily="34" charset="-122"/>
                <a:cs typeface="Calibri" pitchFamily="34" charset="-120"/>
              </a:rPr>
              <a:t>A trusted remedy in African and Asian households for generations.</a:t>
            </a:r>
            <a:endParaRPr lang="en-US" sz="1000" dirty="0"/>
          </a:p>
        </p:txBody>
      </p:sp>
      <p:sp>
        <p:nvSpPr>
          <p:cNvPr id="30" name="Shape 23"/>
          <p:cNvSpPr/>
          <p:nvPr/>
        </p:nvSpPr>
        <p:spPr>
          <a:xfrm>
            <a:off x="8046720" y="4480560"/>
            <a:ext cx="3520440" cy="1600200"/>
          </a:xfrm>
          <a:prstGeom prst="roundRect">
            <a:avLst>
              <a:gd name="adj" fmla="val 5714"/>
            </a:avLst>
          </a:prstGeom>
          <a:solidFill>
            <a:srgbClr val="FAF9F6"/>
          </a:solidFill>
          <a:ln w="9525">
            <a:solidFill>
              <a:srgbClr val="E3E6E0"/>
            </a:solidFill>
            <a:prstDash val="solid"/>
          </a:ln>
        </p:spPr>
      </p:sp>
      <p:sp>
        <p:nvSpPr>
          <p:cNvPr id="31" name="Shape 24"/>
          <p:cNvSpPr/>
          <p:nvPr/>
        </p:nvSpPr>
        <p:spPr>
          <a:xfrm>
            <a:off x="8247888" y="4681728"/>
            <a:ext cx="457200" cy="457200"/>
          </a:xfrm>
          <a:prstGeom prst="ellipse">
            <a:avLst/>
          </a:prstGeom>
          <a:solidFill>
            <a:srgbClr val="1B4332"/>
          </a:solidFill>
          <a:ln/>
        </p:spPr>
      </p:sp>
      <p:pic>
        <p:nvPicPr>
          <p:cNvPr id="32" name="Image 5" descr="assets/icons/lightbulb_green.png"/>
          <p:cNvPicPr>
            <a:picLocks noChangeAspect="1"/>
          </p:cNvPicPr>
          <p:nvPr/>
        </p:nvPicPr>
        <p:blipFill>
          <a:blip r:embed="rId9"/>
          <a:stretch>
            <a:fillRect/>
          </a:stretch>
        </p:blipFill>
        <p:spPr>
          <a:xfrm>
            <a:off x="8357616" y="4791456"/>
            <a:ext cx="237744" cy="237744"/>
          </a:xfrm>
          <a:prstGeom prst="rect">
            <a:avLst/>
          </a:prstGeom>
        </p:spPr>
      </p:pic>
      <p:sp>
        <p:nvSpPr>
          <p:cNvPr id="33" name="Text 25"/>
          <p:cNvSpPr/>
          <p:nvPr/>
        </p:nvSpPr>
        <p:spPr>
          <a:xfrm>
            <a:off x="8823960" y="4663440"/>
            <a:ext cx="2606040" cy="457200"/>
          </a:xfrm>
          <a:prstGeom prst="rect">
            <a:avLst/>
          </a:prstGeom>
          <a:noFill/>
          <a:ln/>
        </p:spPr>
        <p:txBody>
          <a:bodyPr wrap="square" lIns="0" tIns="0" rIns="0" bIns="0" rtlCol="0" anchor="ctr"/>
          <a:lstStyle/>
          <a:p>
            <a:pPr marL="0" indent="0">
              <a:buNone/>
            </a:pPr>
            <a:r>
              <a:rPr lang="en-US" sz="1250" b="1" dirty="0">
                <a:solidFill>
                  <a:srgbClr val="1A2B22"/>
                </a:solidFill>
                <a:latin typeface="Cambria" pitchFamily="34" charset="0"/>
                <a:ea typeface="Cambria" pitchFamily="34" charset="-122"/>
                <a:cs typeface="Cambria" pitchFamily="34" charset="-120"/>
              </a:rPr>
              <a:t>Modern Application</a:t>
            </a:r>
            <a:endParaRPr lang="en-US" sz="1250" dirty="0"/>
          </a:p>
        </p:txBody>
      </p:sp>
      <p:sp>
        <p:nvSpPr>
          <p:cNvPr id="34" name="Text 26"/>
          <p:cNvSpPr/>
          <p:nvPr/>
        </p:nvSpPr>
        <p:spPr>
          <a:xfrm>
            <a:off x="8247888" y="5230368"/>
            <a:ext cx="3154680" cy="777240"/>
          </a:xfrm>
          <a:prstGeom prst="rect">
            <a:avLst/>
          </a:prstGeom>
          <a:noFill/>
          <a:ln/>
        </p:spPr>
        <p:txBody>
          <a:bodyPr wrap="square" lIns="0" tIns="0" rIns="0" bIns="0" rtlCol="0" anchor="ctr"/>
          <a:lstStyle/>
          <a:p>
            <a:pPr marL="0" indent="0">
              <a:lnSpc>
                <a:spcPct val="122000"/>
              </a:lnSpc>
              <a:buNone/>
            </a:pPr>
            <a:r>
              <a:rPr lang="en-US" sz="1000" dirty="0">
                <a:solidFill>
                  <a:srgbClr val="3F4A42"/>
                </a:solidFill>
                <a:latin typeface="Calibri" pitchFamily="34" charset="0"/>
                <a:ea typeface="Calibri" pitchFamily="34" charset="-122"/>
                <a:cs typeface="Calibri" pitchFamily="34" charset="-120"/>
              </a:rPr>
              <a:t>Now formulated into safe, standardised, everyday consumer products.</a:t>
            </a:r>
            <a:endParaRPr lang="en-US" sz="1000" dirty="0"/>
          </a:p>
        </p:txBody>
      </p:sp>
      <p:sp>
        <p:nvSpPr>
          <p:cNvPr id="35" name="Text 27"/>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36" name="Text 28"/>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bg/leaf_silhouette_white.png"/>
          <p:cNvPicPr>
            <a:picLocks noChangeAspect="1"/>
          </p:cNvPicPr>
          <p:nvPr/>
        </p:nvPicPr>
        <p:blipFill>
          <a:blip r:embed="rId4">
            <a:alphaModFix amt="10000"/>
          </a:blip>
          <a:stretch>
            <a:fillRect/>
          </a:stretch>
        </p:blipFill>
        <p:spPr>
          <a:xfrm rot="900000">
            <a:off x="9692640" y="-731520"/>
            <a:ext cx="2926080" cy="4206240"/>
          </a:xfrm>
          <a:prstGeom prst="rect">
            <a:avLst/>
          </a:prstGeom>
        </p:spPr>
      </p:pic>
      <p:sp>
        <p:nvSpPr>
          <p:cNvPr id="3"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95D5B2"/>
                </a:solidFill>
                <a:latin typeface="Calibri" pitchFamily="34" charset="0"/>
                <a:ea typeface="Calibri" pitchFamily="34" charset="-122"/>
                <a:cs typeface="Calibri" pitchFamily="34" charset="-120"/>
              </a:rPr>
              <a:t>COMPETITIVE ADVANTAGE</a:t>
            </a:r>
            <a:endParaRPr lang="en-US" sz="1250" dirty="0"/>
          </a:p>
        </p:txBody>
      </p:sp>
      <p:sp>
        <p:nvSpPr>
          <p:cNvPr id="4"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Sets EcoNeemTech Apart</a:t>
            </a:r>
            <a:endParaRPr lang="en-US" sz="3000" dirty="0"/>
          </a:p>
        </p:txBody>
      </p:sp>
      <p:sp>
        <p:nvSpPr>
          <p:cNvPr id="5" name="Shape 2"/>
          <p:cNvSpPr/>
          <p:nvPr/>
        </p:nvSpPr>
        <p:spPr>
          <a:xfrm>
            <a:off x="640080" y="1783080"/>
            <a:ext cx="3520440" cy="2029968"/>
          </a:xfrm>
          <a:prstGeom prst="roundRect">
            <a:avLst>
              <a:gd name="adj" fmla="val 4505"/>
            </a:avLst>
          </a:prstGeom>
          <a:solidFill>
            <a:srgbClr val="FFFFFF">
              <a:alpha val="8000"/>
            </a:srgbClr>
          </a:solidFill>
          <a:ln w="9525">
            <a:solidFill>
              <a:srgbClr val="FFFFFF">
                <a:alpha val="30000"/>
              </a:srgbClr>
            </a:solidFill>
            <a:prstDash val="solid"/>
          </a:ln>
        </p:spPr>
      </p:sp>
      <p:sp>
        <p:nvSpPr>
          <p:cNvPr id="6" name="Shape 3"/>
          <p:cNvSpPr/>
          <p:nvPr/>
        </p:nvSpPr>
        <p:spPr>
          <a:xfrm>
            <a:off x="868680" y="2011680"/>
            <a:ext cx="512064" cy="512064"/>
          </a:xfrm>
          <a:prstGeom prst="ellipse">
            <a:avLst/>
          </a:prstGeom>
          <a:solidFill>
            <a:srgbClr val="95D5B2"/>
          </a:solidFill>
          <a:ln/>
        </p:spPr>
      </p:sp>
      <p:pic>
        <p:nvPicPr>
          <p:cNvPr id="7" name="Image 1" descr="assets/icons/leaf_deep.png"/>
          <p:cNvPicPr>
            <a:picLocks noChangeAspect="1"/>
          </p:cNvPicPr>
          <p:nvPr/>
        </p:nvPicPr>
        <p:blipFill>
          <a:blip r:embed="rId5"/>
          <a:stretch>
            <a:fillRect/>
          </a:stretch>
        </p:blipFill>
        <p:spPr>
          <a:xfrm>
            <a:off x="996696" y="2139696"/>
            <a:ext cx="256032" cy="256032"/>
          </a:xfrm>
          <a:prstGeom prst="rect">
            <a:avLst/>
          </a:prstGeom>
        </p:spPr>
      </p:pic>
      <p:sp>
        <p:nvSpPr>
          <p:cNvPr id="8" name="Text 4"/>
          <p:cNvSpPr/>
          <p:nvPr/>
        </p:nvSpPr>
        <p:spPr>
          <a:xfrm>
            <a:off x="868680" y="2651760"/>
            <a:ext cx="310896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Natural-First Formulation</a:t>
            </a:r>
            <a:endParaRPr lang="en-US" sz="1300" dirty="0"/>
          </a:p>
        </p:txBody>
      </p:sp>
      <p:sp>
        <p:nvSpPr>
          <p:cNvPr id="9" name="Text 5"/>
          <p:cNvSpPr/>
          <p:nvPr/>
        </p:nvSpPr>
        <p:spPr>
          <a:xfrm>
            <a:off x="868680" y="3063240"/>
            <a:ext cx="3108960" cy="685800"/>
          </a:xfrm>
          <a:prstGeom prst="rect">
            <a:avLst/>
          </a:prstGeom>
          <a:noFill/>
          <a:ln/>
        </p:spPr>
        <p:txBody>
          <a:bodyPr wrap="square" lIns="0" tIns="0" rIns="0" bIns="0" rtlCol="0" anchor="ctr"/>
          <a:lstStyle/>
          <a:p>
            <a:pPr marL="0" indent="0">
              <a:lnSpc>
                <a:spcPct val="122000"/>
              </a:lnSpc>
              <a:buNone/>
            </a:pPr>
            <a:r>
              <a:rPr lang="en-US" sz="1030" dirty="0">
                <a:solidFill>
                  <a:srgbClr val="DCEAE0"/>
                </a:solidFill>
                <a:latin typeface="Calibri" pitchFamily="34" charset="0"/>
                <a:ea typeface="Calibri" pitchFamily="34" charset="-122"/>
                <a:cs typeface="Calibri" pitchFamily="34" charset="-120"/>
              </a:rPr>
              <a:t>Built on naturally derived Neem actives instead of harsh synthetic chemicals.</a:t>
            </a:r>
            <a:endParaRPr lang="en-US" sz="1030" dirty="0"/>
          </a:p>
        </p:txBody>
      </p:sp>
      <p:sp>
        <p:nvSpPr>
          <p:cNvPr id="10" name="Shape 6"/>
          <p:cNvSpPr/>
          <p:nvPr/>
        </p:nvSpPr>
        <p:spPr>
          <a:xfrm>
            <a:off x="4343400" y="1783080"/>
            <a:ext cx="3520440" cy="2029968"/>
          </a:xfrm>
          <a:prstGeom prst="roundRect">
            <a:avLst>
              <a:gd name="adj" fmla="val 4505"/>
            </a:avLst>
          </a:prstGeom>
          <a:solidFill>
            <a:srgbClr val="FFFFFF">
              <a:alpha val="8000"/>
            </a:srgbClr>
          </a:solidFill>
          <a:ln w="9525">
            <a:solidFill>
              <a:srgbClr val="FFFFFF">
                <a:alpha val="30000"/>
              </a:srgbClr>
            </a:solidFill>
            <a:prstDash val="solid"/>
          </a:ln>
        </p:spPr>
      </p:sp>
      <p:sp>
        <p:nvSpPr>
          <p:cNvPr id="11" name="Shape 7"/>
          <p:cNvSpPr/>
          <p:nvPr/>
        </p:nvSpPr>
        <p:spPr>
          <a:xfrm>
            <a:off x="4572000" y="2011680"/>
            <a:ext cx="512064" cy="512064"/>
          </a:xfrm>
          <a:prstGeom prst="ellipse">
            <a:avLst/>
          </a:prstGeom>
          <a:solidFill>
            <a:srgbClr val="95D5B2"/>
          </a:solidFill>
          <a:ln/>
        </p:spPr>
      </p:sp>
      <p:pic>
        <p:nvPicPr>
          <p:cNvPr id="12" name="Image 2" descr="assets/icons/microscope_deep.png"/>
          <p:cNvPicPr>
            <a:picLocks noChangeAspect="1"/>
          </p:cNvPicPr>
          <p:nvPr/>
        </p:nvPicPr>
        <p:blipFill>
          <a:blip r:embed="rId6"/>
          <a:stretch>
            <a:fillRect/>
          </a:stretch>
        </p:blipFill>
        <p:spPr>
          <a:xfrm>
            <a:off x="4700016" y="2139696"/>
            <a:ext cx="256032" cy="256032"/>
          </a:xfrm>
          <a:prstGeom prst="rect">
            <a:avLst/>
          </a:prstGeom>
        </p:spPr>
      </p:pic>
      <p:sp>
        <p:nvSpPr>
          <p:cNvPr id="13" name="Text 8"/>
          <p:cNvSpPr/>
          <p:nvPr/>
        </p:nvSpPr>
        <p:spPr>
          <a:xfrm>
            <a:off x="4572000" y="2651760"/>
            <a:ext cx="310896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Research-Led Development</a:t>
            </a:r>
            <a:endParaRPr lang="en-US" sz="1300" dirty="0"/>
          </a:p>
        </p:txBody>
      </p:sp>
      <p:sp>
        <p:nvSpPr>
          <p:cNvPr id="14" name="Text 9"/>
          <p:cNvSpPr/>
          <p:nvPr/>
        </p:nvSpPr>
        <p:spPr>
          <a:xfrm>
            <a:off x="4572000" y="3063240"/>
            <a:ext cx="3108960" cy="685800"/>
          </a:xfrm>
          <a:prstGeom prst="rect">
            <a:avLst/>
          </a:prstGeom>
          <a:noFill/>
          <a:ln/>
        </p:spPr>
        <p:txBody>
          <a:bodyPr wrap="square" lIns="0" tIns="0" rIns="0" bIns="0" rtlCol="0" anchor="ctr"/>
          <a:lstStyle/>
          <a:p>
            <a:pPr marL="0" indent="0">
              <a:lnSpc>
                <a:spcPct val="122000"/>
              </a:lnSpc>
              <a:buNone/>
            </a:pPr>
            <a:r>
              <a:rPr lang="en-US" sz="1030" dirty="0">
                <a:solidFill>
                  <a:srgbClr val="DCEAE0"/>
                </a:solidFill>
                <a:latin typeface="Calibri" pitchFamily="34" charset="0"/>
                <a:ea typeface="Calibri" pitchFamily="34" charset="-122"/>
                <a:cs typeface="Calibri" pitchFamily="34" charset="-120"/>
              </a:rPr>
              <a:t>Traditional Neem knowledge combined with disciplined product science.</a:t>
            </a:r>
            <a:endParaRPr lang="en-US" sz="1030" dirty="0"/>
          </a:p>
        </p:txBody>
      </p:sp>
      <p:sp>
        <p:nvSpPr>
          <p:cNvPr id="15" name="Shape 10"/>
          <p:cNvSpPr/>
          <p:nvPr/>
        </p:nvSpPr>
        <p:spPr>
          <a:xfrm>
            <a:off x="8046720" y="1783080"/>
            <a:ext cx="3520440" cy="2029968"/>
          </a:xfrm>
          <a:prstGeom prst="roundRect">
            <a:avLst>
              <a:gd name="adj" fmla="val 4505"/>
            </a:avLst>
          </a:prstGeom>
          <a:solidFill>
            <a:srgbClr val="FFFFFF">
              <a:alpha val="8000"/>
            </a:srgbClr>
          </a:solidFill>
          <a:ln w="9525">
            <a:solidFill>
              <a:srgbClr val="FFFFFF">
                <a:alpha val="30000"/>
              </a:srgbClr>
            </a:solidFill>
            <a:prstDash val="solid"/>
          </a:ln>
        </p:spPr>
      </p:sp>
      <p:sp>
        <p:nvSpPr>
          <p:cNvPr id="16" name="Shape 11"/>
          <p:cNvSpPr/>
          <p:nvPr/>
        </p:nvSpPr>
        <p:spPr>
          <a:xfrm>
            <a:off x="8275320" y="2011680"/>
            <a:ext cx="512064" cy="512064"/>
          </a:xfrm>
          <a:prstGeom prst="ellipse">
            <a:avLst/>
          </a:prstGeom>
          <a:solidFill>
            <a:srgbClr val="95D5B2"/>
          </a:solidFill>
          <a:ln/>
        </p:spPr>
      </p:sp>
      <p:pic>
        <p:nvPicPr>
          <p:cNvPr id="17" name="Image 3" descr="assets/icons/award_deep.png"/>
          <p:cNvPicPr>
            <a:picLocks noChangeAspect="1"/>
          </p:cNvPicPr>
          <p:nvPr/>
        </p:nvPicPr>
        <p:blipFill>
          <a:blip r:embed="rId7"/>
          <a:stretch>
            <a:fillRect/>
          </a:stretch>
        </p:blipFill>
        <p:spPr>
          <a:xfrm>
            <a:off x="8403336" y="2139696"/>
            <a:ext cx="256032" cy="256032"/>
          </a:xfrm>
          <a:prstGeom prst="rect">
            <a:avLst/>
          </a:prstGeom>
        </p:spPr>
      </p:pic>
      <p:sp>
        <p:nvSpPr>
          <p:cNvPr id="18" name="Text 12"/>
          <p:cNvSpPr/>
          <p:nvPr/>
        </p:nvSpPr>
        <p:spPr>
          <a:xfrm>
            <a:off x="8275320" y="2651760"/>
            <a:ext cx="310896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Consistent Quality</a:t>
            </a:r>
            <a:endParaRPr lang="en-US" sz="1300" dirty="0"/>
          </a:p>
        </p:txBody>
      </p:sp>
      <p:sp>
        <p:nvSpPr>
          <p:cNvPr id="19" name="Text 13"/>
          <p:cNvSpPr/>
          <p:nvPr/>
        </p:nvSpPr>
        <p:spPr>
          <a:xfrm>
            <a:off x="8275320" y="3063240"/>
            <a:ext cx="3108960" cy="685800"/>
          </a:xfrm>
          <a:prstGeom prst="rect">
            <a:avLst/>
          </a:prstGeom>
          <a:noFill/>
          <a:ln/>
        </p:spPr>
        <p:txBody>
          <a:bodyPr wrap="square" lIns="0" tIns="0" rIns="0" bIns="0" rtlCol="0" anchor="ctr"/>
          <a:lstStyle/>
          <a:p>
            <a:pPr marL="0" indent="0">
              <a:lnSpc>
                <a:spcPct val="122000"/>
              </a:lnSpc>
              <a:buNone/>
            </a:pPr>
            <a:r>
              <a:rPr lang="en-US" sz="1030" dirty="0">
                <a:solidFill>
                  <a:srgbClr val="DCEAE0"/>
                </a:solidFill>
                <a:latin typeface="Calibri" pitchFamily="34" charset="0"/>
                <a:ea typeface="Calibri" pitchFamily="34" charset="-122"/>
                <a:cs typeface="Calibri" pitchFamily="34" charset="-120"/>
              </a:rPr>
              <a:t>Standardised formulations deliver reliable performance, batch after batch.</a:t>
            </a:r>
            <a:endParaRPr lang="en-US" sz="1030" dirty="0"/>
          </a:p>
        </p:txBody>
      </p:sp>
      <p:sp>
        <p:nvSpPr>
          <p:cNvPr id="20" name="Shape 14"/>
          <p:cNvSpPr/>
          <p:nvPr/>
        </p:nvSpPr>
        <p:spPr>
          <a:xfrm>
            <a:off x="640080" y="4023360"/>
            <a:ext cx="3520440" cy="2029968"/>
          </a:xfrm>
          <a:prstGeom prst="roundRect">
            <a:avLst>
              <a:gd name="adj" fmla="val 4505"/>
            </a:avLst>
          </a:prstGeom>
          <a:solidFill>
            <a:srgbClr val="FFFFFF">
              <a:alpha val="8000"/>
            </a:srgbClr>
          </a:solidFill>
          <a:ln w="9525">
            <a:solidFill>
              <a:srgbClr val="FFFFFF">
                <a:alpha val="30000"/>
              </a:srgbClr>
            </a:solidFill>
            <a:prstDash val="solid"/>
          </a:ln>
        </p:spPr>
      </p:sp>
      <p:sp>
        <p:nvSpPr>
          <p:cNvPr id="21" name="Shape 15"/>
          <p:cNvSpPr/>
          <p:nvPr/>
        </p:nvSpPr>
        <p:spPr>
          <a:xfrm>
            <a:off x="868680" y="4251960"/>
            <a:ext cx="512064" cy="512064"/>
          </a:xfrm>
          <a:prstGeom prst="ellipse">
            <a:avLst/>
          </a:prstGeom>
          <a:solidFill>
            <a:srgbClr val="95D5B2"/>
          </a:solidFill>
          <a:ln/>
        </p:spPr>
      </p:sp>
      <p:pic>
        <p:nvPicPr>
          <p:cNvPr id="22" name="Image 4" descr="assets/icons/globe_deep.png"/>
          <p:cNvPicPr>
            <a:picLocks noChangeAspect="1"/>
          </p:cNvPicPr>
          <p:nvPr/>
        </p:nvPicPr>
        <p:blipFill>
          <a:blip r:embed="rId8"/>
          <a:stretch>
            <a:fillRect/>
          </a:stretch>
        </p:blipFill>
        <p:spPr>
          <a:xfrm>
            <a:off x="996696" y="4379976"/>
            <a:ext cx="256032" cy="256032"/>
          </a:xfrm>
          <a:prstGeom prst="rect">
            <a:avLst/>
          </a:prstGeom>
        </p:spPr>
      </p:pic>
      <p:sp>
        <p:nvSpPr>
          <p:cNvPr id="23" name="Text 16"/>
          <p:cNvSpPr/>
          <p:nvPr/>
        </p:nvSpPr>
        <p:spPr>
          <a:xfrm>
            <a:off x="868680" y="4892040"/>
            <a:ext cx="310896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Genuine Sustainability</a:t>
            </a:r>
            <a:endParaRPr lang="en-US" sz="1300" dirty="0"/>
          </a:p>
        </p:txBody>
      </p:sp>
      <p:sp>
        <p:nvSpPr>
          <p:cNvPr id="24" name="Text 17"/>
          <p:cNvSpPr/>
          <p:nvPr/>
        </p:nvSpPr>
        <p:spPr>
          <a:xfrm>
            <a:off x="868680" y="5303520"/>
            <a:ext cx="3108960" cy="685800"/>
          </a:xfrm>
          <a:prstGeom prst="rect">
            <a:avLst/>
          </a:prstGeom>
          <a:noFill/>
          <a:ln/>
        </p:spPr>
        <p:txBody>
          <a:bodyPr wrap="square" lIns="0" tIns="0" rIns="0" bIns="0" rtlCol="0" anchor="ctr"/>
          <a:lstStyle/>
          <a:p>
            <a:pPr marL="0" indent="0">
              <a:lnSpc>
                <a:spcPct val="122000"/>
              </a:lnSpc>
              <a:buNone/>
            </a:pPr>
            <a:r>
              <a:rPr lang="en-US" sz="1030" dirty="0">
                <a:solidFill>
                  <a:srgbClr val="DCEAE0"/>
                </a:solidFill>
                <a:latin typeface="Calibri" pitchFamily="34" charset="0"/>
                <a:ea typeface="Calibri" pitchFamily="34" charset="-122"/>
                <a:cs typeface="Calibri" pitchFamily="34" charset="-120"/>
              </a:rPr>
              <a:t>Lower environmental footprint across sourcing, formulation, and packaging.</a:t>
            </a:r>
            <a:endParaRPr lang="en-US" sz="1030" dirty="0"/>
          </a:p>
        </p:txBody>
      </p:sp>
      <p:sp>
        <p:nvSpPr>
          <p:cNvPr id="25" name="Shape 18"/>
          <p:cNvSpPr/>
          <p:nvPr/>
        </p:nvSpPr>
        <p:spPr>
          <a:xfrm>
            <a:off x="4343400" y="4023360"/>
            <a:ext cx="3520440" cy="2029968"/>
          </a:xfrm>
          <a:prstGeom prst="roundRect">
            <a:avLst>
              <a:gd name="adj" fmla="val 4505"/>
            </a:avLst>
          </a:prstGeom>
          <a:solidFill>
            <a:srgbClr val="FFFFFF">
              <a:alpha val="8000"/>
            </a:srgbClr>
          </a:solidFill>
          <a:ln w="9525">
            <a:solidFill>
              <a:srgbClr val="FFFFFF">
                <a:alpha val="30000"/>
              </a:srgbClr>
            </a:solidFill>
            <a:prstDash val="solid"/>
          </a:ln>
        </p:spPr>
      </p:sp>
      <p:sp>
        <p:nvSpPr>
          <p:cNvPr id="26" name="Shape 19"/>
          <p:cNvSpPr/>
          <p:nvPr/>
        </p:nvSpPr>
        <p:spPr>
          <a:xfrm>
            <a:off x="4572000" y="4251960"/>
            <a:ext cx="512064" cy="512064"/>
          </a:xfrm>
          <a:prstGeom prst="ellipse">
            <a:avLst/>
          </a:prstGeom>
          <a:solidFill>
            <a:srgbClr val="95D5B2"/>
          </a:solidFill>
          <a:ln/>
        </p:spPr>
      </p:sp>
      <p:pic>
        <p:nvPicPr>
          <p:cNvPr id="27" name="Image 5" descr="assets/icons/handshake_deep.png"/>
          <p:cNvPicPr>
            <a:picLocks noChangeAspect="1"/>
          </p:cNvPicPr>
          <p:nvPr/>
        </p:nvPicPr>
        <p:blipFill>
          <a:blip r:embed="rId9"/>
          <a:stretch>
            <a:fillRect/>
          </a:stretch>
        </p:blipFill>
        <p:spPr>
          <a:xfrm>
            <a:off x="4700016" y="4379976"/>
            <a:ext cx="256032" cy="256032"/>
          </a:xfrm>
          <a:prstGeom prst="rect">
            <a:avLst/>
          </a:prstGeom>
        </p:spPr>
      </p:pic>
      <p:sp>
        <p:nvSpPr>
          <p:cNvPr id="28" name="Text 20"/>
          <p:cNvSpPr/>
          <p:nvPr/>
        </p:nvSpPr>
        <p:spPr>
          <a:xfrm>
            <a:off x="4572000" y="4892040"/>
            <a:ext cx="310896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Customer-Centred Value</a:t>
            </a:r>
            <a:endParaRPr lang="en-US" sz="1300" dirty="0"/>
          </a:p>
        </p:txBody>
      </p:sp>
      <p:sp>
        <p:nvSpPr>
          <p:cNvPr id="29" name="Text 21"/>
          <p:cNvSpPr/>
          <p:nvPr/>
        </p:nvSpPr>
        <p:spPr>
          <a:xfrm>
            <a:off x="4572000" y="5303520"/>
            <a:ext cx="3108960" cy="685800"/>
          </a:xfrm>
          <a:prstGeom prst="rect">
            <a:avLst/>
          </a:prstGeom>
          <a:noFill/>
          <a:ln/>
        </p:spPr>
        <p:txBody>
          <a:bodyPr wrap="square" lIns="0" tIns="0" rIns="0" bIns="0" rtlCol="0" anchor="ctr"/>
          <a:lstStyle/>
          <a:p>
            <a:pPr marL="0" indent="0">
              <a:lnSpc>
                <a:spcPct val="122000"/>
              </a:lnSpc>
              <a:buNone/>
            </a:pPr>
            <a:r>
              <a:rPr lang="en-US" sz="1030" dirty="0">
                <a:solidFill>
                  <a:srgbClr val="DCEAE0"/>
                </a:solidFill>
                <a:latin typeface="Calibri" pitchFamily="34" charset="0"/>
                <a:ea typeface="Calibri" pitchFamily="34" charset="-122"/>
                <a:cs typeface="Calibri" pitchFamily="34" charset="-120"/>
              </a:rPr>
              <a:t>Affordable, accessible alternatives designed for everyday Nigerian households.</a:t>
            </a:r>
            <a:endParaRPr lang="en-US" sz="1030" dirty="0"/>
          </a:p>
        </p:txBody>
      </p:sp>
      <p:sp>
        <p:nvSpPr>
          <p:cNvPr id="30" name="Shape 22"/>
          <p:cNvSpPr/>
          <p:nvPr/>
        </p:nvSpPr>
        <p:spPr>
          <a:xfrm>
            <a:off x="8046720" y="4023360"/>
            <a:ext cx="3520440" cy="2029968"/>
          </a:xfrm>
          <a:prstGeom prst="roundRect">
            <a:avLst>
              <a:gd name="adj" fmla="val 4505"/>
            </a:avLst>
          </a:prstGeom>
          <a:solidFill>
            <a:srgbClr val="FFFFFF">
              <a:alpha val="8000"/>
            </a:srgbClr>
          </a:solidFill>
          <a:ln w="9525">
            <a:solidFill>
              <a:srgbClr val="FFFFFF">
                <a:alpha val="30000"/>
              </a:srgbClr>
            </a:solidFill>
            <a:prstDash val="solid"/>
          </a:ln>
        </p:spPr>
      </p:sp>
      <p:sp>
        <p:nvSpPr>
          <p:cNvPr id="31" name="Shape 23"/>
          <p:cNvSpPr/>
          <p:nvPr/>
        </p:nvSpPr>
        <p:spPr>
          <a:xfrm>
            <a:off x="8275320" y="4251960"/>
            <a:ext cx="512064" cy="512064"/>
          </a:xfrm>
          <a:prstGeom prst="ellipse">
            <a:avLst/>
          </a:prstGeom>
          <a:solidFill>
            <a:srgbClr val="95D5B2"/>
          </a:solidFill>
          <a:ln/>
        </p:spPr>
      </p:sp>
      <p:pic>
        <p:nvPicPr>
          <p:cNvPr id="32" name="Image 6" descr="assets/icons/chartline_deep.png"/>
          <p:cNvPicPr>
            <a:picLocks noChangeAspect="1"/>
          </p:cNvPicPr>
          <p:nvPr/>
        </p:nvPicPr>
        <p:blipFill>
          <a:blip r:embed="rId10"/>
          <a:stretch>
            <a:fillRect/>
          </a:stretch>
        </p:blipFill>
        <p:spPr>
          <a:xfrm>
            <a:off x="8403336" y="4379976"/>
            <a:ext cx="256032" cy="256032"/>
          </a:xfrm>
          <a:prstGeom prst="rect">
            <a:avLst/>
          </a:prstGeom>
        </p:spPr>
      </p:pic>
      <p:sp>
        <p:nvSpPr>
          <p:cNvPr id="33" name="Text 24"/>
          <p:cNvSpPr/>
          <p:nvPr/>
        </p:nvSpPr>
        <p:spPr>
          <a:xfrm>
            <a:off x="8275320" y="4892040"/>
            <a:ext cx="310896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Local Relevance, Global Standard</a:t>
            </a:r>
            <a:endParaRPr lang="en-US" sz="1300" dirty="0"/>
          </a:p>
        </p:txBody>
      </p:sp>
      <p:sp>
        <p:nvSpPr>
          <p:cNvPr id="34" name="Text 25"/>
          <p:cNvSpPr/>
          <p:nvPr/>
        </p:nvSpPr>
        <p:spPr>
          <a:xfrm>
            <a:off x="8275320" y="5303520"/>
            <a:ext cx="3108960" cy="685800"/>
          </a:xfrm>
          <a:prstGeom prst="rect">
            <a:avLst/>
          </a:prstGeom>
          <a:noFill/>
          <a:ln/>
        </p:spPr>
        <p:txBody>
          <a:bodyPr wrap="square" lIns="0" tIns="0" rIns="0" bIns="0" rtlCol="0" anchor="ctr"/>
          <a:lstStyle/>
          <a:p>
            <a:pPr marL="0" indent="0">
              <a:lnSpc>
                <a:spcPct val="122000"/>
              </a:lnSpc>
              <a:buNone/>
            </a:pPr>
            <a:r>
              <a:rPr lang="en-US" sz="1030" dirty="0">
                <a:solidFill>
                  <a:srgbClr val="DCEAE0"/>
                </a:solidFill>
                <a:latin typeface="Calibri" pitchFamily="34" charset="0"/>
                <a:ea typeface="Calibri" pitchFamily="34" charset="-122"/>
                <a:cs typeface="Calibri" pitchFamily="34" charset="-120"/>
              </a:rPr>
              <a:t>Made for the Nigerian market, benchmarked against international best practice.</a:t>
            </a:r>
            <a:endParaRPr lang="en-US" sz="1030" dirty="0"/>
          </a:p>
        </p:txBody>
      </p:sp>
      <p:sp>
        <p:nvSpPr>
          <p:cNvPr id="35" name="Text 26"/>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BFD8C9"/>
                </a:solidFill>
                <a:latin typeface="Calibri" pitchFamily="34" charset="0"/>
                <a:ea typeface="Calibri" pitchFamily="34" charset="-122"/>
                <a:cs typeface="Calibri" pitchFamily="34" charset="-120"/>
              </a:rPr>
              <a:t>ECONEEMTECH LTD</a:t>
            </a:r>
            <a:endParaRPr lang="en-US" sz="850" dirty="0"/>
          </a:p>
        </p:txBody>
      </p:sp>
      <p:sp>
        <p:nvSpPr>
          <p:cNvPr id="36" name="Text 27"/>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BFD8C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OUR BUSINESS MODEL</a:t>
            </a:r>
            <a:endParaRPr lang="en-US" sz="1250" dirty="0"/>
          </a:p>
        </p:txBody>
      </p:sp>
      <p:sp>
        <p:nvSpPr>
          <p:cNvPr id="3"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000" b="1" dirty="0">
                <a:solidFill>
                  <a:srgbClr val="1A2B22"/>
                </a:solidFill>
                <a:latin typeface="Cambria" pitchFamily="34" charset="0"/>
                <a:ea typeface="Cambria" pitchFamily="34" charset="-122"/>
                <a:cs typeface="Cambria" pitchFamily="34" charset="-120"/>
              </a:rPr>
              <a:t>How We Create Value</a:t>
            </a:r>
            <a:endParaRPr lang="en-US" sz="3000" dirty="0"/>
          </a:p>
        </p:txBody>
      </p:sp>
      <p:sp>
        <p:nvSpPr>
          <p:cNvPr id="4" name="Text 2"/>
          <p:cNvSpPr/>
          <p:nvPr/>
        </p:nvSpPr>
        <p:spPr>
          <a:xfrm>
            <a:off x="640080" y="1508760"/>
            <a:ext cx="10515600" cy="411480"/>
          </a:xfrm>
          <a:prstGeom prst="rect">
            <a:avLst/>
          </a:prstGeom>
          <a:noFill/>
          <a:ln/>
        </p:spPr>
        <p:txBody>
          <a:bodyPr wrap="square" lIns="0" tIns="0" rIns="0" bIns="0" rtlCol="0" anchor="ctr"/>
          <a:lstStyle/>
          <a:p>
            <a:pPr marL="0" indent="0">
              <a:buNone/>
            </a:pPr>
            <a:r>
              <a:rPr lang="en-US" sz="1300" i="1" dirty="0">
                <a:solidFill>
                  <a:srgbClr val="6B7A70"/>
                </a:solidFill>
                <a:latin typeface="Calibri" pitchFamily="34" charset="0"/>
                <a:ea typeface="Calibri" pitchFamily="34" charset="-122"/>
                <a:cs typeface="Calibri" pitchFamily="34" charset="-120"/>
              </a:rPr>
              <a:t>A streamlined value chain,  from sustainable sourcing to the end consumer, designed for quality control and scalability.</a:t>
            </a:r>
            <a:endParaRPr lang="en-US" sz="1300" dirty="0"/>
          </a:p>
        </p:txBody>
      </p:sp>
      <p:sp>
        <p:nvSpPr>
          <p:cNvPr id="5" name="Shape 3"/>
          <p:cNvSpPr/>
          <p:nvPr/>
        </p:nvSpPr>
        <p:spPr>
          <a:xfrm>
            <a:off x="640080" y="2331720"/>
            <a:ext cx="1874520" cy="2331720"/>
          </a:xfrm>
          <a:prstGeom prst="roundRect">
            <a:avLst>
              <a:gd name="adj" fmla="val 4878"/>
            </a:avLst>
          </a:prstGeom>
          <a:solidFill>
            <a:srgbClr val="1B4332"/>
          </a:solidFill>
          <a:ln/>
          <a:effectLst>
            <a:outerShdw blurRad="127000" dist="38100" dir="5400000" algn="bl" rotWithShape="0">
              <a:srgbClr val="1B4332">
                <a:alpha val="10000"/>
              </a:srgbClr>
            </a:outerShdw>
          </a:effectLst>
        </p:spPr>
      </p:sp>
      <p:sp>
        <p:nvSpPr>
          <p:cNvPr id="6" name="Shape 4"/>
          <p:cNvSpPr/>
          <p:nvPr/>
        </p:nvSpPr>
        <p:spPr>
          <a:xfrm>
            <a:off x="1325880" y="2587752"/>
            <a:ext cx="502920" cy="502920"/>
          </a:xfrm>
          <a:prstGeom prst="ellipse">
            <a:avLst/>
          </a:prstGeom>
          <a:solidFill>
            <a:srgbClr val="FFFFFF">
              <a:alpha val="12000"/>
            </a:srgbClr>
          </a:solidFill>
          <a:ln/>
        </p:spPr>
      </p:sp>
      <p:pic>
        <p:nvPicPr>
          <p:cNvPr id="7" name="Image 0" descr="assets/icons/seedling_white.png"/>
          <p:cNvPicPr>
            <a:picLocks noChangeAspect="1"/>
          </p:cNvPicPr>
          <p:nvPr/>
        </p:nvPicPr>
        <p:blipFill>
          <a:blip r:embed="rId4"/>
          <a:stretch>
            <a:fillRect/>
          </a:stretch>
        </p:blipFill>
        <p:spPr>
          <a:xfrm>
            <a:off x="1449324" y="2715768"/>
            <a:ext cx="256032" cy="256032"/>
          </a:xfrm>
          <a:prstGeom prst="rect">
            <a:avLst/>
          </a:prstGeom>
        </p:spPr>
      </p:pic>
      <p:sp>
        <p:nvSpPr>
          <p:cNvPr id="8" name="Text 5"/>
          <p:cNvSpPr/>
          <p:nvPr/>
        </p:nvSpPr>
        <p:spPr>
          <a:xfrm>
            <a:off x="749808" y="3246120"/>
            <a:ext cx="1655064" cy="566928"/>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mbria" pitchFamily="34" charset="0"/>
                <a:ea typeface="Cambria" pitchFamily="34" charset="-122"/>
                <a:cs typeface="Cambria" pitchFamily="34" charset="-120"/>
              </a:rPr>
              <a:t>Sustainable Sourcing</a:t>
            </a:r>
            <a:endParaRPr lang="en-US" sz="1150" dirty="0"/>
          </a:p>
        </p:txBody>
      </p:sp>
      <p:sp>
        <p:nvSpPr>
          <p:cNvPr id="9" name="Text 6"/>
          <p:cNvSpPr/>
          <p:nvPr/>
        </p:nvSpPr>
        <p:spPr>
          <a:xfrm>
            <a:off x="777240" y="3813048"/>
            <a:ext cx="1600200" cy="822960"/>
          </a:xfrm>
          <a:prstGeom prst="rect">
            <a:avLst/>
          </a:prstGeom>
          <a:noFill/>
          <a:ln/>
        </p:spPr>
        <p:txBody>
          <a:bodyPr wrap="square" lIns="0" tIns="0" rIns="0" bIns="0" rtlCol="0" anchor="ctr"/>
          <a:lstStyle/>
          <a:p>
            <a:pPr marL="0" indent="0" algn="ctr">
              <a:lnSpc>
                <a:spcPct val="120000"/>
              </a:lnSpc>
              <a:buNone/>
            </a:pPr>
            <a:r>
              <a:rPr lang="en-US" sz="900" dirty="0">
                <a:solidFill>
                  <a:srgbClr val="DCEAE0"/>
                </a:solidFill>
                <a:latin typeface="Calibri" pitchFamily="34" charset="0"/>
                <a:ea typeface="Calibri" pitchFamily="34" charset="-122"/>
                <a:cs typeface="Calibri" pitchFamily="34" charset="-120"/>
              </a:rPr>
              <a:t>Responsibly sourced Neem leaves, seeds &amp; oil from trusted growers.</a:t>
            </a:r>
            <a:endParaRPr lang="en-US" sz="900" dirty="0"/>
          </a:p>
        </p:txBody>
      </p:sp>
      <p:pic>
        <p:nvPicPr>
          <p:cNvPr id="10" name="Image 1" descr="assets/icons/arrowright_green.png"/>
          <p:cNvPicPr>
            <a:picLocks noChangeAspect="1"/>
          </p:cNvPicPr>
          <p:nvPr/>
        </p:nvPicPr>
        <p:blipFill>
          <a:blip r:embed="rId5"/>
          <a:stretch>
            <a:fillRect/>
          </a:stretch>
        </p:blipFill>
        <p:spPr>
          <a:xfrm>
            <a:off x="2587752" y="3378708"/>
            <a:ext cx="237744" cy="237744"/>
          </a:xfrm>
          <a:prstGeom prst="rect">
            <a:avLst/>
          </a:prstGeom>
        </p:spPr>
      </p:pic>
      <p:sp>
        <p:nvSpPr>
          <p:cNvPr id="11" name="Shape 7"/>
          <p:cNvSpPr/>
          <p:nvPr/>
        </p:nvSpPr>
        <p:spPr>
          <a:xfrm>
            <a:off x="2898648" y="2331720"/>
            <a:ext cx="1874520" cy="2331720"/>
          </a:xfrm>
          <a:prstGeom prst="roundRect">
            <a:avLst>
              <a:gd name="adj" fmla="val 4878"/>
            </a:avLst>
          </a:prstGeom>
          <a:solidFill>
            <a:srgbClr val="1B4332"/>
          </a:solidFill>
          <a:ln/>
          <a:effectLst>
            <a:outerShdw blurRad="127000" dist="38100" dir="5400000" algn="bl" rotWithShape="0">
              <a:srgbClr val="1B4332">
                <a:alpha val="10000"/>
              </a:srgbClr>
            </a:outerShdw>
          </a:effectLst>
        </p:spPr>
      </p:sp>
      <p:sp>
        <p:nvSpPr>
          <p:cNvPr id="12" name="Shape 8"/>
          <p:cNvSpPr/>
          <p:nvPr/>
        </p:nvSpPr>
        <p:spPr>
          <a:xfrm>
            <a:off x="3584448" y="2587752"/>
            <a:ext cx="502920" cy="502920"/>
          </a:xfrm>
          <a:prstGeom prst="ellipse">
            <a:avLst/>
          </a:prstGeom>
          <a:solidFill>
            <a:srgbClr val="FFFFFF">
              <a:alpha val="12000"/>
            </a:srgbClr>
          </a:solidFill>
          <a:ln/>
        </p:spPr>
      </p:sp>
      <p:pic>
        <p:nvPicPr>
          <p:cNvPr id="13" name="Image 2" descr="assets/icons/flask_white.png"/>
          <p:cNvPicPr>
            <a:picLocks noChangeAspect="1"/>
          </p:cNvPicPr>
          <p:nvPr/>
        </p:nvPicPr>
        <p:blipFill>
          <a:blip r:embed="rId6"/>
          <a:stretch>
            <a:fillRect/>
          </a:stretch>
        </p:blipFill>
        <p:spPr>
          <a:xfrm>
            <a:off x="3707892" y="2715768"/>
            <a:ext cx="256032" cy="256032"/>
          </a:xfrm>
          <a:prstGeom prst="rect">
            <a:avLst/>
          </a:prstGeom>
        </p:spPr>
      </p:pic>
      <p:sp>
        <p:nvSpPr>
          <p:cNvPr id="14" name="Text 9"/>
          <p:cNvSpPr/>
          <p:nvPr/>
        </p:nvSpPr>
        <p:spPr>
          <a:xfrm>
            <a:off x="3008376" y="3246120"/>
            <a:ext cx="1655064" cy="566928"/>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mbria" pitchFamily="34" charset="0"/>
                <a:ea typeface="Cambria" pitchFamily="34" charset="-122"/>
                <a:cs typeface="Cambria" pitchFamily="34" charset="-120"/>
              </a:rPr>
              <a:t>R&amp;D and Formulation</a:t>
            </a:r>
            <a:endParaRPr lang="en-US" sz="1150" dirty="0"/>
          </a:p>
        </p:txBody>
      </p:sp>
      <p:sp>
        <p:nvSpPr>
          <p:cNvPr id="15" name="Text 10"/>
          <p:cNvSpPr/>
          <p:nvPr/>
        </p:nvSpPr>
        <p:spPr>
          <a:xfrm>
            <a:off x="3035808" y="3813048"/>
            <a:ext cx="1600200" cy="822960"/>
          </a:xfrm>
          <a:prstGeom prst="rect">
            <a:avLst/>
          </a:prstGeom>
          <a:noFill/>
          <a:ln/>
        </p:spPr>
        <p:txBody>
          <a:bodyPr wrap="square" lIns="0" tIns="0" rIns="0" bIns="0" rtlCol="0" anchor="ctr"/>
          <a:lstStyle/>
          <a:p>
            <a:pPr marL="0" indent="0" algn="ctr">
              <a:lnSpc>
                <a:spcPct val="120000"/>
              </a:lnSpc>
              <a:buNone/>
            </a:pPr>
            <a:r>
              <a:rPr lang="en-US" sz="900" dirty="0">
                <a:solidFill>
                  <a:srgbClr val="DCEAE0"/>
                </a:solidFill>
                <a:latin typeface="Calibri" pitchFamily="34" charset="0"/>
                <a:ea typeface="Calibri" pitchFamily="34" charset="-122"/>
                <a:cs typeface="Calibri" pitchFamily="34" charset="-120"/>
              </a:rPr>
              <a:t>In-house formulation of safe, effective Neem-based products.</a:t>
            </a:r>
            <a:endParaRPr lang="en-US" sz="900" dirty="0"/>
          </a:p>
        </p:txBody>
      </p:sp>
      <p:pic>
        <p:nvPicPr>
          <p:cNvPr id="16" name="Image 3" descr="assets/icons/arrowright_green.png"/>
          <p:cNvPicPr>
            <a:picLocks noChangeAspect="1"/>
          </p:cNvPicPr>
          <p:nvPr/>
        </p:nvPicPr>
        <p:blipFill>
          <a:blip r:embed="rId5"/>
          <a:stretch>
            <a:fillRect/>
          </a:stretch>
        </p:blipFill>
        <p:spPr>
          <a:xfrm>
            <a:off x="4846320" y="3378708"/>
            <a:ext cx="237744" cy="237744"/>
          </a:xfrm>
          <a:prstGeom prst="rect">
            <a:avLst/>
          </a:prstGeom>
        </p:spPr>
      </p:pic>
      <p:sp>
        <p:nvSpPr>
          <p:cNvPr id="17" name="Shape 11"/>
          <p:cNvSpPr/>
          <p:nvPr/>
        </p:nvSpPr>
        <p:spPr>
          <a:xfrm>
            <a:off x="5157216" y="2331720"/>
            <a:ext cx="1874520" cy="2331720"/>
          </a:xfrm>
          <a:prstGeom prst="roundRect">
            <a:avLst>
              <a:gd name="adj" fmla="val 4878"/>
            </a:avLst>
          </a:prstGeom>
          <a:solidFill>
            <a:srgbClr val="1B4332"/>
          </a:solidFill>
          <a:ln/>
          <a:effectLst>
            <a:outerShdw blurRad="127000" dist="38100" dir="5400000" algn="bl" rotWithShape="0">
              <a:srgbClr val="1B4332">
                <a:alpha val="10000"/>
              </a:srgbClr>
            </a:outerShdw>
          </a:effectLst>
        </p:spPr>
      </p:sp>
      <p:sp>
        <p:nvSpPr>
          <p:cNvPr id="18" name="Shape 12"/>
          <p:cNvSpPr/>
          <p:nvPr/>
        </p:nvSpPr>
        <p:spPr>
          <a:xfrm>
            <a:off x="5843016" y="2587752"/>
            <a:ext cx="502920" cy="502920"/>
          </a:xfrm>
          <a:prstGeom prst="ellipse">
            <a:avLst/>
          </a:prstGeom>
          <a:solidFill>
            <a:srgbClr val="FFFFFF">
              <a:alpha val="12000"/>
            </a:srgbClr>
          </a:solidFill>
          <a:ln/>
        </p:spPr>
      </p:sp>
      <p:pic>
        <p:nvPicPr>
          <p:cNvPr id="19" name="Image 4" descr="assets/icons/industry_white.png"/>
          <p:cNvPicPr>
            <a:picLocks noChangeAspect="1"/>
          </p:cNvPicPr>
          <p:nvPr/>
        </p:nvPicPr>
        <p:blipFill>
          <a:blip r:embed="rId7"/>
          <a:stretch>
            <a:fillRect/>
          </a:stretch>
        </p:blipFill>
        <p:spPr>
          <a:xfrm>
            <a:off x="5966460" y="2715768"/>
            <a:ext cx="256032" cy="256032"/>
          </a:xfrm>
          <a:prstGeom prst="rect">
            <a:avLst/>
          </a:prstGeom>
        </p:spPr>
      </p:pic>
      <p:sp>
        <p:nvSpPr>
          <p:cNvPr id="20" name="Text 13"/>
          <p:cNvSpPr/>
          <p:nvPr/>
        </p:nvSpPr>
        <p:spPr>
          <a:xfrm>
            <a:off x="5266944" y="3246120"/>
            <a:ext cx="1655064" cy="566928"/>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mbria" pitchFamily="34" charset="0"/>
                <a:ea typeface="Cambria" pitchFamily="34" charset="-122"/>
                <a:cs typeface="Cambria" pitchFamily="34" charset="-120"/>
              </a:rPr>
              <a:t>Production</a:t>
            </a:r>
            <a:endParaRPr lang="en-US" sz="1150" dirty="0"/>
          </a:p>
        </p:txBody>
      </p:sp>
      <p:sp>
        <p:nvSpPr>
          <p:cNvPr id="21" name="Text 14"/>
          <p:cNvSpPr/>
          <p:nvPr/>
        </p:nvSpPr>
        <p:spPr>
          <a:xfrm>
            <a:off x="5294376" y="3813048"/>
            <a:ext cx="1600200" cy="822960"/>
          </a:xfrm>
          <a:prstGeom prst="rect">
            <a:avLst/>
          </a:prstGeom>
          <a:noFill/>
          <a:ln/>
        </p:spPr>
        <p:txBody>
          <a:bodyPr wrap="square" lIns="0" tIns="0" rIns="0" bIns="0" rtlCol="0" anchor="ctr"/>
          <a:lstStyle/>
          <a:p>
            <a:pPr marL="0" indent="0" algn="ctr">
              <a:lnSpc>
                <a:spcPct val="120000"/>
              </a:lnSpc>
              <a:buNone/>
            </a:pPr>
            <a:r>
              <a:rPr lang="en-US" sz="900" dirty="0">
                <a:solidFill>
                  <a:srgbClr val="DCEAE0"/>
                </a:solidFill>
                <a:latin typeface="Calibri" pitchFamily="34" charset="0"/>
                <a:ea typeface="Calibri" pitchFamily="34" charset="-122"/>
                <a:cs typeface="Calibri" pitchFamily="34" charset="-120"/>
              </a:rPr>
              <a:t>Quality-controlled manufacturing of finished consumer products.</a:t>
            </a:r>
            <a:endParaRPr lang="en-US" sz="900" dirty="0"/>
          </a:p>
        </p:txBody>
      </p:sp>
      <p:pic>
        <p:nvPicPr>
          <p:cNvPr id="22" name="Image 5" descr="assets/icons/arrowright_green.png"/>
          <p:cNvPicPr>
            <a:picLocks noChangeAspect="1"/>
          </p:cNvPicPr>
          <p:nvPr/>
        </p:nvPicPr>
        <p:blipFill>
          <a:blip r:embed="rId5"/>
          <a:stretch>
            <a:fillRect/>
          </a:stretch>
        </p:blipFill>
        <p:spPr>
          <a:xfrm>
            <a:off x="7104888" y="3378708"/>
            <a:ext cx="237744" cy="237744"/>
          </a:xfrm>
          <a:prstGeom prst="rect">
            <a:avLst/>
          </a:prstGeom>
        </p:spPr>
      </p:pic>
      <p:sp>
        <p:nvSpPr>
          <p:cNvPr id="23" name="Shape 15"/>
          <p:cNvSpPr/>
          <p:nvPr/>
        </p:nvSpPr>
        <p:spPr>
          <a:xfrm>
            <a:off x="7415784" y="2331720"/>
            <a:ext cx="1874520" cy="2331720"/>
          </a:xfrm>
          <a:prstGeom prst="roundRect">
            <a:avLst>
              <a:gd name="adj" fmla="val 4878"/>
            </a:avLst>
          </a:prstGeom>
          <a:solidFill>
            <a:srgbClr val="1B4332"/>
          </a:solidFill>
          <a:ln/>
          <a:effectLst>
            <a:outerShdw blurRad="127000" dist="38100" dir="5400000" algn="bl" rotWithShape="0">
              <a:srgbClr val="1B4332">
                <a:alpha val="10000"/>
              </a:srgbClr>
            </a:outerShdw>
          </a:effectLst>
        </p:spPr>
      </p:sp>
      <p:sp>
        <p:nvSpPr>
          <p:cNvPr id="24" name="Shape 16"/>
          <p:cNvSpPr/>
          <p:nvPr/>
        </p:nvSpPr>
        <p:spPr>
          <a:xfrm>
            <a:off x="8101584" y="2587752"/>
            <a:ext cx="502920" cy="502920"/>
          </a:xfrm>
          <a:prstGeom prst="ellipse">
            <a:avLst/>
          </a:prstGeom>
          <a:solidFill>
            <a:srgbClr val="FFFFFF">
              <a:alpha val="12000"/>
            </a:srgbClr>
          </a:solidFill>
          <a:ln/>
        </p:spPr>
      </p:sp>
      <p:pic>
        <p:nvPicPr>
          <p:cNvPr id="25" name="Image 6" descr="assets/icons/handshake_white.png"/>
          <p:cNvPicPr>
            <a:picLocks noChangeAspect="1"/>
          </p:cNvPicPr>
          <p:nvPr/>
        </p:nvPicPr>
        <p:blipFill>
          <a:blip r:embed="rId8"/>
          <a:stretch>
            <a:fillRect/>
          </a:stretch>
        </p:blipFill>
        <p:spPr>
          <a:xfrm>
            <a:off x="8225028" y="2715768"/>
            <a:ext cx="256032" cy="256032"/>
          </a:xfrm>
          <a:prstGeom prst="rect">
            <a:avLst/>
          </a:prstGeom>
        </p:spPr>
      </p:pic>
      <p:sp>
        <p:nvSpPr>
          <p:cNvPr id="26" name="Text 17"/>
          <p:cNvSpPr/>
          <p:nvPr/>
        </p:nvSpPr>
        <p:spPr>
          <a:xfrm>
            <a:off x="7525512" y="3246120"/>
            <a:ext cx="1655064" cy="566928"/>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mbria" pitchFamily="34" charset="0"/>
                <a:ea typeface="Cambria" pitchFamily="34" charset="-122"/>
                <a:cs typeface="Cambria" pitchFamily="34" charset="-120"/>
              </a:rPr>
              <a:t>Distribution &amp; Retail</a:t>
            </a:r>
            <a:endParaRPr lang="en-US" sz="1150" dirty="0"/>
          </a:p>
        </p:txBody>
      </p:sp>
      <p:sp>
        <p:nvSpPr>
          <p:cNvPr id="27" name="Text 18"/>
          <p:cNvSpPr/>
          <p:nvPr/>
        </p:nvSpPr>
        <p:spPr>
          <a:xfrm>
            <a:off x="7552944" y="3813048"/>
            <a:ext cx="1600200" cy="822960"/>
          </a:xfrm>
          <a:prstGeom prst="rect">
            <a:avLst/>
          </a:prstGeom>
          <a:noFill/>
          <a:ln/>
        </p:spPr>
        <p:txBody>
          <a:bodyPr wrap="square" lIns="0" tIns="0" rIns="0" bIns="0" rtlCol="0" anchor="ctr"/>
          <a:lstStyle/>
          <a:p>
            <a:pPr marL="0" indent="0" algn="ctr">
              <a:lnSpc>
                <a:spcPct val="120000"/>
              </a:lnSpc>
              <a:buNone/>
            </a:pPr>
            <a:r>
              <a:rPr lang="en-US" sz="900" dirty="0">
                <a:solidFill>
                  <a:srgbClr val="DCEAE0"/>
                </a:solidFill>
                <a:latin typeface="Calibri" pitchFamily="34" charset="0"/>
                <a:ea typeface="Calibri" pitchFamily="34" charset="-122"/>
                <a:cs typeface="Calibri" pitchFamily="34" charset="-120"/>
              </a:rPr>
              <a:t>Routes to market via retail, wholesale, and direct channels.</a:t>
            </a:r>
            <a:endParaRPr lang="en-US" sz="900" dirty="0"/>
          </a:p>
        </p:txBody>
      </p:sp>
      <p:pic>
        <p:nvPicPr>
          <p:cNvPr id="28" name="Image 7" descr="assets/icons/arrowright_green.png"/>
          <p:cNvPicPr>
            <a:picLocks noChangeAspect="1"/>
          </p:cNvPicPr>
          <p:nvPr/>
        </p:nvPicPr>
        <p:blipFill>
          <a:blip r:embed="rId5"/>
          <a:stretch>
            <a:fillRect/>
          </a:stretch>
        </p:blipFill>
        <p:spPr>
          <a:xfrm>
            <a:off x="9363456" y="3378708"/>
            <a:ext cx="237744" cy="237744"/>
          </a:xfrm>
          <a:prstGeom prst="rect">
            <a:avLst/>
          </a:prstGeom>
        </p:spPr>
      </p:pic>
      <p:sp>
        <p:nvSpPr>
          <p:cNvPr id="29" name="Shape 19"/>
          <p:cNvSpPr/>
          <p:nvPr/>
        </p:nvSpPr>
        <p:spPr>
          <a:xfrm>
            <a:off x="9674352" y="2331720"/>
            <a:ext cx="1874520" cy="2331720"/>
          </a:xfrm>
          <a:prstGeom prst="roundRect">
            <a:avLst>
              <a:gd name="adj" fmla="val 4878"/>
            </a:avLst>
          </a:prstGeom>
          <a:solidFill>
            <a:srgbClr val="1B4332"/>
          </a:solidFill>
          <a:ln/>
          <a:effectLst>
            <a:outerShdw blurRad="127000" dist="38100" dir="5400000" algn="bl" rotWithShape="0">
              <a:srgbClr val="1B4332">
                <a:alpha val="10000"/>
              </a:srgbClr>
            </a:outerShdw>
          </a:effectLst>
        </p:spPr>
      </p:sp>
      <p:sp>
        <p:nvSpPr>
          <p:cNvPr id="30" name="Shape 20"/>
          <p:cNvSpPr/>
          <p:nvPr/>
        </p:nvSpPr>
        <p:spPr>
          <a:xfrm>
            <a:off x="10360152" y="2587752"/>
            <a:ext cx="502920" cy="502920"/>
          </a:xfrm>
          <a:prstGeom prst="ellipse">
            <a:avLst/>
          </a:prstGeom>
          <a:solidFill>
            <a:srgbClr val="FFFFFF">
              <a:alpha val="12000"/>
            </a:srgbClr>
          </a:solidFill>
          <a:ln/>
        </p:spPr>
      </p:sp>
      <p:pic>
        <p:nvPicPr>
          <p:cNvPr id="31" name="Image 8" descr="assets/icons/users_white.png"/>
          <p:cNvPicPr>
            <a:picLocks noChangeAspect="1"/>
          </p:cNvPicPr>
          <p:nvPr/>
        </p:nvPicPr>
        <p:blipFill>
          <a:blip r:embed="rId9"/>
          <a:stretch>
            <a:fillRect/>
          </a:stretch>
        </p:blipFill>
        <p:spPr>
          <a:xfrm>
            <a:off x="10483596" y="2715768"/>
            <a:ext cx="256032" cy="256032"/>
          </a:xfrm>
          <a:prstGeom prst="rect">
            <a:avLst/>
          </a:prstGeom>
        </p:spPr>
      </p:pic>
      <p:sp>
        <p:nvSpPr>
          <p:cNvPr id="32" name="Text 21"/>
          <p:cNvSpPr/>
          <p:nvPr/>
        </p:nvSpPr>
        <p:spPr>
          <a:xfrm>
            <a:off x="9784080" y="3246120"/>
            <a:ext cx="1655064" cy="566928"/>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mbria" pitchFamily="34" charset="0"/>
                <a:ea typeface="Cambria" pitchFamily="34" charset="-122"/>
                <a:cs typeface="Cambria" pitchFamily="34" charset="-120"/>
              </a:rPr>
              <a:t>Consumers &amp; Institutions</a:t>
            </a:r>
            <a:endParaRPr lang="en-US" sz="1150" dirty="0"/>
          </a:p>
        </p:txBody>
      </p:sp>
      <p:sp>
        <p:nvSpPr>
          <p:cNvPr id="33" name="Text 22"/>
          <p:cNvSpPr/>
          <p:nvPr/>
        </p:nvSpPr>
        <p:spPr>
          <a:xfrm>
            <a:off x="9811512" y="3813048"/>
            <a:ext cx="1600200" cy="822960"/>
          </a:xfrm>
          <a:prstGeom prst="rect">
            <a:avLst/>
          </a:prstGeom>
          <a:noFill/>
          <a:ln/>
        </p:spPr>
        <p:txBody>
          <a:bodyPr wrap="square" lIns="0" tIns="0" rIns="0" bIns="0" rtlCol="0" anchor="ctr"/>
          <a:lstStyle/>
          <a:p>
            <a:pPr marL="0" indent="0" algn="ctr">
              <a:lnSpc>
                <a:spcPct val="120000"/>
              </a:lnSpc>
              <a:buNone/>
            </a:pPr>
            <a:r>
              <a:rPr lang="en-US" sz="900" dirty="0">
                <a:solidFill>
                  <a:srgbClr val="DCEAE0"/>
                </a:solidFill>
                <a:latin typeface="Calibri" pitchFamily="34" charset="0"/>
                <a:ea typeface="Calibri" pitchFamily="34" charset="-122"/>
                <a:cs typeface="Calibri" pitchFamily="34" charset="-120"/>
              </a:rPr>
              <a:t>Households, businesses, NGOs, and government bodies.</a:t>
            </a:r>
            <a:endParaRPr lang="en-US" sz="900" dirty="0"/>
          </a:p>
        </p:txBody>
      </p:sp>
      <p:sp>
        <p:nvSpPr>
          <p:cNvPr id="34" name="Shape 23"/>
          <p:cNvSpPr/>
          <p:nvPr/>
        </p:nvSpPr>
        <p:spPr>
          <a:xfrm>
            <a:off x="640080" y="5029200"/>
            <a:ext cx="10881360" cy="1097280"/>
          </a:xfrm>
          <a:prstGeom prst="roundRect">
            <a:avLst>
              <a:gd name="adj" fmla="val 8333"/>
            </a:avLst>
          </a:prstGeom>
          <a:solidFill>
            <a:srgbClr val="FAF9F6"/>
          </a:solidFill>
          <a:ln w="9525">
            <a:solidFill>
              <a:srgbClr val="E3E6E0"/>
            </a:solidFill>
            <a:prstDash val="solid"/>
          </a:ln>
        </p:spPr>
      </p:sp>
      <p:pic>
        <p:nvPicPr>
          <p:cNvPr id="35" name="Image 9" descr="assets/icons/chartline_deep.png"/>
          <p:cNvPicPr>
            <a:picLocks noChangeAspect="1"/>
          </p:cNvPicPr>
          <p:nvPr/>
        </p:nvPicPr>
        <p:blipFill>
          <a:blip r:embed="rId10"/>
          <a:stretch>
            <a:fillRect/>
          </a:stretch>
        </p:blipFill>
        <p:spPr>
          <a:xfrm>
            <a:off x="914400" y="5349240"/>
            <a:ext cx="365760" cy="365760"/>
          </a:xfrm>
          <a:prstGeom prst="rect">
            <a:avLst/>
          </a:prstGeom>
        </p:spPr>
      </p:pic>
      <p:sp>
        <p:nvSpPr>
          <p:cNvPr id="36" name="Text 24"/>
          <p:cNvSpPr/>
          <p:nvPr/>
        </p:nvSpPr>
        <p:spPr>
          <a:xfrm>
            <a:off x="1417320" y="5285232"/>
            <a:ext cx="2743200" cy="274320"/>
          </a:xfrm>
          <a:prstGeom prst="rect">
            <a:avLst/>
          </a:prstGeom>
          <a:noFill/>
          <a:ln/>
        </p:spPr>
        <p:txBody>
          <a:bodyPr wrap="square" lIns="0" tIns="0" rIns="0" bIns="0" rtlCol="0" anchor="ctr"/>
          <a:lstStyle/>
          <a:p>
            <a:pPr marL="0" indent="0">
              <a:buNone/>
            </a:pPr>
            <a:r>
              <a:rPr lang="en-US" sz="1050" b="1" kern="0" spc="120" dirty="0">
                <a:solidFill>
                  <a:srgbClr val="2D6A4F"/>
                </a:solidFill>
                <a:latin typeface="Calibri" pitchFamily="34" charset="0"/>
                <a:ea typeface="Calibri" pitchFamily="34" charset="-122"/>
                <a:cs typeface="Calibri" pitchFamily="34" charset="-120"/>
              </a:rPr>
              <a:t>REVENUE STREAMS</a:t>
            </a:r>
            <a:endParaRPr lang="en-US" sz="1050" dirty="0"/>
          </a:p>
        </p:txBody>
      </p:sp>
      <p:sp>
        <p:nvSpPr>
          <p:cNvPr id="37" name="Text 25"/>
          <p:cNvSpPr/>
          <p:nvPr/>
        </p:nvSpPr>
        <p:spPr>
          <a:xfrm>
            <a:off x="1417320" y="5559552"/>
            <a:ext cx="9784080" cy="457200"/>
          </a:xfrm>
          <a:prstGeom prst="rect">
            <a:avLst/>
          </a:prstGeom>
          <a:noFill/>
          <a:ln/>
        </p:spPr>
        <p:txBody>
          <a:bodyPr wrap="square" lIns="0" tIns="0" rIns="0" bIns="0" rtlCol="0" anchor="ctr"/>
          <a:lstStyle/>
          <a:p>
            <a:pPr marL="0" indent="0">
              <a:buNone/>
            </a:pPr>
            <a:r>
              <a:rPr lang="en-US" sz="1150" dirty="0">
                <a:solidFill>
                  <a:srgbClr val="3F4A42"/>
                </a:solidFill>
                <a:latin typeface="Calibri" pitchFamily="34" charset="0"/>
                <a:ea typeface="Calibri" pitchFamily="34" charset="-122"/>
                <a:cs typeface="Calibri" pitchFamily="34" charset="-120"/>
              </a:rPr>
              <a:t>Direct retail sales  •  Wholesale &amp; distributor partnerships  •  Institutional &amp; bulk supply contracts  •  Future private-label &amp; licensing opportunities</a:t>
            </a:r>
            <a:endParaRPr lang="en-US" sz="1150" dirty="0"/>
          </a:p>
        </p:txBody>
      </p:sp>
      <p:sp>
        <p:nvSpPr>
          <p:cNvPr id="38" name="Text 26"/>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39" name="Text 27"/>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OUR ORGANISATIONAL STRUCTURE</a:t>
            </a:r>
            <a:endParaRPr lang="en-US" sz="1250" dirty="0"/>
          </a:p>
        </p:txBody>
      </p:sp>
      <p:sp>
        <p:nvSpPr>
          <p:cNvPr id="3" name="Text 1"/>
          <p:cNvSpPr/>
          <p:nvPr/>
        </p:nvSpPr>
        <p:spPr>
          <a:xfrm>
            <a:off x="640080" y="804672"/>
            <a:ext cx="9601200" cy="640080"/>
          </a:xfrm>
          <a:prstGeom prst="rect">
            <a:avLst/>
          </a:prstGeom>
          <a:noFill/>
          <a:ln/>
        </p:spPr>
        <p:txBody>
          <a:bodyPr wrap="square" lIns="0" tIns="0" rIns="0" bIns="0" rtlCol="0" anchor="ctr"/>
          <a:lstStyle/>
          <a:p>
            <a:pPr marL="0" indent="0">
              <a:buNone/>
            </a:pPr>
            <a:r>
              <a:rPr lang="en-US" sz="2800" b="1" dirty="0">
                <a:solidFill>
                  <a:srgbClr val="1A2B22"/>
                </a:solidFill>
                <a:latin typeface="Cambria" pitchFamily="34" charset="0"/>
                <a:ea typeface="Cambria" pitchFamily="34" charset="-122"/>
                <a:cs typeface="Cambria" pitchFamily="34" charset="-120"/>
              </a:rPr>
              <a:t>Governance &amp; Ownership Structure</a:t>
            </a:r>
            <a:endParaRPr lang="en-US" sz="2800" dirty="0"/>
          </a:p>
        </p:txBody>
      </p:sp>
      <p:sp>
        <p:nvSpPr>
          <p:cNvPr id="4" name="Shape 2"/>
          <p:cNvSpPr/>
          <p:nvPr/>
        </p:nvSpPr>
        <p:spPr>
          <a:xfrm>
            <a:off x="3803904" y="1600200"/>
            <a:ext cx="4572000" cy="868680"/>
          </a:xfrm>
          <a:prstGeom prst="roundRect">
            <a:avLst>
              <a:gd name="adj" fmla="val 10526"/>
            </a:avLst>
          </a:prstGeom>
          <a:solidFill>
            <a:srgbClr val="1B4332"/>
          </a:solidFill>
          <a:ln/>
          <a:effectLst>
            <a:outerShdw blurRad="127000" dist="38100" dir="5400000" algn="bl" rotWithShape="0">
              <a:srgbClr val="1B4332">
                <a:alpha val="10000"/>
              </a:srgbClr>
            </a:outerShdw>
          </a:effectLst>
        </p:spPr>
      </p:sp>
      <p:sp>
        <p:nvSpPr>
          <p:cNvPr id="5" name="Text 3"/>
          <p:cNvSpPr/>
          <p:nvPr/>
        </p:nvSpPr>
        <p:spPr>
          <a:xfrm>
            <a:off x="3803904" y="1709928"/>
            <a:ext cx="4572000" cy="274320"/>
          </a:xfrm>
          <a:prstGeom prst="rect">
            <a:avLst/>
          </a:prstGeom>
          <a:noFill/>
          <a:ln/>
        </p:spPr>
        <p:txBody>
          <a:bodyPr wrap="square" lIns="0" tIns="0" rIns="0" bIns="0" rtlCol="0" anchor="ctr"/>
          <a:lstStyle/>
          <a:p>
            <a:pPr marL="0" indent="0" algn="ctr">
              <a:buNone/>
            </a:pPr>
            <a:r>
              <a:rPr lang="en-US" sz="1050" b="1" kern="0" spc="140" dirty="0">
                <a:solidFill>
                  <a:srgbClr val="95D5B2"/>
                </a:solidFill>
                <a:latin typeface="Calibri" pitchFamily="34" charset="0"/>
                <a:ea typeface="Calibri" pitchFamily="34" charset="-122"/>
                <a:cs typeface="Calibri" pitchFamily="34" charset="-120"/>
              </a:rPr>
              <a:t>BOARD OF DIRECTORS</a:t>
            </a:r>
            <a:endParaRPr lang="en-US" sz="1050" dirty="0"/>
          </a:p>
        </p:txBody>
      </p:sp>
      <p:sp>
        <p:nvSpPr>
          <p:cNvPr id="6" name="Text 4"/>
          <p:cNvSpPr/>
          <p:nvPr/>
        </p:nvSpPr>
        <p:spPr>
          <a:xfrm>
            <a:off x="3803904" y="1975104"/>
            <a:ext cx="4572000" cy="41148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Sarah Mwuese Benjamin  &amp;  Zulfikar Aliyu Adamu</a:t>
            </a:r>
            <a:endParaRPr lang="en-US" sz="1350" dirty="0"/>
          </a:p>
        </p:txBody>
      </p:sp>
      <p:sp>
        <p:nvSpPr>
          <p:cNvPr id="7" name="Shape 5"/>
          <p:cNvSpPr/>
          <p:nvPr/>
        </p:nvSpPr>
        <p:spPr>
          <a:xfrm>
            <a:off x="6094476" y="2468880"/>
            <a:ext cx="0" cy="365760"/>
          </a:xfrm>
          <a:prstGeom prst="line">
            <a:avLst/>
          </a:prstGeom>
          <a:noFill/>
          <a:ln w="19050">
            <a:solidFill>
              <a:srgbClr val="E3E6E0"/>
            </a:solidFill>
            <a:prstDash val="solid"/>
          </a:ln>
        </p:spPr>
      </p:sp>
      <p:sp>
        <p:nvSpPr>
          <p:cNvPr id="8" name="Shape 6"/>
          <p:cNvSpPr/>
          <p:nvPr/>
        </p:nvSpPr>
        <p:spPr>
          <a:xfrm>
            <a:off x="1691640" y="2834640"/>
            <a:ext cx="8805672" cy="0"/>
          </a:xfrm>
          <a:prstGeom prst="line">
            <a:avLst/>
          </a:prstGeom>
          <a:noFill/>
          <a:ln w="19050">
            <a:solidFill>
              <a:srgbClr val="E3E6E0"/>
            </a:solidFill>
            <a:prstDash val="solid"/>
          </a:ln>
        </p:spPr>
      </p:sp>
      <p:sp>
        <p:nvSpPr>
          <p:cNvPr id="9" name="Shape 7"/>
          <p:cNvSpPr/>
          <p:nvPr/>
        </p:nvSpPr>
        <p:spPr>
          <a:xfrm>
            <a:off x="3200400" y="2834640"/>
            <a:ext cx="0" cy="320040"/>
          </a:xfrm>
          <a:prstGeom prst="line">
            <a:avLst/>
          </a:prstGeom>
          <a:noFill/>
          <a:ln w="19050">
            <a:solidFill>
              <a:srgbClr val="E3E6E0"/>
            </a:solidFill>
            <a:prstDash val="solid"/>
          </a:ln>
        </p:spPr>
      </p:sp>
      <p:sp>
        <p:nvSpPr>
          <p:cNvPr id="10" name="Shape 8"/>
          <p:cNvSpPr/>
          <p:nvPr/>
        </p:nvSpPr>
        <p:spPr>
          <a:xfrm>
            <a:off x="1828800" y="3154680"/>
            <a:ext cx="2743200" cy="1143000"/>
          </a:xfrm>
          <a:prstGeom prst="roundRect">
            <a:avLst>
              <a:gd name="adj" fmla="val 8000"/>
            </a:avLst>
          </a:prstGeom>
          <a:solidFill>
            <a:srgbClr val="FAF9F6"/>
          </a:solidFill>
          <a:ln w="9525">
            <a:solidFill>
              <a:srgbClr val="E3E6E0"/>
            </a:solidFill>
            <a:prstDash val="solid"/>
          </a:ln>
        </p:spPr>
      </p:sp>
      <p:sp>
        <p:nvSpPr>
          <p:cNvPr id="11" name="Shape 9"/>
          <p:cNvSpPr/>
          <p:nvPr/>
        </p:nvSpPr>
        <p:spPr>
          <a:xfrm>
            <a:off x="1993392" y="3310128"/>
            <a:ext cx="457200" cy="457200"/>
          </a:xfrm>
          <a:prstGeom prst="ellipse">
            <a:avLst/>
          </a:prstGeom>
          <a:solidFill>
            <a:srgbClr val="D8E8DC"/>
          </a:solidFill>
          <a:ln/>
        </p:spPr>
      </p:sp>
      <p:pic>
        <p:nvPicPr>
          <p:cNvPr id="12" name="Image 0" descr="assets/icons/usertie_deep.png"/>
          <p:cNvPicPr>
            <a:picLocks noChangeAspect="1"/>
          </p:cNvPicPr>
          <p:nvPr/>
        </p:nvPicPr>
        <p:blipFill>
          <a:blip r:embed="rId4"/>
          <a:stretch>
            <a:fillRect/>
          </a:stretch>
        </p:blipFill>
        <p:spPr>
          <a:xfrm>
            <a:off x="2093976" y="3410712"/>
            <a:ext cx="256032" cy="256032"/>
          </a:xfrm>
          <a:prstGeom prst="rect">
            <a:avLst/>
          </a:prstGeom>
        </p:spPr>
      </p:pic>
      <p:sp>
        <p:nvSpPr>
          <p:cNvPr id="13" name="Text 10"/>
          <p:cNvSpPr/>
          <p:nvPr/>
        </p:nvSpPr>
        <p:spPr>
          <a:xfrm>
            <a:off x="2560320" y="3246120"/>
            <a:ext cx="1920240" cy="320040"/>
          </a:xfrm>
          <a:prstGeom prst="rect">
            <a:avLst/>
          </a:prstGeom>
          <a:noFill/>
          <a:ln/>
        </p:spPr>
        <p:txBody>
          <a:bodyPr wrap="square" lIns="0" tIns="0" rIns="0" bIns="0" rtlCol="0" anchor="ctr"/>
          <a:lstStyle/>
          <a:p>
            <a:pPr marL="0" indent="0">
              <a:buNone/>
            </a:pPr>
            <a:r>
              <a:rPr lang="en-US" sz="1150" b="1" dirty="0">
                <a:solidFill>
                  <a:srgbClr val="1A2B22"/>
                </a:solidFill>
                <a:latin typeface="Cambria" pitchFamily="34" charset="0"/>
                <a:ea typeface="Cambria" pitchFamily="34" charset="-122"/>
                <a:cs typeface="Cambria" pitchFamily="34" charset="-120"/>
              </a:rPr>
              <a:t>Sarah Mwuese Benjamin</a:t>
            </a:r>
            <a:endParaRPr lang="en-US" sz="1150" dirty="0"/>
          </a:p>
        </p:txBody>
      </p:sp>
      <p:sp>
        <p:nvSpPr>
          <p:cNvPr id="14" name="Text 11"/>
          <p:cNvSpPr/>
          <p:nvPr/>
        </p:nvSpPr>
        <p:spPr>
          <a:xfrm>
            <a:off x="2560320" y="3520440"/>
            <a:ext cx="1920240" cy="228600"/>
          </a:xfrm>
          <a:prstGeom prst="rect">
            <a:avLst/>
          </a:prstGeom>
          <a:noFill/>
          <a:ln/>
        </p:spPr>
        <p:txBody>
          <a:bodyPr wrap="square" lIns="0" tIns="0" rIns="0" bIns="0" rtlCol="0" anchor="ctr"/>
          <a:lstStyle/>
          <a:p>
            <a:pPr marL="0" indent="0">
              <a:buNone/>
            </a:pPr>
            <a:r>
              <a:rPr lang="en-US" sz="950" b="1" dirty="0">
                <a:solidFill>
                  <a:srgbClr val="2D6A4F"/>
                </a:solidFill>
                <a:latin typeface="Calibri" pitchFamily="34" charset="0"/>
                <a:ea typeface="Calibri" pitchFamily="34" charset="-122"/>
                <a:cs typeface="Calibri" pitchFamily="34" charset="-120"/>
              </a:rPr>
              <a:t>Director</a:t>
            </a:r>
            <a:endParaRPr lang="en-US" sz="950" dirty="0"/>
          </a:p>
        </p:txBody>
      </p:sp>
      <p:sp>
        <p:nvSpPr>
          <p:cNvPr id="15" name="Text 12"/>
          <p:cNvSpPr/>
          <p:nvPr/>
        </p:nvSpPr>
        <p:spPr>
          <a:xfrm>
            <a:off x="1993392" y="3822192"/>
            <a:ext cx="2423160" cy="365760"/>
          </a:xfrm>
          <a:prstGeom prst="rect">
            <a:avLst/>
          </a:prstGeom>
          <a:noFill/>
          <a:ln/>
        </p:spPr>
        <p:txBody>
          <a:bodyPr wrap="square" lIns="0" tIns="0" rIns="0" bIns="0" rtlCol="0" anchor="ctr"/>
          <a:lstStyle/>
          <a:p>
            <a:pPr marL="0" indent="0">
              <a:buNone/>
            </a:pPr>
            <a:r>
              <a:rPr lang="en-US" sz="850" dirty="0">
                <a:solidFill>
                  <a:srgbClr val="6B7A70"/>
                </a:solidFill>
                <a:latin typeface="Calibri" pitchFamily="34" charset="0"/>
                <a:ea typeface="Calibri" pitchFamily="34" charset="-122"/>
                <a:cs typeface="Calibri" pitchFamily="34" charset="-120"/>
              </a:rPr>
              <a:t>20% shareholding · Appointed 30 Aug 2025</a:t>
            </a:r>
            <a:endParaRPr lang="en-US" sz="850" dirty="0"/>
          </a:p>
        </p:txBody>
      </p:sp>
      <p:sp>
        <p:nvSpPr>
          <p:cNvPr id="16" name="Shape 13"/>
          <p:cNvSpPr/>
          <p:nvPr/>
        </p:nvSpPr>
        <p:spPr>
          <a:xfrm>
            <a:off x="8074152" y="2834640"/>
            <a:ext cx="0" cy="320040"/>
          </a:xfrm>
          <a:prstGeom prst="line">
            <a:avLst/>
          </a:prstGeom>
          <a:noFill/>
          <a:ln w="19050">
            <a:solidFill>
              <a:srgbClr val="E3E6E0"/>
            </a:solidFill>
            <a:prstDash val="solid"/>
          </a:ln>
        </p:spPr>
      </p:sp>
      <p:sp>
        <p:nvSpPr>
          <p:cNvPr id="17" name="Shape 14"/>
          <p:cNvSpPr/>
          <p:nvPr/>
        </p:nvSpPr>
        <p:spPr>
          <a:xfrm>
            <a:off x="6702552" y="3154680"/>
            <a:ext cx="2743200" cy="1143000"/>
          </a:xfrm>
          <a:prstGeom prst="roundRect">
            <a:avLst>
              <a:gd name="adj" fmla="val 8000"/>
            </a:avLst>
          </a:prstGeom>
          <a:solidFill>
            <a:srgbClr val="FAF9F6"/>
          </a:solidFill>
          <a:ln w="9525">
            <a:solidFill>
              <a:srgbClr val="E3E6E0"/>
            </a:solidFill>
            <a:prstDash val="solid"/>
          </a:ln>
        </p:spPr>
      </p:sp>
      <p:sp>
        <p:nvSpPr>
          <p:cNvPr id="18" name="Shape 15"/>
          <p:cNvSpPr/>
          <p:nvPr/>
        </p:nvSpPr>
        <p:spPr>
          <a:xfrm>
            <a:off x="6867144" y="3310128"/>
            <a:ext cx="457200" cy="457200"/>
          </a:xfrm>
          <a:prstGeom prst="ellipse">
            <a:avLst/>
          </a:prstGeom>
          <a:solidFill>
            <a:srgbClr val="D8E8DC"/>
          </a:solidFill>
          <a:ln/>
        </p:spPr>
      </p:sp>
      <p:pic>
        <p:nvPicPr>
          <p:cNvPr id="19" name="Image 1" descr="assets/icons/usertie_deep.png"/>
          <p:cNvPicPr>
            <a:picLocks noChangeAspect="1"/>
          </p:cNvPicPr>
          <p:nvPr/>
        </p:nvPicPr>
        <p:blipFill>
          <a:blip r:embed="rId4"/>
          <a:stretch>
            <a:fillRect/>
          </a:stretch>
        </p:blipFill>
        <p:spPr>
          <a:xfrm>
            <a:off x="6967728" y="3410712"/>
            <a:ext cx="256032" cy="256032"/>
          </a:xfrm>
          <a:prstGeom prst="rect">
            <a:avLst/>
          </a:prstGeom>
        </p:spPr>
      </p:pic>
      <p:sp>
        <p:nvSpPr>
          <p:cNvPr id="20" name="Text 16"/>
          <p:cNvSpPr/>
          <p:nvPr/>
        </p:nvSpPr>
        <p:spPr>
          <a:xfrm>
            <a:off x="7434072" y="3246120"/>
            <a:ext cx="1920240" cy="320040"/>
          </a:xfrm>
          <a:prstGeom prst="rect">
            <a:avLst/>
          </a:prstGeom>
          <a:noFill/>
          <a:ln/>
        </p:spPr>
        <p:txBody>
          <a:bodyPr wrap="square" lIns="0" tIns="0" rIns="0" bIns="0" rtlCol="0" anchor="ctr"/>
          <a:lstStyle/>
          <a:p>
            <a:pPr marL="0" indent="0">
              <a:buNone/>
            </a:pPr>
            <a:r>
              <a:rPr lang="en-US" sz="1150" b="1" dirty="0">
                <a:solidFill>
                  <a:srgbClr val="1A2B22"/>
                </a:solidFill>
                <a:latin typeface="Cambria" pitchFamily="34" charset="0"/>
                <a:ea typeface="Cambria" pitchFamily="34" charset="-122"/>
                <a:cs typeface="Cambria" pitchFamily="34" charset="-120"/>
              </a:rPr>
              <a:t>Zulfikar Aliyu Adamu</a:t>
            </a:r>
            <a:endParaRPr lang="en-US" sz="1150" dirty="0"/>
          </a:p>
        </p:txBody>
      </p:sp>
      <p:sp>
        <p:nvSpPr>
          <p:cNvPr id="21" name="Text 17"/>
          <p:cNvSpPr/>
          <p:nvPr/>
        </p:nvSpPr>
        <p:spPr>
          <a:xfrm>
            <a:off x="7434072" y="3520440"/>
            <a:ext cx="1920240" cy="228600"/>
          </a:xfrm>
          <a:prstGeom prst="rect">
            <a:avLst/>
          </a:prstGeom>
          <a:noFill/>
          <a:ln/>
        </p:spPr>
        <p:txBody>
          <a:bodyPr wrap="square" lIns="0" tIns="0" rIns="0" bIns="0" rtlCol="0" anchor="ctr"/>
          <a:lstStyle/>
          <a:p>
            <a:pPr marL="0" indent="0">
              <a:buNone/>
            </a:pPr>
            <a:r>
              <a:rPr lang="en-US" sz="950" b="1" dirty="0">
                <a:solidFill>
                  <a:srgbClr val="2D6A4F"/>
                </a:solidFill>
                <a:latin typeface="Calibri" pitchFamily="34" charset="0"/>
                <a:ea typeface="Calibri" pitchFamily="34" charset="-122"/>
                <a:cs typeface="Calibri" pitchFamily="34" charset="-120"/>
              </a:rPr>
              <a:t>Director</a:t>
            </a:r>
            <a:endParaRPr lang="en-US" sz="950" dirty="0"/>
          </a:p>
        </p:txBody>
      </p:sp>
      <p:sp>
        <p:nvSpPr>
          <p:cNvPr id="22" name="Text 18"/>
          <p:cNvSpPr/>
          <p:nvPr/>
        </p:nvSpPr>
        <p:spPr>
          <a:xfrm>
            <a:off x="6867144" y="3822192"/>
            <a:ext cx="2423160" cy="365760"/>
          </a:xfrm>
          <a:prstGeom prst="rect">
            <a:avLst/>
          </a:prstGeom>
          <a:noFill/>
          <a:ln/>
        </p:spPr>
        <p:txBody>
          <a:bodyPr wrap="square" lIns="0" tIns="0" rIns="0" bIns="0" rtlCol="0" anchor="ctr"/>
          <a:lstStyle/>
          <a:p>
            <a:pPr marL="0" indent="0">
              <a:buNone/>
            </a:pPr>
            <a:r>
              <a:rPr lang="en-US" sz="850" dirty="0">
                <a:solidFill>
                  <a:srgbClr val="6B7A70"/>
                </a:solidFill>
                <a:latin typeface="Calibri" pitchFamily="34" charset="0"/>
                <a:ea typeface="Calibri" pitchFamily="34" charset="-122"/>
                <a:cs typeface="Calibri" pitchFamily="34" charset="-120"/>
              </a:rPr>
              <a:t>20% shareholding · Appointed 30 Aug 2025</a:t>
            </a:r>
            <a:endParaRPr lang="en-US" sz="850" dirty="0"/>
          </a:p>
        </p:txBody>
      </p:sp>
      <p:sp>
        <p:nvSpPr>
          <p:cNvPr id="23" name="Shape 19"/>
          <p:cNvSpPr/>
          <p:nvPr/>
        </p:nvSpPr>
        <p:spPr>
          <a:xfrm>
            <a:off x="6094476" y="2834640"/>
            <a:ext cx="0" cy="1417320"/>
          </a:xfrm>
          <a:prstGeom prst="line">
            <a:avLst/>
          </a:prstGeom>
          <a:noFill/>
          <a:ln w="19050">
            <a:solidFill>
              <a:srgbClr val="E3E6E0"/>
            </a:solidFill>
            <a:prstDash val="solid"/>
          </a:ln>
        </p:spPr>
      </p:sp>
      <p:sp>
        <p:nvSpPr>
          <p:cNvPr id="24" name="Shape 20"/>
          <p:cNvSpPr/>
          <p:nvPr/>
        </p:nvSpPr>
        <p:spPr>
          <a:xfrm>
            <a:off x="4261104" y="4251960"/>
            <a:ext cx="3657600" cy="502920"/>
          </a:xfrm>
          <a:prstGeom prst="roundRect">
            <a:avLst>
              <a:gd name="adj" fmla="val 14545"/>
            </a:avLst>
          </a:prstGeom>
          <a:solidFill>
            <a:srgbClr val="2D6A4F"/>
          </a:solidFill>
          <a:ln/>
        </p:spPr>
      </p:sp>
      <p:sp>
        <p:nvSpPr>
          <p:cNvPr id="25" name="Text 21"/>
          <p:cNvSpPr/>
          <p:nvPr/>
        </p:nvSpPr>
        <p:spPr>
          <a:xfrm>
            <a:off x="4261104" y="4251960"/>
            <a:ext cx="3657600" cy="502920"/>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8 FOUNDING SHAREHOLDERS  </a:t>
            </a:r>
            <a:endParaRPr lang="en-US" sz="1000" dirty="0"/>
          </a:p>
        </p:txBody>
      </p:sp>
      <p:sp>
        <p:nvSpPr>
          <p:cNvPr id="26" name="Shape 22"/>
          <p:cNvSpPr/>
          <p:nvPr/>
        </p:nvSpPr>
        <p:spPr>
          <a:xfrm>
            <a:off x="640080" y="4983480"/>
            <a:ext cx="10927080" cy="1417320"/>
          </a:xfrm>
          <a:prstGeom prst="roundRect">
            <a:avLst>
              <a:gd name="adj" fmla="val 6452"/>
            </a:avLst>
          </a:prstGeom>
          <a:solidFill>
            <a:srgbClr val="FAF9F6"/>
          </a:solidFill>
          <a:ln w="9525">
            <a:solidFill>
              <a:srgbClr val="E3E6E0"/>
            </a:solidFill>
            <a:prstDash val="solid"/>
          </a:ln>
        </p:spPr>
      </p:sp>
      <p:sp>
        <p:nvSpPr>
          <p:cNvPr id="27" name="Text 23"/>
          <p:cNvSpPr/>
          <p:nvPr/>
        </p:nvSpPr>
        <p:spPr>
          <a:xfrm>
            <a:off x="914400" y="5120640"/>
            <a:ext cx="5486400" cy="274320"/>
          </a:xfrm>
          <a:prstGeom prst="rect">
            <a:avLst/>
          </a:prstGeom>
          <a:noFill/>
          <a:ln/>
        </p:spPr>
        <p:txBody>
          <a:bodyPr wrap="square" lIns="0" tIns="0" rIns="0" bIns="0" rtlCol="0" anchor="ctr"/>
          <a:lstStyle/>
          <a:p>
            <a:pPr marL="0" indent="0">
              <a:buNone/>
            </a:pPr>
            <a:r>
              <a:rPr lang="en-US" sz="1000" b="1" kern="0" spc="120" dirty="0">
                <a:solidFill>
                  <a:srgbClr val="2D6A4F"/>
                </a:solidFill>
                <a:latin typeface="Calibri" pitchFamily="34" charset="0"/>
                <a:ea typeface="Calibri" pitchFamily="34" charset="-122"/>
                <a:cs typeface="Calibri" pitchFamily="34" charset="-120"/>
              </a:rPr>
              <a:t>FOUNDING SHAREHOLDER REGISTER</a:t>
            </a:r>
            <a:endParaRPr lang="en-US" sz="1000" dirty="0"/>
          </a:p>
        </p:txBody>
      </p:sp>
      <p:sp>
        <p:nvSpPr>
          <p:cNvPr id="28" name="Text 24"/>
          <p:cNvSpPr/>
          <p:nvPr/>
        </p:nvSpPr>
        <p:spPr>
          <a:xfrm>
            <a:off x="914400" y="5440680"/>
            <a:ext cx="1965960" cy="274320"/>
          </a:xfrm>
          <a:prstGeom prst="rect">
            <a:avLst/>
          </a:prstGeom>
          <a:noFill/>
          <a:ln/>
        </p:spPr>
        <p:txBody>
          <a:bodyPr wrap="square" lIns="0" tIns="0" rIns="0" bIns="0" rtlCol="0" anchor="ctr"/>
          <a:lstStyle/>
          <a:p>
            <a:pPr marL="0" indent="0">
              <a:buNone/>
            </a:pPr>
            <a:r>
              <a:rPr lang="en-US" sz="950" dirty="0">
                <a:solidFill>
                  <a:srgbClr val="1A2B22"/>
                </a:solidFill>
                <a:latin typeface="Calibri" pitchFamily="34" charset="0"/>
                <a:ea typeface="Calibri" pitchFamily="34" charset="-122"/>
                <a:cs typeface="Calibri" pitchFamily="34" charset="-120"/>
              </a:rPr>
              <a:t>Sarah M. Benjamin</a:t>
            </a:r>
            <a:endParaRPr lang="en-US" sz="950" dirty="0"/>
          </a:p>
        </p:txBody>
      </p:sp>
      <p:sp>
        <p:nvSpPr>
          <p:cNvPr id="29" name="Text 25"/>
          <p:cNvSpPr/>
          <p:nvPr/>
        </p:nvSpPr>
        <p:spPr>
          <a:xfrm>
            <a:off x="2743200" y="5440680"/>
            <a:ext cx="640080" cy="274320"/>
          </a:xfrm>
          <a:prstGeom prst="rect">
            <a:avLst/>
          </a:prstGeom>
          <a:noFill/>
          <a:ln/>
        </p:spPr>
        <p:txBody>
          <a:bodyPr wrap="square" lIns="0" tIns="0" rIns="0" bIns="0" rtlCol="0" anchor="ctr"/>
          <a:lstStyle/>
          <a:p>
            <a:pPr marL="0" indent="0" algn="r">
              <a:buNone/>
            </a:pPr>
            <a:r>
              <a:rPr lang="en-US" sz="950" b="1" dirty="0">
                <a:solidFill>
                  <a:srgbClr val="2D6A4F"/>
                </a:solidFill>
                <a:latin typeface="Calibri" pitchFamily="34" charset="0"/>
                <a:ea typeface="Calibri" pitchFamily="34" charset="-122"/>
                <a:cs typeface="Calibri" pitchFamily="34" charset="-120"/>
              </a:rPr>
              <a:t>20%</a:t>
            </a:r>
            <a:endParaRPr lang="en-US" sz="950" dirty="0"/>
          </a:p>
        </p:txBody>
      </p:sp>
      <p:sp>
        <p:nvSpPr>
          <p:cNvPr id="30" name="Text 26"/>
          <p:cNvSpPr/>
          <p:nvPr/>
        </p:nvSpPr>
        <p:spPr>
          <a:xfrm>
            <a:off x="3520440" y="5440680"/>
            <a:ext cx="1965960" cy="274320"/>
          </a:xfrm>
          <a:prstGeom prst="rect">
            <a:avLst/>
          </a:prstGeom>
          <a:noFill/>
          <a:ln/>
        </p:spPr>
        <p:txBody>
          <a:bodyPr wrap="square" lIns="0" tIns="0" rIns="0" bIns="0" rtlCol="0" anchor="ctr"/>
          <a:lstStyle/>
          <a:p>
            <a:pPr marL="0" indent="0">
              <a:buNone/>
            </a:pPr>
            <a:r>
              <a:rPr lang="en-US" sz="950" dirty="0">
                <a:solidFill>
                  <a:srgbClr val="1A2B22"/>
                </a:solidFill>
                <a:latin typeface="Calibri" pitchFamily="34" charset="0"/>
                <a:ea typeface="Calibri" pitchFamily="34" charset="-122"/>
                <a:cs typeface="Calibri" pitchFamily="34" charset="-120"/>
              </a:rPr>
              <a:t>Zulfikar A. Adamu</a:t>
            </a:r>
            <a:endParaRPr lang="en-US" sz="950" dirty="0"/>
          </a:p>
        </p:txBody>
      </p:sp>
      <p:sp>
        <p:nvSpPr>
          <p:cNvPr id="31" name="Text 27"/>
          <p:cNvSpPr/>
          <p:nvPr/>
        </p:nvSpPr>
        <p:spPr>
          <a:xfrm>
            <a:off x="5349240" y="5440680"/>
            <a:ext cx="640080" cy="274320"/>
          </a:xfrm>
          <a:prstGeom prst="rect">
            <a:avLst/>
          </a:prstGeom>
          <a:noFill/>
          <a:ln/>
        </p:spPr>
        <p:txBody>
          <a:bodyPr wrap="square" lIns="0" tIns="0" rIns="0" bIns="0" rtlCol="0" anchor="ctr"/>
          <a:lstStyle/>
          <a:p>
            <a:pPr marL="0" indent="0" algn="r">
              <a:buNone/>
            </a:pPr>
            <a:r>
              <a:rPr lang="en-US" sz="950" b="1" dirty="0">
                <a:solidFill>
                  <a:srgbClr val="2D6A4F"/>
                </a:solidFill>
                <a:latin typeface="Calibri" pitchFamily="34" charset="0"/>
                <a:ea typeface="Calibri" pitchFamily="34" charset="-122"/>
                <a:cs typeface="Calibri" pitchFamily="34" charset="-120"/>
              </a:rPr>
              <a:t>20%</a:t>
            </a:r>
            <a:endParaRPr lang="en-US" sz="950" dirty="0"/>
          </a:p>
        </p:txBody>
      </p:sp>
      <p:sp>
        <p:nvSpPr>
          <p:cNvPr id="32" name="Text 28"/>
          <p:cNvSpPr/>
          <p:nvPr/>
        </p:nvSpPr>
        <p:spPr>
          <a:xfrm>
            <a:off x="6126480" y="5440680"/>
            <a:ext cx="1965960" cy="274320"/>
          </a:xfrm>
          <a:prstGeom prst="rect">
            <a:avLst/>
          </a:prstGeom>
          <a:noFill/>
          <a:ln/>
        </p:spPr>
        <p:txBody>
          <a:bodyPr wrap="square" lIns="0" tIns="0" rIns="0" bIns="0" rtlCol="0" anchor="ctr"/>
          <a:lstStyle/>
          <a:p>
            <a:pPr marL="0" indent="0">
              <a:buNone/>
            </a:pPr>
            <a:r>
              <a:rPr lang="en-US" sz="950" dirty="0">
                <a:solidFill>
                  <a:srgbClr val="1A2B22"/>
                </a:solidFill>
                <a:latin typeface="Calibri" pitchFamily="34" charset="0"/>
                <a:ea typeface="Calibri" pitchFamily="34" charset="-122"/>
                <a:cs typeface="Calibri" pitchFamily="34" charset="-120"/>
              </a:rPr>
              <a:t>Victor F. Olusanmi-Sogbein</a:t>
            </a:r>
            <a:endParaRPr lang="en-US" sz="950" dirty="0"/>
          </a:p>
        </p:txBody>
      </p:sp>
      <p:sp>
        <p:nvSpPr>
          <p:cNvPr id="33" name="Text 29"/>
          <p:cNvSpPr/>
          <p:nvPr/>
        </p:nvSpPr>
        <p:spPr>
          <a:xfrm>
            <a:off x="7955280" y="5440680"/>
            <a:ext cx="640080" cy="274320"/>
          </a:xfrm>
          <a:prstGeom prst="rect">
            <a:avLst/>
          </a:prstGeom>
          <a:noFill/>
          <a:ln/>
        </p:spPr>
        <p:txBody>
          <a:bodyPr wrap="square" lIns="0" tIns="0" rIns="0" bIns="0" rtlCol="0" anchor="ctr"/>
          <a:lstStyle/>
          <a:p>
            <a:pPr marL="0" indent="0" algn="r">
              <a:buNone/>
            </a:pPr>
            <a:r>
              <a:rPr lang="en-US" sz="950" b="1" dirty="0">
                <a:solidFill>
                  <a:srgbClr val="2D6A4F"/>
                </a:solidFill>
                <a:latin typeface="Calibri" pitchFamily="34" charset="0"/>
                <a:ea typeface="Calibri" pitchFamily="34" charset="-122"/>
                <a:cs typeface="Calibri" pitchFamily="34" charset="-120"/>
              </a:rPr>
              <a:t>10%</a:t>
            </a:r>
            <a:endParaRPr lang="en-US" sz="950" dirty="0"/>
          </a:p>
        </p:txBody>
      </p:sp>
      <p:sp>
        <p:nvSpPr>
          <p:cNvPr id="34" name="Text 30"/>
          <p:cNvSpPr/>
          <p:nvPr/>
        </p:nvSpPr>
        <p:spPr>
          <a:xfrm>
            <a:off x="8732520" y="5440680"/>
            <a:ext cx="1965960" cy="274320"/>
          </a:xfrm>
          <a:prstGeom prst="rect">
            <a:avLst/>
          </a:prstGeom>
          <a:noFill/>
          <a:ln/>
        </p:spPr>
        <p:txBody>
          <a:bodyPr wrap="square" lIns="0" tIns="0" rIns="0" bIns="0" rtlCol="0" anchor="ctr"/>
          <a:lstStyle/>
          <a:p>
            <a:pPr marL="0" indent="0">
              <a:buNone/>
            </a:pPr>
            <a:r>
              <a:rPr lang="en-US" sz="950" dirty="0">
                <a:solidFill>
                  <a:srgbClr val="1A2B22"/>
                </a:solidFill>
                <a:latin typeface="Calibri" pitchFamily="34" charset="0"/>
                <a:ea typeface="Calibri" pitchFamily="34" charset="-122"/>
                <a:cs typeface="Calibri" pitchFamily="34" charset="-120"/>
              </a:rPr>
              <a:t>Ahmad A. Abdulrahman</a:t>
            </a:r>
            <a:endParaRPr lang="en-US" sz="950" dirty="0"/>
          </a:p>
        </p:txBody>
      </p:sp>
      <p:sp>
        <p:nvSpPr>
          <p:cNvPr id="35" name="Text 31"/>
          <p:cNvSpPr/>
          <p:nvPr/>
        </p:nvSpPr>
        <p:spPr>
          <a:xfrm>
            <a:off x="10561320" y="5440680"/>
            <a:ext cx="640080" cy="274320"/>
          </a:xfrm>
          <a:prstGeom prst="rect">
            <a:avLst/>
          </a:prstGeom>
          <a:noFill/>
          <a:ln/>
        </p:spPr>
        <p:txBody>
          <a:bodyPr wrap="square" lIns="0" tIns="0" rIns="0" bIns="0" rtlCol="0" anchor="ctr"/>
          <a:lstStyle/>
          <a:p>
            <a:pPr marL="0" indent="0" algn="r">
              <a:buNone/>
            </a:pPr>
            <a:r>
              <a:rPr lang="en-US" sz="950" b="1" dirty="0">
                <a:solidFill>
                  <a:srgbClr val="2D6A4F"/>
                </a:solidFill>
                <a:latin typeface="Calibri" pitchFamily="34" charset="0"/>
                <a:ea typeface="Calibri" pitchFamily="34" charset="-122"/>
                <a:cs typeface="Calibri" pitchFamily="34" charset="-120"/>
              </a:rPr>
              <a:t>10%</a:t>
            </a:r>
            <a:endParaRPr lang="en-US" sz="950" dirty="0"/>
          </a:p>
        </p:txBody>
      </p:sp>
      <p:sp>
        <p:nvSpPr>
          <p:cNvPr id="36" name="Text 32"/>
          <p:cNvSpPr/>
          <p:nvPr/>
        </p:nvSpPr>
        <p:spPr>
          <a:xfrm>
            <a:off x="914400" y="5879592"/>
            <a:ext cx="1965960" cy="274320"/>
          </a:xfrm>
          <a:prstGeom prst="rect">
            <a:avLst/>
          </a:prstGeom>
          <a:noFill/>
          <a:ln/>
        </p:spPr>
        <p:txBody>
          <a:bodyPr wrap="square" lIns="0" tIns="0" rIns="0" bIns="0" rtlCol="0" anchor="ctr"/>
          <a:lstStyle/>
          <a:p>
            <a:pPr marL="0" indent="0">
              <a:buNone/>
            </a:pPr>
            <a:r>
              <a:rPr lang="en-US" sz="950" dirty="0">
                <a:solidFill>
                  <a:srgbClr val="1A2B22"/>
                </a:solidFill>
                <a:latin typeface="Calibri" pitchFamily="34" charset="0"/>
                <a:ea typeface="Calibri" pitchFamily="34" charset="-122"/>
                <a:cs typeface="Calibri" pitchFamily="34" charset="-120"/>
              </a:rPr>
              <a:t>Akpevweoghene Okolosi</a:t>
            </a:r>
            <a:endParaRPr lang="en-US" sz="950" dirty="0"/>
          </a:p>
        </p:txBody>
      </p:sp>
      <p:sp>
        <p:nvSpPr>
          <p:cNvPr id="37" name="Text 33"/>
          <p:cNvSpPr/>
          <p:nvPr/>
        </p:nvSpPr>
        <p:spPr>
          <a:xfrm>
            <a:off x="2743200" y="5879592"/>
            <a:ext cx="640080" cy="274320"/>
          </a:xfrm>
          <a:prstGeom prst="rect">
            <a:avLst/>
          </a:prstGeom>
          <a:noFill/>
          <a:ln/>
        </p:spPr>
        <p:txBody>
          <a:bodyPr wrap="square" lIns="0" tIns="0" rIns="0" bIns="0" rtlCol="0" anchor="ctr"/>
          <a:lstStyle/>
          <a:p>
            <a:pPr marL="0" indent="0" algn="r">
              <a:buNone/>
            </a:pPr>
            <a:r>
              <a:rPr lang="en-US" sz="950" b="1" dirty="0">
                <a:solidFill>
                  <a:srgbClr val="2D6A4F"/>
                </a:solidFill>
                <a:latin typeface="Calibri" pitchFamily="34" charset="0"/>
                <a:ea typeface="Calibri" pitchFamily="34" charset="-122"/>
                <a:cs typeface="Calibri" pitchFamily="34" charset="-120"/>
              </a:rPr>
              <a:t>10%</a:t>
            </a:r>
            <a:endParaRPr lang="en-US" sz="950" dirty="0"/>
          </a:p>
        </p:txBody>
      </p:sp>
      <p:sp>
        <p:nvSpPr>
          <p:cNvPr id="38" name="Text 34"/>
          <p:cNvSpPr/>
          <p:nvPr/>
        </p:nvSpPr>
        <p:spPr>
          <a:xfrm>
            <a:off x="3520440" y="5879592"/>
            <a:ext cx="1965960" cy="274320"/>
          </a:xfrm>
          <a:prstGeom prst="rect">
            <a:avLst/>
          </a:prstGeom>
          <a:noFill/>
          <a:ln/>
        </p:spPr>
        <p:txBody>
          <a:bodyPr wrap="square" lIns="0" tIns="0" rIns="0" bIns="0" rtlCol="0" anchor="ctr"/>
          <a:lstStyle/>
          <a:p>
            <a:pPr marL="0" indent="0">
              <a:buNone/>
            </a:pPr>
            <a:r>
              <a:rPr lang="en-US" sz="950" dirty="0">
                <a:solidFill>
                  <a:srgbClr val="1A2B22"/>
                </a:solidFill>
                <a:latin typeface="Calibri" pitchFamily="34" charset="0"/>
                <a:ea typeface="Calibri" pitchFamily="34" charset="-122"/>
                <a:cs typeface="Calibri" pitchFamily="34" charset="-120"/>
              </a:rPr>
              <a:t>Dele Oye Junior</a:t>
            </a:r>
            <a:endParaRPr lang="en-US" sz="950" dirty="0"/>
          </a:p>
        </p:txBody>
      </p:sp>
      <p:sp>
        <p:nvSpPr>
          <p:cNvPr id="39" name="Text 35"/>
          <p:cNvSpPr/>
          <p:nvPr/>
        </p:nvSpPr>
        <p:spPr>
          <a:xfrm>
            <a:off x="5349240" y="5879592"/>
            <a:ext cx="640080" cy="274320"/>
          </a:xfrm>
          <a:prstGeom prst="rect">
            <a:avLst/>
          </a:prstGeom>
          <a:noFill/>
          <a:ln/>
        </p:spPr>
        <p:txBody>
          <a:bodyPr wrap="square" lIns="0" tIns="0" rIns="0" bIns="0" rtlCol="0" anchor="ctr"/>
          <a:lstStyle/>
          <a:p>
            <a:pPr marL="0" indent="0" algn="r">
              <a:buNone/>
            </a:pPr>
            <a:r>
              <a:rPr lang="en-US" sz="950" b="1" dirty="0">
                <a:solidFill>
                  <a:srgbClr val="2D6A4F"/>
                </a:solidFill>
                <a:latin typeface="Calibri" pitchFamily="34" charset="0"/>
                <a:ea typeface="Calibri" pitchFamily="34" charset="-122"/>
                <a:cs typeface="Calibri" pitchFamily="34" charset="-120"/>
              </a:rPr>
              <a:t>10%</a:t>
            </a:r>
            <a:endParaRPr lang="en-US" sz="950" dirty="0"/>
          </a:p>
        </p:txBody>
      </p:sp>
      <p:sp>
        <p:nvSpPr>
          <p:cNvPr id="40" name="Text 36"/>
          <p:cNvSpPr/>
          <p:nvPr/>
        </p:nvSpPr>
        <p:spPr>
          <a:xfrm>
            <a:off x="6126480" y="5879592"/>
            <a:ext cx="1965960" cy="274320"/>
          </a:xfrm>
          <a:prstGeom prst="rect">
            <a:avLst/>
          </a:prstGeom>
          <a:noFill/>
          <a:ln/>
        </p:spPr>
        <p:txBody>
          <a:bodyPr wrap="square" lIns="0" tIns="0" rIns="0" bIns="0" rtlCol="0" anchor="ctr"/>
          <a:lstStyle/>
          <a:p>
            <a:pPr marL="0" indent="0">
              <a:buNone/>
            </a:pPr>
            <a:r>
              <a:rPr lang="en-US" sz="950" dirty="0">
                <a:solidFill>
                  <a:srgbClr val="1A2B22"/>
                </a:solidFill>
                <a:latin typeface="Calibri" pitchFamily="34" charset="0"/>
                <a:ea typeface="Calibri" pitchFamily="34" charset="-122"/>
                <a:cs typeface="Calibri" pitchFamily="34" charset="-120"/>
              </a:rPr>
              <a:t>David O. Onabajo</a:t>
            </a:r>
            <a:endParaRPr lang="en-US" sz="950" dirty="0"/>
          </a:p>
        </p:txBody>
      </p:sp>
      <p:sp>
        <p:nvSpPr>
          <p:cNvPr id="41" name="Text 37"/>
          <p:cNvSpPr/>
          <p:nvPr/>
        </p:nvSpPr>
        <p:spPr>
          <a:xfrm>
            <a:off x="7955280" y="5879592"/>
            <a:ext cx="640080" cy="274320"/>
          </a:xfrm>
          <a:prstGeom prst="rect">
            <a:avLst/>
          </a:prstGeom>
          <a:noFill/>
          <a:ln/>
        </p:spPr>
        <p:txBody>
          <a:bodyPr wrap="square" lIns="0" tIns="0" rIns="0" bIns="0" rtlCol="0" anchor="ctr"/>
          <a:lstStyle/>
          <a:p>
            <a:pPr marL="0" indent="0" algn="r">
              <a:buNone/>
            </a:pPr>
            <a:r>
              <a:rPr lang="en-US" sz="950" b="1" dirty="0">
                <a:solidFill>
                  <a:srgbClr val="2D6A4F"/>
                </a:solidFill>
                <a:latin typeface="Calibri" pitchFamily="34" charset="0"/>
                <a:ea typeface="Calibri" pitchFamily="34" charset="-122"/>
                <a:cs typeface="Calibri" pitchFamily="34" charset="-120"/>
              </a:rPr>
              <a:t>10%</a:t>
            </a:r>
            <a:endParaRPr lang="en-US" sz="950" dirty="0"/>
          </a:p>
        </p:txBody>
      </p:sp>
      <p:sp>
        <p:nvSpPr>
          <p:cNvPr id="42" name="Text 38"/>
          <p:cNvSpPr/>
          <p:nvPr/>
        </p:nvSpPr>
        <p:spPr>
          <a:xfrm>
            <a:off x="8732520" y="5879592"/>
            <a:ext cx="1965960" cy="274320"/>
          </a:xfrm>
          <a:prstGeom prst="rect">
            <a:avLst/>
          </a:prstGeom>
          <a:noFill/>
          <a:ln/>
        </p:spPr>
        <p:txBody>
          <a:bodyPr wrap="square" lIns="0" tIns="0" rIns="0" bIns="0" rtlCol="0" anchor="ctr"/>
          <a:lstStyle/>
          <a:p>
            <a:pPr marL="0" indent="0">
              <a:buNone/>
            </a:pPr>
            <a:r>
              <a:rPr lang="en-US" sz="950" dirty="0">
                <a:solidFill>
                  <a:srgbClr val="1A2B22"/>
                </a:solidFill>
                <a:latin typeface="Calibri" pitchFamily="34" charset="0"/>
                <a:ea typeface="Calibri" pitchFamily="34" charset="-122"/>
                <a:cs typeface="Calibri" pitchFamily="34" charset="-120"/>
              </a:rPr>
              <a:t>Mary-Cynthia O. Aniebonam</a:t>
            </a:r>
            <a:endParaRPr lang="en-US" sz="950" dirty="0"/>
          </a:p>
        </p:txBody>
      </p:sp>
      <p:sp>
        <p:nvSpPr>
          <p:cNvPr id="43" name="Text 39"/>
          <p:cNvSpPr/>
          <p:nvPr/>
        </p:nvSpPr>
        <p:spPr>
          <a:xfrm>
            <a:off x="10561320" y="5879592"/>
            <a:ext cx="640080" cy="274320"/>
          </a:xfrm>
          <a:prstGeom prst="rect">
            <a:avLst/>
          </a:prstGeom>
          <a:noFill/>
          <a:ln/>
        </p:spPr>
        <p:txBody>
          <a:bodyPr wrap="square" lIns="0" tIns="0" rIns="0" bIns="0" rtlCol="0" anchor="ctr"/>
          <a:lstStyle/>
          <a:p>
            <a:pPr marL="0" indent="0" algn="r">
              <a:buNone/>
            </a:pPr>
            <a:r>
              <a:rPr lang="en-US" sz="950" b="1" dirty="0">
                <a:solidFill>
                  <a:srgbClr val="2D6A4F"/>
                </a:solidFill>
                <a:latin typeface="Calibri" pitchFamily="34" charset="0"/>
                <a:ea typeface="Calibri" pitchFamily="34" charset="-122"/>
                <a:cs typeface="Calibri" pitchFamily="34" charset="-120"/>
              </a:rPr>
              <a:t>10%</a:t>
            </a:r>
            <a:endParaRPr lang="en-US" sz="950" dirty="0"/>
          </a:p>
        </p:txBody>
      </p:sp>
      <p:sp>
        <p:nvSpPr>
          <p:cNvPr id="44" name="Text 40"/>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45" name="Text 41"/>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OUR TARGET MARKET</a:t>
            </a:r>
            <a:endParaRPr lang="en-US" sz="1250" dirty="0"/>
          </a:p>
        </p:txBody>
      </p:sp>
      <p:sp>
        <p:nvSpPr>
          <p:cNvPr id="3"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200" b="1" dirty="0">
                <a:solidFill>
                  <a:srgbClr val="1A2B22"/>
                </a:solidFill>
                <a:latin typeface="Cambria" pitchFamily="34" charset="0"/>
                <a:ea typeface="Cambria" pitchFamily="34" charset="-122"/>
                <a:cs typeface="Cambria" pitchFamily="34" charset="-120"/>
              </a:rPr>
              <a:t>Who We Serve</a:t>
            </a:r>
            <a:endParaRPr lang="en-US" sz="3200" dirty="0"/>
          </a:p>
        </p:txBody>
      </p:sp>
      <p:sp>
        <p:nvSpPr>
          <p:cNvPr id="4" name="Shape 2"/>
          <p:cNvSpPr/>
          <p:nvPr/>
        </p:nvSpPr>
        <p:spPr>
          <a:xfrm>
            <a:off x="640080" y="1645920"/>
            <a:ext cx="5349240" cy="2057400"/>
          </a:xfrm>
          <a:prstGeom prst="roundRect">
            <a:avLst>
              <a:gd name="adj" fmla="val 4444"/>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5" name="Shape 3"/>
          <p:cNvSpPr/>
          <p:nvPr/>
        </p:nvSpPr>
        <p:spPr>
          <a:xfrm>
            <a:off x="914400" y="1920240"/>
            <a:ext cx="594360" cy="594360"/>
          </a:xfrm>
          <a:prstGeom prst="ellipse">
            <a:avLst/>
          </a:prstGeom>
          <a:solidFill>
            <a:srgbClr val="1B4332"/>
          </a:solidFill>
          <a:ln/>
        </p:spPr>
      </p:sp>
      <p:pic>
        <p:nvPicPr>
          <p:cNvPr id="6" name="Image 0" descr="assets/icons/users_white.png"/>
          <p:cNvPicPr>
            <a:picLocks noChangeAspect="1"/>
          </p:cNvPicPr>
          <p:nvPr/>
        </p:nvPicPr>
        <p:blipFill>
          <a:blip r:embed="rId4"/>
          <a:stretch>
            <a:fillRect/>
          </a:stretch>
        </p:blipFill>
        <p:spPr>
          <a:xfrm>
            <a:off x="1051560" y="2057400"/>
            <a:ext cx="320040" cy="320040"/>
          </a:xfrm>
          <a:prstGeom prst="rect">
            <a:avLst/>
          </a:prstGeom>
        </p:spPr>
      </p:pic>
      <p:sp>
        <p:nvSpPr>
          <p:cNvPr id="7" name="Text 4"/>
          <p:cNvSpPr/>
          <p:nvPr/>
        </p:nvSpPr>
        <p:spPr>
          <a:xfrm>
            <a:off x="1691640" y="1938528"/>
            <a:ext cx="4023360" cy="457200"/>
          </a:xfrm>
          <a:prstGeom prst="rect">
            <a:avLst/>
          </a:prstGeom>
          <a:noFill/>
          <a:ln/>
        </p:spPr>
        <p:txBody>
          <a:bodyPr wrap="square" lIns="0" tIns="0" rIns="0" bIns="0" rtlCol="0" anchor="ctr"/>
          <a:lstStyle/>
          <a:p>
            <a:pPr marL="0" indent="0">
              <a:buNone/>
            </a:pPr>
            <a:r>
              <a:rPr lang="en-US" sz="1500" b="1" dirty="0">
                <a:solidFill>
                  <a:srgbClr val="1A2B22"/>
                </a:solidFill>
                <a:latin typeface="Cambria" pitchFamily="34" charset="0"/>
                <a:ea typeface="Cambria" pitchFamily="34" charset="-122"/>
                <a:cs typeface="Cambria" pitchFamily="34" charset="-120"/>
              </a:rPr>
              <a:t>Households</a:t>
            </a:r>
            <a:endParaRPr lang="en-US" sz="1500" dirty="0"/>
          </a:p>
        </p:txBody>
      </p:sp>
      <p:sp>
        <p:nvSpPr>
          <p:cNvPr id="8" name="Text 5"/>
          <p:cNvSpPr/>
          <p:nvPr/>
        </p:nvSpPr>
        <p:spPr>
          <a:xfrm>
            <a:off x="914400" y="2651760"/>
            <a:ext cx="4800600" cy="914400"/>
          </a:xfrm>
          <a:prstGeom prst="rect">
            <a:avLst/>
          </a:prstGeom>
          <a:noFill/>
          <a:ln/>
        </p:spPr>
        <p:txBody>
          <a:bodyPr wrap="square" lIns="0" tIns="0" rIns="0" bIns="0" rtlCol="0" anchor="ctr"/>
          <a:lstStyle/>
          <a:p>
            <a:pPr marL="0" indent="0">
              <a:lnSpc>
                <a:spcPct val="130000"/>
              </a:lnSpc>
              <a:buNone/>
            </a:pPr>
            <a:r>
              <a:rPr lang="en-US" sz="1150" dirty="0">
                <a:solidFill>
                  <a:srgbClr val="3F4A42"/>
                </a:solidFill>
                <a:latin typeface="Calibri" pitchFamily="34" charset="0"/>
                <a:ea typeface="Calibri" pitchFamily="34" charset="-122"/>
                <a:cs typeface="Calibri" pitchFamily="34" charset="-120"/>
              </a:rPr>
              <a:t>Families seeking safe, natural, chemical-free personal and home care.</a:t>
            </a:r>
            <a:endParaRPr lang="en-US" sz="1150" dirty="0"/>
          </a:p>
        </p:txBody>
      </p:sp>
      <p:sp>
        <p:nvSpPr>
          <p:cNvPr id="9" name="Shape 6"/>
          <p:cNvSpPr/>
          <p:nvPr/>
        </p:nvSpPr>
        <p:spPr>
          <a:xfrm>
            <a:off x="6172200" y="1645920"/>
            <a:ext cx="5349240" cy="2057400"/>
          </a:xfrm>
          <a:prstGeom prst="roundRect">
            <a:avLst>
              <a:gd name="adj" fmla="val 4444"/>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10" name="Shape 7"/>
          <p:cNvSpPr/>
          <p:nvPr/>
        </p:nvSpPr>
        <p:spPr>
          <a:xfrm>
            <a:off x="6446520" y="1920240"/>
            <a:ext cx="594360" cy="594360"/>
          </a:xfrm>
          <a:prstGeom prst="ellipse">
            <a:avLst/>
          </a:prstGeom>
          <a:solidFill>
            <a:srgbClr val="1B4332"/>
          </a:solidFill>
          <a:ln/>
        </p:spPr>
      </p:sp>
      <p:pic>
        <p:nvPicPr>
          <p:cNvPr id="11" name="Image 1" descr="assets/icons/building_white.png"/>
          <p:cNvPicPr>
            <a:picLocks noChangeAspect="1"/>
          </p:cNvPicPr>
          <p:nvPr/>
        </p:nvPicPr>
        <p:blipFill>
          <a:blip r:embed="rId5"/>
          <a:stretch>
            <a:fillRect/>
          </a:stretch>
        </p:blipFill>
        <p:spPr>
          <a:xfrm>
            <a:off x="6583680" y="2057400"/>
            <a:ext cx="320040" cy="320040"/>
          </a:xfrm>
          <a:prstGeom prst="rect">
            <a:avLst/>
          </a:prstGeom>
        </p:spPr>
      </p:pic>
      <p:sp>
        <p:nvSpPr>
          <p:cNvPr id="12" name="Text 8"/>
          <p:cNvSpPr/>
          <p:nvPr/>
        </p:nvSpPr>
        <p:spPr>
          <a:xfrm>
            <a:off x="7223760" y="1938528"/>
            <a:ext cx="4023360" cy="457200"/>
          </a:xfrm>
          <a:prstGeom prst="rect">
            <a:avLst/>
          </a:prstGeom>
          <a:noFill/>
          <a:ln/>
        </p:spPr>
        <p:txBody>
          <a:bodyPr wrap="square" lIns="0" tIns="0" rIns="0" bIns="0" rtlCol="0" anchor="ctr"/>
          <a:lstStyle/>
          <a:p>
            <a:pPr marL="0" indent="0">
              <a:buNone/>
            </a:pPr>
            <a:r>
              <a:rPr lang="en-US" sz="1500" b="1" dirty="0">
                <a:solidFill>
                  <a:srgbClr val="1A2B22"/>
                </a:solidFill>
                <a:latin typeface="Cambria" pitchFamily="34" charset="0"/>
                <a:ea typeface="Cambria" pitchFamily="34" charset="-122"/>
                <a:cs typeface="Cambria" pitchFamily="34" charset="-120"/>
              </a:rPr>
              <a:t>Institutions</a:t>
            </a:r>
            <a:endParaRPr lang="en-US" sz="1500" dirty="0"/>
          </a:p>
        </p:txBody>
      </p:sp>
      <p:sp>
        <p:nvSpPr>
          <p:cNvPr id="13" name="Text 9"/>
          <p:cNvSpPr/>
          <p:nvPr/>
        </p:nvSpPr>
        <p:spPr>
          <a:xfrm>
            <a:off x="6446520" y="2651760"/>
            <a:ext cx="4800600" cy="914400"/>
          </a:xfrm>
          <a:prstGeom prst="rect">
            <a:avLst/>
          </a:prstGeom>
          <a:noFill/>
          <a:ln/>
        </p:spPr>
        <p:txBody>
          <a:bodyPr wrap="square" lIns="0" tIns="0" rIns="0" bIns="0" rtlCol="0" anchor="ctr"/>
          <a:lstStyle/>
          <a:p>
            <a:pPr marL="0" indent="0">
              <a:lnSpc>
                <a:spcPct val="130000"/>
              </a:lnSpc>
              <a:buNone/>
            </a:pPr>
            <a:r>
              <a:rPr lang="en-US" sz="1150" dirty="0">
                <a:solidFill>
                  <a:srgbClr val="3F4A42"/>
                </a:solidFill>
                <a:latin typeface="Calibri" pitchFamily="34" charset="0"/>
                <a:ea typeface="Calibri" pitchFamily="34" charset="-122"/>
                <a:cs typeface="Calibri" pitchFamily="34" charset="-120"/>
              </a:rPr>
              <a:t>Schools, clinics, hotels &amp; offices seeking sustainable hygiene supplies.</a:t>
            </a:r>
            <a:endParaRPr lang="en-US" sz="1150" dirty="0"/>
          </a:p>
        </p:txBody>
      </p:sp>
      <p:sp>
        <p:nvSpPr>
          <p:cNvPr id="14" name="Shape 10"/>
          <p:cNvSpPr/>
          <p:nvPr/>
        </p:nvSpPr>
        <p:spPr>
          <a:xfrm>
            <a:off x="640080" y="3886200"/>
            <a:ext cx="5349240" cy="2057400"/>
          </a:xfrm>
          <a:prstGeom prst="roundRect">
            <a:avLst>
              <a:gd name="adj" fmla="val 4444"/>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15" name="Shape 11"/>
          <p:cNvSpPr/>
          <p:nvPr/>
        </p:nvSpPr>
        <p:spPr>
          <a:xfrm>
            <a:off x="914400" y="4160520"/>
            <a:ext cx="594360" cy="594360"/>
          </a:xfrm>
          <a:prstGeom prst="ellipse">
            <a:avLst/>
          </a:prstGeom>
          <a:solidFill>
            <a:srgbClr val="1B4332"/>
          </a:solidFill>
          <a:ln/>
        </p:spPr>
      </p:sp>
      <p:pic>
        <p:nvPicPr>
          <p:cNvPr id="16" name="Image 2" descr="assets/icons/globe_white.png"/>
          <p:cNvPicPr>
            <a:picLocks noChangeAspect="1"/>
          </p:cNvPicPr>
          <p:nvPr/>
        </p:nvPicPr>
        <p:blipFill>
          <a:blip r:embed="rId6"/>
          <a:stretch>
            <a:fillRect/>
          </a:stretch>
        </p:blipFill>
        <p:spPr>
          <a:xfrm>
            <a:off x="1051560" y="4297680"/>
            <a:ext cx="320040" cy="320040"/>
          </a:xfrm>
          <a:prstGeom prst="rect">
            <a:avLst/>
          </a:prstGeom>
        </p:spPr>
      </p:pic>
      <p:sp>
        <p:nvSpPr>
          <p:cNvPr id="17" name="Text 12"/>
          <p:cNvSpPr/>
          <p:nvPr/>
        </p:nvSpPr>
        <p:spPr>
          <a:xfrm>
            <a:off x="1691640" y="4178808"/>
            <a:ext cx="4023360" cy="457200"/>
          </a:xfrm>
          <a:prstGeom prst="rect">
            <a:avLst/>
          </a:prstGeom>
          <a:noFill/>
          <a:ln/>
        </p:spPr>
        <p:txBody>
          <a:bodyPr wrap="square" lIns="0" tIns="0" rIns="0" bIns="0" rtlCol="0" anchor="ctr"/>
          <a:lstStyle/>
          <a:p>
            <a:pPr marL="0" indent="0">
              <a:buNone/>
            </a:pPr>
            <a:r>
              <a:rPr lang="en-US" sz="1500" b="1" dirty="0">
                <a:solidFill>
                  <a:srgbClr val="1A2B22"/>
                </a:solidFill>
                <a:latin typeface="Cambria" pitchFamily="34" charset="0"/>
                <a:ea typeface="Cambria" pitchFamily="34" charset="-122"/>
                <a:cs typeface="Cambria" pitchFamily="34" charset="-120"/>
              </a:rPr>
              <a:t>Government &amp; NGOs</a:t>
            </a:r>
            <a:endParaRPr lang="en-US" sz="1500" dirty="0"/>
          </a:p>
        </p:txBody>
      </p:sp>
      <p:sp>
        <p:nvSpPr>
          <p:cNvPr id="18" name="Text 13"/>
          <p:cNvSpPr/>
          <p:nvPr/>
        </p:nvSpPr>
        <p:spPr>
          <a:xfrm>
            <a:off x="914400" y="4892040"/>
            <a:ext cx="4800600" cy="914400"/>
          </a:xfrm>
          <a:prstGeom prst="rect">
            <a:avLst/>
          </a:prstGeom>
          <a:noFill/>
          <a:ln/>
        </p:spPr>
        <p:txBody>
          <a:bodyPr wrap="square" lIns="0" tIns="0" rIns="0" bIns="0" rtlCol="0" anchor="ctr"/>
          <a:lstStyle/>
          <a:p>
            <a:pPr marL="0" indent="0">
              <a:lnSpc>
                <a:spcPct val="130000"/>
              </a:lnSpc>
              <a:buNone/>
            </a:pPr>
            <a:r>
              <a:rPr lang="en-US" sz="1150" dirty="0">
                <a:solidFill>
                  <a:srgbClr val="3F4A42"/>
                </a:solidFill>
                <a:latin typeface="Calibri" pitchFamily="34" charset="0"/>
                <a:ea typeface="Calibri" pitchFamily="34" charset="-122"/>
                <a:cs typeface="Calibri" pitchFamily="34" charset="-120"/>
              </a:rPr>
              <a:t>Public health and environmental programmes across Nigeria.</a:t>
            </a:r>
            <a:endParaRPr lang="en-US" sz="1150" dirty="0"/>
          </a:p>
        </p:txBody>
      </p:sp>
      <p:sp>
        <p:nvSpPr>
          <p:cNvPr id="19" name="Shape 14"/>
          <p:cNvSpPr/>
          <p:nvPr/>
        </p:nvSpPr>
        <p:spPr>
          <a:xfrm>
            <a:off x="6172200" y="3886200"/>
            <a:ext cx="5349240" cy="2057400"/>
          </a:xfrm>
          <a:prstGeom prst="roundRect">
            <a:avLst>
              <a:gd name="adj" fmla="val 4444"/>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20" name="Shape 15"/>
          <p:cNvSpPr/>
          <p:nvPr/>
        </p:nvSpPr>
        <p:spPr>
          <a:xfrm>
            <a:off x="6446520" y="4160520"/>
            <a:ext cx="594360" cy="594360"/>
          </a:xfrm>
          <a:prstGeom prst="ellipse">
            <a:avLst/>
          </a:prstGeom>
          <a:solidFill>
            <a:srgbClr val="1B4332"/>
          </a:solidFill>
          <a:ln/>
        </p:spPr>
      </p:sp>
      <p:pic>
        <p:nvPicPr>
          <p:cNvPr id="21" name="Image 3" descr="assets/icons/industry_white.png"/>
          <p:cNvPicPr>
            <a:picLocks noChangeAspect="1"/>
          </p:cNvPicPr>
          <p:nvPr/>
        </p:nvPicPr>
        <p:blipFill>
          <a:blip r:embed="rId7"/>
          <a:stretch>
            <a:fillRect/>
          </a:stretch>
        </p:blipFill>
        <p:spPr>
          <a:xfrm>
            <a:off x="6583680" y="4297680"/>
            <a:ext cx="320040" cy="320040"/>
          </a:xfrm>
          <a:prstGeom prst="rect">
            <a:avLst/>
          </a:prstGeom>
        </p:spPr>
      </p:pic>
      <p:sp>
        <p:nvSpPr>
          <p:cNvPr id="22" name="Text 16"/>
          <p:cNvSpPr/>
          <p:nvPr/>
        </p:nvSpPr>
        <p:spPr>
          <a:xfrm>
            <a:off x="7223760" y="4178808"/>
            <a:ext cx="4023360" cy="457200"/>
          </a:xfrm>
          <a:prstGeom prst="rect">
            <a:avLst/>
          </a:prstGeom>
          <a:noFill/>
          <a:ln/>
        </p:spPr>
        <p:txBody>
          <a:bodyPr wrap="square" lIns="0" tIns="0" rIns="0" bIns="0" rtlCol="0" anchor="ctr"/>
          <a:lstStyle/>
          <a:p>
            <a:pPr marL="0" indent="0">
              <a:buNone/>
            </a:pPr>
            <a:r>
              <a:rPr lang="en-US" sz="1500" b="1" dirty="0">
                <a:solidFill>
                  <a:srgbClr val="1A2B22"/>
                </a:solidFill>
                <a:latin typeface="Cambria" pitchFamily="34" charset="0"/>
                <a:ea typeface="Cambria" pitchFamily="34" charset="-122"/>
                <a:cs typeface="Cambria" pitchFamily="34" charset="-120"/>
              </a:rPr>
              <a:t>Retail &amp; Distribution Partners</a:t>
            </a:r>
            <a:endParaRPr lang="en-US" sz="1500" dirty="0"/>
          </a:p>
        </p:txBody>
      </p:sp>
      <p:sp>
        <p:nvSpPr>
          <p:cNvPr id="23" name="Text 17"/>
          <p:cNvSpPr/>
          <p:nvPr/>
        </p:nvSpPr>
        <p:spPr>
          <a:xfrm>
            <a:off x="6446520" y="4892040"/>
            <a:ext cx="4800600" cy="914400"/>
          </a:xfrm>
          <a:prstGeom prst="rect">
            <a:avLst/>
          </a:prstGeom>
          <a:noFill/>
          <a:ln/>
        </p:spPr>
        <p:txBody>
          <a:bodyPr wrap="square" lIns="0" tIns="0" rIns="0" bIns="0" rtlCol="0" anchor="ctr"/>
          <a:lstStyle/>
          <a:p>
            <a:pPr marL="0" indent="0">
              <a:lnSpc>
                <a:spcPct val="130000"/>
              </a:lnSpc>
              <a:buNone/>
            </a:pPr>
            <a:r>
              <a:rPr lang="en-US" sz="1150" dirty="0">
                <a:solidFill>
                  <a:srgbClr val="3F4A42"/>
                </a:solidFill>
                <a:latin typeface="Calibri" pitchFamily="34" charset="0"/>
                <a:ea typeface="Calibri" pitchFamily="34" charset="-122"/>
                <a:cs typeface="Calibri" pitchFamily="34" charset="-120"/>
              </a:rPr>
              <a:t>Pharmacies, supermarkets, and FMCG distributors nationwide.</a:t>
            </a:r>
            <a:endParaRPr lang="en-US" sz="1150" dirty="0"/>
          </a:p>
        </p:txBody>
      </p:sp>
      <p:sp>
        <p:nvSpPr>
          <p:cNvPr id="24" name="Text 18"/>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25" name="Text 19"/>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OUR LEADERSHIP</a:t>
            </a:r>
            <a:endParaRPr lang="en-US" sz="1250" dirty="0"/>
          </a:p>
        </p:txBody>
      </p:sp>
      <p:sp>
        <p:nvSpPr>
          <p:cNvPr id="3"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200" b="1" dirty="0">
                <a:solidFill>
                  <a:srgbClr val="1A2B22"/>
                </a:solidFill>
                <a:latin typeface="Cambria" pitchFamily="34" charset="0"/>
                <a:ea typeface="Cambria" pitchFamily="34" charset="-122"/>
                <a:cs typeface="Cambria" pitchFamily="34" charset="-120"/>
              </a:rPr>
              <a:t>Meet the Directors</a:t>
            </a:r>
            <a:endParaRPr lang="en-US" sz="3200" dirty="0"/>
          </a:p>
        </p:txBody>
      </p:sp>
      <p:sp>
        <p:nvSpPr>
          <p:cNvPr id="4" name="Text 2"/>
          <p:cNvSpPr/>
          <p:nvPr/>
        </p:nvSpPr>
        <p:spPr>
          <a:xfrm>
            <a:off x="640080" y="1463040"/>
            <a:ext cx="10424160" cy="411480"/>
          </a:xfrm>
          <a:prstGeom prst="rect">
            <a:avLst/>
          </a:prstGeom>
          <a:noFill/>
          <a:ln/>
        </p:spPr>
        <p:txBody>
          <a:bodyPr wrap="square" lIns="0" tIns="0" rIns="0" bIns="0" rtlCol="0" anchor="ctr"/>
          <a:lstStyle/>
          <a:p>
            <a:pPr marL="0" indent="0">
              <a:buNone/>
            </a:pPr>
            <a:r>
              <a:rPr lang="en-US" sz="1250" i="1" dirty="0">
                <a:solidFill>
                  <a:srgbClr val="6B7A70"/>
                </a:solidFill>
                <a:latin typeface="Calibri" pitchFamily="34" charset="0"/>
                <a:ea typeface="Calibri" pitchFamily="34" charset="-122"/>
                <a:cs typeface="Calibri" pitchFamily="34" charset="-120"/>
              </a:rPr>
              <a:t>EcoNeemTech is led by a founding Board of Directors with direct, accountable ownership in the company's success.</a:t>
            </a:r>
            <a:endParaRPr lang="en-US" sz="1250" dirty="0"/>
          </a:p>
        </p:txBody>
      </p:sp>
      <p:sp>
        <p:nvSpPr>
          <p:cNvPr id="5" name="Shape 3"/>
          <p:cNvSpPr/>
          <p:nvPr/>
        </p:nvSpPr>
        <p:spPr>
          <a:xfrm>
            <a:off x="640080" y="2057400"/>
            <a:ext cx="5349240" cy="4114800"/>
          </a:xfrm>
          <a:prstGeom prst="roundRect">
            <a:avLst>
              <a:gd name="adj" fmla="val 2667"/>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6" name="Shape 4"/>
          <p:cNvSpPr/>
          <p:nvPr/>
        </p:nvSpPr>
        <p:spPr>
          <a:xfrm>
            <a:off x="1005840" y="2423160"/>
            <a:ext cx="1188720" cy="1188720"/>
          </a:xfrm>
          <a:prstGeom prst="ellipse">
            <a:avLst/>
          </a:prstGeom>
          <a:solidFill>
            <a:srgbClr val="1B4332"/>
          </a:solidFill>
          <a:ln/>
        </p:spPr>
      </p:sp>
      <p:pic>
        <p:nvPicPr>
          <p:cNvPr id="7" name="Image 0" descr="assets/icons/usertie_white.png"/>
          <p:cNvPicPr>
            <a:picLocks noChangeAspect="1"/>
          </p:cNvPicPr>
          <p:nvPr/>
        </p:nvPicPr>
        <p:blipFill>
          <a:blip r:embed="rId4"/>
          <a:stretch>
            <a:fillRect/>
          </a:stretch>
        </p:blipFill>
        <p:spPr>
          <a:xfrm>
            <a:off x="1325880" y="2743200"/>
            <a:ext cx="548640" cy="548640"/>
          </a:xfrm>
          <a:prstGeom prst="rect">
            <a:avLst/>
          </a:prstGeom>
        </p:spPr>
      </p:pic>
      <p:sp>
        <p:nvSpPr>
          <p:cNvPr id="8" name="Text 5"/>
          <p:cNvSpPr/>
          <p:nvPr/>
        </p:nvSpPr>
        <p:spPr>
          <a:xfrm>
            <a:off x="2377440" y="2468880"/>
            <a:ext cx="3383280" cy="457200"/>
          </a:xfrm>
          <a:prstGeom prst="rect">
            <a:avLst/>
          </a:prstGeom>
          <a:noFill/>
          <a:ln/>
        </p:spPr>
        <p:txBody>
          <a:bodyPr wrap="square" lIns="0" tIns="0" rIns="0" bIns="0" rtlCol="0" anchor="ctr"/>
          <a:lstStyle/>
          <a:p>
            <a:pPr marL="0" indent="0">
              <a:buNone/>
            </a:pPr>
            <a:r>
              <a:rPr lang="en-US" sz="1700" b="1" dirty="0">
                <a:solidFill>
                  <a:srgbClr val="1A2B22"/>
                </a:solidFill>
                <a:latin typeface="Cambria" pitchFamily="34" charset="0"/>
                <a:ea typeface="Cambria" pitchFamily="34" charset="-122"/>
                <a:cs typeface="Cambria" pitchFamily="34" charset="-120"/>
              </a:rPr>
              <a:t>Sarah Mwuese Benjamin</a:t>
            </a:r>
            <a:endParaRPr lang="en-US" sz="1700" dirty="0"/>
          </a:p>
        </p:txBody>
      </p:sp>
      <p:sp>
        <p:nvSpPr>
          <p:cNvPr id="9" name="Text 6"/>
          <p:cNvSpPr/>
          <p:nvPr/>
        </p:nvSpPr>
        <p:spPr>
          <a:xfrm>
            <a:off x="2377440" y="2898648"/>
            <a:ext cx="3383280" cy="274320"/>
          </a:xfrm>
          <a:prstGeom prst="rect">
            <a:avLst/>
          </a:prstGeom>
          <a:noFill/>
          <a:ln/>
        </p:spPr>
        <p:txBody>
          <a:bodyPr wrap="square" lIns="0" tIns="0" rIns="0" bIns="0" rtlCol="0" anchor="ctr"/>
          <a:lstStyle/>
          <a:p>
            <a:pPr marL="0" indent="0">
              <a:buNone/>
            </a:pPr>
            <a:r>
              <a:rPr lang="en-US" sz="1050" b="1" kern="0" spc="120" dirty="0">
                <a:solidFill>
                  <a:srgbClr val="2D6A4F"/>
                </a:solidFill>
                <a:latin typeface="Calibri" pitchFamily="34" charset="0"/>
                <a:ea typeface="Calibri" pitchFamily="34" charset="-122"/>
                <a:cs typeface="Calibri" pitchFamily="34" charset="-120"/>
              </a:rPr>
              <a:t>DIRECTOR</a:t>
            </a:r>
            <a:endParaRPr lang="en-US" sz="1050" dirty="0"/>
          </a:p>
        </p:txBody>
      </p:sp>
      <p:sp>
        <p:nvSpPr>
          <p:cNvPr id="10" name="Text 7"/>
          <p:cNvSpPr/>
          <p:nvPr/>
        </p:nvSpPr>
        <p:spPr>
          <a:xfrm>
            <a:off x="2377440" y="3154680"/>
            <a:ext cx="3383280" cy="320040"/>
          </a:xfrm>
          <a:prstGeom prst="rect">
            <a:avLst/>
          </a:prstGeom>
          <a:noFill/>
          <a:ln/>
        </p:spPr>
        <p:txBody>
          <a:bodyPr wrap="square" lIns="0" tIns="0" rIns="0" bIns="0" rtlCol="0" anchor="ctr"/>
          <a:lstStyle/>
          <a:p>
            <a:pPr marL="0" indent="0">
              <a:buNone/>
            </a:pPr>
            <a:r>
              <a:rPr lang="en-US" sz="950" i="1" dirty="0">
                <a:solidFill>
                  <a:srgbClr val="6B7A70"/>
                </a:solidFill>
                <a:latin typeface="Calibri" pitchFamily="34" charset="0"/>
                <a:ea typeface="Calibri" pitchFamily="34" charset="-122"/>
                <a:cs typeface="Calibri" pitchFamily="34" charset="-120"/>
              </a:rPr>
              <a:t>20% Shareholding · Appointed 30 August 2025</a:t>
            </a:r>
            <a:endParaRPr lang="en-US" sz="950" dirty="0"/>
          </a:p>
        </p:txBody>
      </p:sp>
      <p:sp>
        <p:nvSpPr>
          <p:cNvPr id="11" name="Shape 8"/>
          <p:cNvSpPr/>
          <p:nvPr/>
        </p:nvSpPr>
        <p:spPr>
          <a:xfrm>
            <a:off x="1005840" y="3840480"/>
            <a:ext cx="4617720" cy="0"/>
          </a:xfrm>
          <a:prstGeom prst="line">
            <a:avLst/>
          </a:prstGeom>
          <a:noFill/>
          <a:ln w="12700">
            <a:solidFill>
              <a:srgbClr val="E3E6E0"/>
            </a:solidFill>
            <a:prstDash val="solid"/>
          </a:ln>
        </p:spPr>
      </p:sp>
      <p:sp>
        <p:nvSpPr>
          <p:cNvPr id="12" name="Text 9"/>
          <p:cNvSpPr/>
          <p:nvPr/>
        </p:nvSpPr>
        <p:spPr>
          <a:xfrm>
            <a:off x="1005840" y="4069080"/>
            <a:ext cx="4617720" cy="1280160"/>
          </a:xfrm>
          <a:prstGeom prst="rect">
            <a:avLst/>
          </a:prstGeom>
          <a:noFill/>
          <a:ln/>
        </p:spPr>
        <p:txBody>
          <a:bodyPr wrap="square" lIns="0" tIns="0" rIns="0" bIns="0" rtlCol="0" anchor="ctr"/>
          <a:lstStyle/>
          <a:p>
            <a:pPr marL="0" indent="0">
              <a:lnSpc>
                <a:spcPct val="135000"/>
              </a:lnSpc>
              <a:buNone/>
            </a:pPr>
            <a:r>
              <a:rPr lang="en-US" sz="1200" dirty="0">
                <a:solidFill>
                  <a:srgbClr val="3F4A42"/>
                </a:solidFill>
                <a:latin typeface="Calibri" pitchFamily="34" charset="0"/>
                <a:ea typeface="Calibri" pitchFamily="34" charset="-122"/>
                <a:cs typeface="Calibri" pitchFamily="34" charset="-120"/>
              </a:rPr>
              <a:t>A founding Director and Person of Significant Control, Sarah brings direct ownership and strategic oversight to EcoNeemTech's mission of natural innovation.</a:t>
            </a:r>
            <a:endParaRPr lang="en-US" sz="1200" dirty="0"/>
          </a:p>
        </p:txBody>
      </p:sp>
      <p:sp>
        <p:nvSpPr>
          <p:cNvPr id="13" name="Text 10"/>
          <p:cNvSpPr/>
          <p:nvPr/>
        </p:nvSpPr>
        <p:spPr>
          <a:xfrm>
            <a:off x="1005840" y="5577840"/>
            <a:ext cx="4617720" cy="457200"/>
          </a:xfrm>
          <a:prstGeom prst="rect">
            <a:avLst/>
          </a:prstGeom>
          <a:noFill/>
          <a:ln/>
        </p:spPr>
        <p:txBody>
          <a:bodyPr wrap="square" lIns="0" tIns="0" rIns="0" bIns="0" rtlCol="0" anchor="ctr"/>
          <a:lstStyle/>
          <a:p>
            <a:pPr marL="0" indent="0">
              <a:buNone/>
            </a:pPr>
            <a:r>
              <a:rPr lang="en-US" sz="850" b="1" kern="0" spc="80" dirty="0">
                <a:solidFill>
                  <a:srgbClr val="7C8B5C"/>
                </a:solidFill>
                <a:latin typeface="Calibri" pitchFamily="34" charset="0"/>
                <a:ea typeface="Calibri" pitchFamily="34" charset="-122"/>
                <a:cs typeface="Calibri" pitchFamily="34" charset="-120"/>
              </a:rPr>
              <a:t>PART OF AN 8-MEMBER FOUNDING SHAREHOLDER BASE</a:t>
            </a:r>
            <a:endParaRPr lang="en-US" sz="850" dirty="0"/>
          </a:p>
        </p:txBody>
      </p:sp>
      <p:sp>
        <p:nvSpPr>
          <p:cNvPr id="14" name="Shape 11"/>
          <p:cNvSpPr/>
          <p:nvPr/>
        </p:nvSpPr>
        <p:spPr>
          <a:xfrm>
            <a:off x="6172200" y="2057400"/>
            <a:ext cx="5349240" cy="4114800"/>
          </a:xfrm>
          <a:prstGeom prst="roundRect">
            <a:avLst>
              <a:gd name="adj" fmla="val 2667"/>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15" name="Shape 12"/>
          <p:cNvSpPr/>
          <p:nvPr/>
        </p:nvSpPr>
        <p:spPr>
          <a:xfrm>
            <a:off x="6537960" y="2423160"/>
            <a:ext cx="1188720" cy="1188720"/>
          </a:xfrm>
          <a:prstGeom prst="ellipse">
            <a:avLst/>
          </a:prstGeom>
          <a:solidFill>
            <a:srgbClr val="1B4332"/>
          </a:solidFill>
          <a:ln/>
        </p:spPr>
      </p:sp>
      <p:pic>
        <p:nvPicPr>
          <p:cNvPr id="16" name="Image 1" descr="assets/icons/usertie_white.png"/>
          <p:cNvPicPr>
            <a:picLocks noChangeAspect="1"/>
          </p:cNvPicPr>
          <p:nvPr/>
        </p:nvPicPr>
        <p:blipFill>
          <a:blip r:embed="rId4"/>
          <a:stretch>
            <a:fillRect/>
          </a:stretch>
        </p:blipFill>
        <p:spPr>
          <a:xfrm>
            <a:off x="6858000" y="2743200"/>
            <a:ext cx="548640" cy="548640"/>
          </a:xfrm>
          <a:prstGeom prst="rect">
            <a:avLst/>
          </a:prstGeom>
        </p:spPr>
      </p:pic>
      <p:sp>
        <p:nvSpPr>
          <p:cNvPr id="17" name="Text 13"/>
          <p:cNvSpPr/>
          <p:nvPr/>
        </p:nvSpPr>
        <p:spPr>
          <a:xfrm>
            <a:off x="7909560" y="2468880"/>
            <a:ext cx="3383280" cy="457200"/>
          </a:xfrm>
          <a:prstGeom prst="rect">
            <a:avLst/>
          </a:prstGeom>
          <a:noFill/>
          <a:ln/>
        </p:spPr>
        <p:txBody>
          <a:bodyPr wrap="square" lIns="0" tIns="0" rIns="0" bIns="0" rtlCol="0" anchor="ctr"/>
          <a:lstStyle/>
          <a:p>
            <a:pPr marL="0" indent="0">
              <a:buNone/>
            </a:pPr>
            <a:r>
              <a:rPr lang="en-US" sz="1700" b="1" dirty="0">
                <a:solidFill>
                  <a:srgbClr val="1A2B22"/>
                </a:solidFill>
                <a:latin typeface="Cambria" pitchFamily="34" charset="0"/>
                <a:ea typeface="Cambria" pitchFamily="34" charset="-122"/>
                <a:cs typeface="Cambria" pitchFamily="34" charset="-120"/>
              </a:rPr>
              <a:t>Zulfikar Aliyu Adamu</a:t>
            </a:r>
            <a:endParaRPr lang="en-US" sz="1700" dirty="0"/>
          </a:p>
        </p:txBody>
      </p:sp>
      <p:sp>
        <p:nvSpPr>
          <p:cNvPr id="18" name="Text 14"/>
          <p:cNvSpPr/>
          <p:nvPr/>
        </p:nvSpPr>
        <p:spPr>
          <a:xfrm>
            <a:off x="7909560" y="2898648"/>
            <a:ext cx="3383280" cy="274320"/>
          </a:xfrm>
          <a:prstGeom prst="rect">
            <a:avLst/>
          </a:prstGeom>
          <a:noFill/>
          <a:ln/>
        </p:spPr>
        <p:txBody>
          <a:bodyPr wrap="square" lIns="0" tIns="0" rIns="0" bIns="0" rtlCol="0" anchor="ctr"/>
          <a:lstStyle/>
          <a:p>
            <a:pPr marL="0" indent="0">
              <a:buNone/>
            </a:pPr>
            <a:r>
              <a:rPr lang="en-US" sz="1050" b="1" kern="0" spc="120" dirty="0">
                <a:solidFill>
                  <a:srgbClr val="2D6A4F"/>
                </a:solidFill>
                <a:latin typeface="Calibri" pitchFamily="34" charset="0"/>
                <a:ea typeface="Calibri" pitchFamily="34" charset="-122"/>
                <a:cs typeface="Calibri" pitchFamily="34" charset="-120"/>
              </a:rPr>
              <a:t>DIRECTOR</a:t>
            </a:r>
            <a:endParaRPr lang="en-US" sz="1050" dirty="0"/>
          </a:p>
        </p:txBody>
      </p:sp>
      <p:sp>
        <p:nvSpPr>
          <p:cNvPr id="19" name="Text 15"/>
          <p:cNvSpPr/>
          <p:nvPr/>
        </p:nvSpPr>
        <p:spPr>
          <a:xfrm>
            <a:off x="7909560" y="3154680"/>
            <a:ext cx="3383280" cy="320040"/>
          </a:xfrm>
          <a:prstGeom prst="rect">
            <a:avLst/>
          </a:prstGeom>
          <a:noFill/>
          <a:ln/>
        </p:spPr>
        <p:txBody>
          <a:bodyPr wrap="square" lIns="0" tIns="0" rIns="0" bIns="0" rtlCol="0" anchor="ctr"/>
          <a:lstStyle/>
          <a:p>
            <a:pPr marL="0" indent="0">
              <a:buNone/>
            </a:pPr>
            <a:r>
              <a:rPr lang="en-US" sz="950" i="1" dirty="0">
                <a:solidFill>
                  <a:srgbClr val="6B7A70"/>
                </a:solidFill>
                <a:latin typeface="Calibri" pitchFamily="34" charset="0"/>
                <a:ea typeface="Calibri" pitchFamily="34" charset="-122"/>
                <a:cs typeface="Calibri" pitchFamily="34" charset="-120"/>
              </a:rPr>
              <a:t>20% Shareholding · Appointed 30 August 2025</a:t>
            </a:r>
            <a:endParaRPr lang="en-US" sz="950" dirty="0"/>
          </a:p>
        </p:txBody>
      </p:sp>
      <p:sp>
        <p:nvSpPr>
          <p:cNvPr id="20" name="Shape 16"/>
          <p:cNvSpPr/>
          <p:nvPr/>
        </p:nvSpPr>
        <p:spPr>
          <a:xfrm>
            <a:off x="6537960" y="3840480"/>
            <a:ext cx="4617720" cy="0"/>
          </a:xfrm>
          <a:prstGeom prst="line">
            <a:avLst/>
          </a:prstGeom>
          <a:noFill/>
          <a:ln w="12700">
            <a:solidFill>
              <a:srgbClr val="E3E6E0"/>
            </a:solidFill>
            <a:prstDash val="solid"/>
          </a:ln>
        </p:spPr>
      </p:sp>
      <p:sp>
        <p:nvSpPr>
          <p:cNvPr id="21" name="Text 17"/>
          <p:cNvSpPr/>
          <p:nvPr/>
        </p:nvSpPr>
        <p:spPr>
          <a:xfrm>
            <a:off x="6537960" y="4069080"/>
            <a:ext cx="4617720" cy="1280160"/>
          </a:xfrm>
          <a:prstGeom prst="rect">
            <a:avLst/>
          </a:prstGeom>
          <a:noFill/>
          <a:ln/>
        </p:spPr>
        <p:txBody>
          <a:bodyPr wrap="square" lIns="0" tIns="0" rIns="0" bIns="0" rtlCol="0" anchor="ctr"/>
          <a:lstStyle/>
          <a:p>
            <a:pPr marL="0" indent="0">
              <a:lnSpc>
                <a:spcPct val="135000"/>
              </a:lnSpc>
              <a:buNone/>
            </a:pPr>
            <a:r>
              <a:rPr lang="en-US" sz="1200" dirty="0">
                <a:solidFill>
                  <a:srgbClr val="3F4A42"/>
                </a:solidFill>
                <a:latin typeface="Calibri" pitchFamily="34" charset="0"/>
                <a:ea typeface="Calibri" pitchFamily="34" charset="-122"/>
                <a:cs typeface="Calibri" pitchFamily="34" charset="-120"/>
              </a:rPr>
              <a:t>A founding Director and Person of Significant Control, Zulfikar shares equal stewardship of the company's governance and long-term direction.</a:t>
            </a:r>
            <a:endParaRPr lang="en-US" sz="1200" dirty="0"/>
          </a:p>
        </p:txBody>
      </p:sp>
      <p:sp>
        <p:nvSpPr>
          <p:cNvPr id="22" name="Text 18"/>
          <p:cNvSpPr/>
          <p:nvPr/>
        </p:nvSpPr>
        <p:spPr>
          <a:xfrm>
            <a:off x="6537960" y="5577840"/>
            <a:ext cx="4617720" cy="457200"/>
          </a:xfrm>
          <a:prstGeom prst="rect">
            <a:avLst/>
          </a:prstGeom>
          <a:noFill/>
          <a:ln/>
        </p:spPr>
        <p:txBody>
          <a:bodyPr wrap="square" lIns="0" tIns="0" rIns="0" bIns="0" rtlCol="0" anchor="ctr"/>
          <a:lstStyle/>
          <a:p>
            <a:pPr marL="0" indent="0">
              <a:buNone/>
            </a:pPr>
            <a:r>
              <a:rPr lang="en-US" sz="850" b="1" kern="0" spc="80" dirty="0">
                <a:solidFill>
                  <a:srgbClr val="7C8B5C"/>
                </a:solidFill>
                <a:latin typeface="Calibri" pitchFamily="34" charset="0"/>
                <a:ea typeface="Calibri" pitchFamily="34" charset="-122"/>
                <a:cs typeface="Calibri" pitchFamily="34" charset="-120"/>
              </a:rPr>
              <a:t>PART OF AN 8-MEMBER FOUNDING SHAREHOLDER BASE</a:t>
            </a:r>
            <a:endParaRPr lang="en-US" sz="850" dirty="0"/>
          </a:p>
        </p:txBody>
      </p:sp>
      <p:sp>
        <p:nvSpPr>
          <p:cNvPr id="23" name="Text 19"/>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24" name="Text 20"/>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bg/leaf_silhouette_white.png"/>
          <p:cNvPicPr>
            <a:picLocks noChangeAspect="1"/>
          </p:cNvPicPr>
          <p:nvPr/>
        </p:nvPicPr>
        <p:blipFill>
          <a:blip r:embed="rId4">
            <a:alphaModFix amt="10000"/>
          </a:blip>
          <a:stretch>
            <a:fillRect/>
          </a:stretch>
        </p:blipFill>
        <p:spPr>
          <a:xfrm rot="1200000">
            <a:off x="-914400" y="-914400"/>
            <a:ext cx="2926080" cy="4023360"/>
          </a:xfrm>
          <a:prstGeom prst="rect">
            <a:avLst/>
          </a:prstGeom>
        </p:spPr>
      </p:pic>
      <p:sp>
        <p:nvSpPr>
          <p:cNvPr id="3"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95D5B2"/>
                </a:solidFill>
                <a:latin typeface="Calibri" pitchFamily="34" charset="0"/>
                <a:ea typeface="Calibri" pitchFamily="34" charset="-122"/>
                <a:cs typeface="Calibri" pitchFamily="34" charset="-120"/>
              </a:rPr>
              <a:t>OUR STRATEGIC GOALS</a:t>
            </a:r>
            <a:endParaRPr lang="en-US" sz="1250" dirty="0"/>
          </a:p>
        </p:txBody>
      </p:sp>
      <p:sp>
        <p:nvSpPr>
          <p:cNvPr id="4"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Where We're Focused Right Now</a:t>
            </a:r>
            <a:endParaRPr lang="en-US" sz="3000" dirty="0"/>
          </a:p>
        </p:txBody>
      </p:sp>
      <p:sp>
        <p:nvSpPr>
          <p:cNvPr id="5" name="Shape 2"/>
          <p:cNvSpPr/>
          <p:nvPr/>
        </p:nvSpPr>
        <p:spPr>
          <a:xfrm>
            <a:off x="640080" y="1965960"/>
            <a:ext cx="3520440" cy="3931920"/>
          </a:xfrm>
          <a:prstGeom prst="roundRect">
            <a:avLst>
              <a:gd name="adj" fmla="val 2597"/>
            </a:avLst>
          </a:prstGeom>
          <a:solidFill>
            <a:srgbClr val="FFFFFF">
              <a:alpha val="8000"/>
            </a:srgbClr>
          </a:solidFill>
          <a:ln w="9525">
            <a:solidFill>
              <a:srgbClr val="FFFFFF">
                <a:alpha val="30000"/>
              </a:srgbClr>
            </a:solidFill>
            <a:prstDash val="solid"/>
          </a:ln>
        </p:spPr>
      </p:sp>
      <p:sp>
        <p:nvSpPr>
          <p:cNvPr id="6" name="Shape 3"/>
          <p:cNvSpPr/>
          <p:nvPr/>
        </p:nvSpPr>
        <p:spPr>
          <a:xfrm>
            <a:off x="2011680" y="2331720"/>
            <a:ext cx="777240" cy="777240"/>
          </a:xfrm>
          <a:prstGeom prst="ellipse">
            <a:avLst/>
          </a:prstGeom>
          <a:solidFill>
            <a:srgbClr val="95D5B2"/>
          </a:solidFill>
          <a:ln/>
        </p:spPr>
      </p:sp>
      <p:pic>
        <p:nvPicPr>
          <p:cNvPr id="7" name="Image 1" descr="assets/icons/bullseye_deep.png"/>
          <p:cNvPicPr>
            <a:picLocks noChangeAspect="1"/>
          </p:cNvPicPr>
          <p:nvPr/>
        </p:nvPicPr>
        <p:blipFill>
          <a:blip r:embed="rId5"/>
          <a:stretch>
            <a:fillRect/>
          </a:stretch>
        </p:blipFill>
        <p:spPr>
          <a:xfrm>
            <a:off x="2208276" y="2532888"/>
            <a:ext cx="384048" cy="384048"/>
          </a:xfrm>
          <a:prstGeom prst="rect">
            <a:avLst/>
          </a:prstGeom>
        </p:spPr>
      </p:pic>
      <p:sp>
        <p:nvSpPr>
          <p:cNvPr id="8" name="Text 4"/>
          <p:cNvSpPr/>
          <p:nvPr/>
        </p:nvSpPr>
        <p:spPr>
          <a:xfrm>
            <a:off x="868680" y="3337560"/>
            <a:ext cx="3063240" cy="640080"/>
          </a:xfrm>
          <a:prstGeom prst="rect">
            <a:avLst/>
          </a:prstGeom>
          <a:noFill/>
          <a:ln/>
        </p:spPr>
        <p:txBody>
          <a:bodyPr wrap="square" lIns="0" tIns="0" rIns="0" bIns="0" rtlCol="0" anchor="ctr"/>
          <a:lstStyle/>
          <a:p>
            <a:pPr marL="0" indent="0" algn="ctr">
              <a:lnSpc>
                <a:spcPct val="105000"/>
              </a:lnSpc>
              <a:buNone/>
            </a:pPr>
            <a:r>
              <a:rPr lang="en-US" sz="1450" b="1" dirty="0">
                <a:solidFill>
                  <a:srgbClr val="FFFFFF"/>
                </a:solidFill>
                <a:latin typeface="Cambria" pitchFamily="34" charset="0"/>
                <a:ea typeface="Cambria" pitchFamily="34" charset="-122"/>
                <a:cs typeface="Cambria" pitchFamily="34" charset="-120"/>
              </a:rPr>
              <a:t>Goal 01   Market Entry</a:t>
            </a:r>
            <a:endParaRPr lang="en-US" sz="1450" dirty="0"/>
          </a:p>
        </p:txBody>
      </p:sp>
      <p:sp>
        <p:nvSpPr>
          <p:cNvPr id="9" name="Text 5"/>
          <p:cNvSpPr/>
          <p:nvPr/>
        </p:nvSpPr>
        <p:spPr>
          <a:xfrm>
            <a:off x="914400" y="4069080"/>
            <a:ext cx="2971800" cy="1645920"/>
          </a:xfrm>
          <a:prstGeom prst="rect">
            <a:avLst/>
          </a:prstGeom>
          <a:noFill/>
          <a:ln/>
        </p:spPr>
        <p:txBody>
          <a:bodyPr wrap="square" lIns="0" tIns="0" rIns="0" bIns="0" rtlCol="0" anchor="ctr"/>
          <a:lstStyle/>
          <a:p>
            <a:pPr marL="0" indent="0" algn="ctr">
              <a:lnSpc>
                <a:spcPct val="132000"/>
              </a:lnSpc>
              <a:buNone/>
            </a:pPr>
            <a:r>
              <a:rPr lang="en-US" sz="1150" dirty="0">
                <a:solidFill>
                  <a:srgbClr val="DCEAE0"/>
                </a:solidFill>
                <a:latin typeface="Calibri" pitchFamily="34" charset="0"/>
                <a:ea typeface="Calibri" pitchFamily="34" charset="-122"/>
                <a:cs typeface="Calibri" pitchFamily="34" charset="-120"/>
              </a:rPr>
              <a:t>Achieve consistent retail presence across Abuja &amp; the FCT within the first 12 months of operation.</a:t>
            </a:r>
            <a:endParaRPr lang="en-US" sz="1150" dirty="0"/>
          </a:p>
        </p:txBody>
      </p:sp>
      <p:sp>
        <p:nvSpPr>
          <p:cNvPr id="10" name="Shape 6"/>
          <p:cNvSpPr/>
          <p:nvPr/>
        </p:nvSpPr>
        <p:spPr>
          <a:xfrm>
            <a:off x="4343400" y="1965960"/>
            <a:ext cx="3520440" cy="3931920"/>
          </a:xfrm>
          <a:prstGeom prst="roundRect">
            <a:avLst>
              <a:gd name="adj" fmla="val 2597"/>
            </a:avLst>
          </a:prstGeom>
          <a:solidFill>
            <a:srgbClr val="FFFFFF">
              <a:alpha val="8000"/>
            </a:srgbClr>
          </a:solidFill>
          <a:ln w="9525">
            <a:solidFill>
              <a:srgbClr val="FFFFFF">
                <a:alpha val="30000"/>
              </a:srgbClr>
            </a:solidFill>
            <a:prstDash val="solid"/>
          </a:ln>
        </p:spPr>
      </p:sp>
      <p:sp>
        <p:nvSpPr>
          <p:cNvPr id="11" name="Shape 7"/>
          <p:cNvSpPr/>
          <p:nvPr/>
        </p:nvSpPr>
        <p:spPr>
          <a:xfrm>
            <a:off x="5715000" y="2331720"/>
            <a:ext cx="777240" cy="777240"/>
          </a:xfrm>
          <a:prstGeom prst="ellipse">
            <a:avLst/>
          </a:prstGeom>
          <a:solidFill>
            <a:srgbClr val="95D5B2"/>
          </a:solidFill>
          <a:ln/>
        </p:spPr>
      </p:sp>
      <p:pic>
        <p:nvPicPr>
          <p:cNvPr id="12" name="Image 2" descr="assets/icons/flask_deep.png"/>
          <p:cNvPicPr>
            <a:picLocks noChangeAspect="1"/>
          </p:cNvPicPr>
          <p:nvPr/>
        </p:nvPicPr>
        <p:blipFill>
          <a:blip r:embed="rId6"/>
          <a:stretch>
            <a:fillRect/>
          </a:stretch>
        </p:blipFill>
        <p:spPr>
          <a:xfrm>
            <a:off x="5911596" y="2532888"/>
            <a:ext cx="384048" cy="384048"/>
          </a:xfrm>
          <a:prstGeom prst="rect">
            <a:avLst/>
          </a:prstGeom>
        </p:spPr>
      </p:pic>
      <p:sp>
        <p:nvSpPr>
          <p:cNvPr id="13" name="Text 8"/>
          <p:cNvSpPr/>
          <p:nvPr/>
        </p:nvSpPr>
        <p:spPr>
          <a:xfrm>
            <a:off x="4572000" y="3337560"/>
            <a:ext cx="3063240" cy="640080"/>
          </a:xfrm>
          <a:prstGeom prst="rect">
            <a:avLst/>
          </a:prstGeom>
          <a:noFill/>
          <a:ln/>
        </p:spPr>
        <p:txBody>
          <a:bodyPr wrap="square" lIns="0" tIns="0" rIns="0" bIns="0" rtlCol="0" anchor="ctr"/>
          <a:lstStyle/>
          <a:p>
            <a:pPr marL="0" indent="0" algn="ctr">
              <a:lnSpc>
                <a:spcPct val="105000"/>
              </a:lnSpc>
              <a:buNone/>
            </a:pPr>
            <a:r>
              <a:rPr lang="en-US" sz="1450" b="1" dirty="0">
                <a:solidFill>
                  <a:srgbClr val="FFFFFF"/>
                </a:solidFill>
                <a:latin typeface="Cambria" pitchFamily="34" charset="0"/>
                <a:ea typeface="Cambria" pitchFamily="34" charset="-122"/>
                <a:cs typeface="Cambria" pitchFamily="34" charset="-120"/>
              </a:rPr>
              <a:t>Goal 02   Product Validation</a:t>
            </a:r>
            <a:endParaRPr lang="en-US" sz="1450" dirty="0"/>
          </a:p>
        </p:txBody>
      </p:sp>
      <p:sp>
        <p:nvSpPr>
          <p:cNvPr id="14" name="Text 9"/>
          <p:cNvSpPr/>
          <p:nvPr/>
        </p:nvSpPr>
        <p:spPr>
          <a:xfrm>
            <a:off x="4617720" y="4069080"/>
            <a:ext cx="2971800" cy="1645920"/>
          </a:xfrm>
          <a:prstGeom prst="rect">
            <a:avLst/>
          </a:prstGeom>
          <a:noFill/>
          <a:ln/>
        </p:spPr>
        <p:txBody>
          <a:bodyPr wrap="square" lIns="0" tIns="0" rIns="0" bIns="0" rtlCol="0" anchor="ctr"/>
          <a:lstStyle/>
          <a:p>
            <a:pPr marL="0" indent="0" algn="ctr">
              <a:lnSpc>
                <a:spcPct val="132000"/>
              </a:lnSpc>
              <a:buNone/>
            </a:pPr>
            <a:r>
              <a:rPr lang="en-US" sz="1150" dirty="0">
                <a:solidFill>
                  <a:srgbClr val="DCEAE0"/>
                </a:solidFill>
                <a:latin typeface="Calibri" pitchFamily="34" charset="0"/>
                <a:ea typeface="Calibri" pitchFamily="34" charset="-122"/>
                <a:cs typeface="Calibri" pitchFamily="34" charset="-120"/>
              </a:rPr>
              <a:t>Complete formulation testing and quality benchmarking across the full Neem-based product line.</a:t>
            </a:r>
            <a:endParaRPr lang="en-US" sz="1150" dirty="0"/>
          </a:p>
        </p:txBody>
      </p:sp>
      <p:sp>
        <p:nvSpPr>
          <p:cNvPr id="15" name="Shape 10"/>
          <p:cNvSpPr/>
          <p:nvPr/>
        </p:nvSpPr>
        <p:spPr>
          <a:xfrm>
            <a:off x="8046720" y="1965960"/>
            <a:ext cx="3520440" cy="3931920"/>
          </a:xfrm>
          <a:prstGeom prst="roundRect">
            <a:avLst>
              <a:gd name="adj" fmla="val 2597"/>
            </a:avLst>
          </a:prstGeom>
          <a:solidFill>
            <a:srgbClr val="FFFFFF">
              <a:alpha val="8000"/>
            </a:srgbClr>
          </a:solidFill>
          <a:ln w="9525">
            <a:solidFill>
              <a:srgbClr val="FFFFFF">
                <a:alpha val="30000"/>
              </a:srgbClr>
            </a:solidFill>
            <a:prstDash val="solid"/>
          </a:ln>
        </p:spPr>
      </p:sp>
      <p:sp>
        <p:nvSpPr>
          <p:cNvPr id="16" name="Shape 11"/>
          <p:cNvSpPr/>
          <p:nvPr/>
        </p:nvSpPr>
        <p:spPr>
          <a:xfrm>
            <a:off x="9418320" y="2331720"/>
            <a:ext cx="777240" cy="777240"/>
          </a:xfrm>
          <a:prstGeom prst="ellipse">
            <a:avLst/>
          </a:prstGeom>
          <a:solidFill>
            <a:srgbClr val="95D5B2"/>
          </a:solidFill>
          <a:ln/>
        </p:spPr>
      </p:sp>
      <p:pic>
        <p:nvPicPr>
          <p:cNvPr id="17" name="Image 3" descr="assets/icons/handshake_deep.png"/>
          <p:cNvPicPr>
            <a:picLocks noChangeAspect="1"/>
          </p:cNvPicPr>
          <p:nvPr/>
        </p:nvPicPr>
        <p:blipFill>
          <a:blip r:embed="rId7"/>
          <a:stretch>
            <a:fillRect/>
          </a:stretch>
        </p:blipFill>
        <p:spPr>
          <a:xfrm>
            <a:off x="9614916" y="2532888"/>
            <a:ext cx="384048" cy="384048"/>
          </a:xfrm>
          <a:prstGeom prst="rect">
            <a:avLst/>
          </a:prstGeom>
        </p:spPr>
      </p:pic>
      <p:sp>
        <p:nvSpPr>
          <p:cNvPr id="18" name="Text 12"/>
          <p:cNvSpPr/>
          <p:nvPr/>
        </p:nvSpPr>
        <p:spPr>
          <a:xfrm>
            <a:off x="8275320" y="3337560"/>
            <a:ext cx="3063240" cy="640080"/>
          </a:xfrm>
          <a:prstGeom prst="rect">
            <a:avLst/>
          </a:prstGeom>
          <a:noFill/>
          <a:ln/>
        </p:spPr>
        <p:txBody>
          <a:bodyPr wrap="square" lIns="0" tIns="0" rIns="0" bIns="0" rtlCol="0" anchor="ctr"/>
          <a:lstStyle/>
          <a:p>
            <a:pPr marL="0" indent="0" algn="ctr">
              <a:lnSpc>
                <a:spcPct val="105000"/>
              </a:lnSpc>
              <a:buNone/>
            </a:pPr>
            <a:r>
              <a:rPr lang="en-US" sz="1450" b="1" dirty="0">
                <a:solidFill>
                  <a:srgbClr val="FFFFFF"/>
                </a:solidFill>
                <a:latin typeface="Cambria" pitchFamily="34" charset="0"/>
                <a:ea typeface="Cambria" pitchFamily="34" charset="-122"/>
                <a:cs typeface="Cambria" pitchFamily="34" charset="-120"/>
              </a:rPr>
              <a:t>Goal 03   Strategic Partnerships</a:t>
            </a:r>
            <a:endParaRPr lang="en-US" sz="1450" dirty="0"/>
          </a:p>
        </p:txBody>
      </p:sp>
      <p:sp>
        <p:nvSpPr>
          <p:cNvPr id="19" name="Text 13"/>
          <p:cNvSpPr/>
          <p:nvPr/>
        </p:nvSpPr>
        <p:spPr>
          <a:xfrm>
            <a:off x="8321040" y="4069080"/>
            <a:ext cx="2971800" cy="1645920"/>
          </a:xfrm>
          <a:prstGeom prst="rect">
            <a:avLst/>
          </a:prstGeom>
          <a:noFill/>
          <a:ln/>
        </p:spPr>
        <p:txBody>
          <a:bodyPr wrap="square" lIns="0" tIns="0" rIns="0" bIns="0" rtlCol="0" anchor="ctr"/>
          <a:lstStyle/>
          <a:p>
            <a:pPr marL="0" indent="0" algn="ctr">
              <a:lnSpc>
                <a:spcPct val="132000"/>
              </a:lnSpc>
              <a:buNone/>
            </a:pPr>
            <a:r>
              <a:rPr lang="en-US" sz="1150" dirty="0">
                <a:solidFill>
                  <a:srgbClr val="DCEAE0"/>
                </a:solidFill>
                <a:latin typeface="Calibri" pitchFamily="34" charset="0"/>
                <a:ea typeface="Calibri" pitchFamily="34" charset="-122"/>
                <a:cs typeface="Calibri" pitchFamily="34" charset="-120"/>
              </a:rPr>
              <a:t>Secure distribution, institutional, and supply-chain partnerships to support sustainable scale-up.</a:t>
            </a:r>
            <a:endParaRPr lang="en-US" sz="1150" dirty="0"/>
          </a:p>
        </p:txBody>
      </p:sp>
      <p:sp>
        <p:nvSpPr>
          <p:cNvPr id="20" name="Text 14"/>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BFD8C9"/>
                </a:solidFill>
                <a:latin typeface="Calibri" pitchFamily="34" charset="0"/>
                <a:ea typeface="Calibri" pitchFamily="34" charset="-122"/>
                <a:cs typeface="Calibri" pitchFamily="34" charset="-120"/>
              </a:rPr>
              <a:t>ECONEEMTECH LTD</a:t>
            </a:r>
            <a:endParaRPr lang="en-US" sz="850" dirty="0"/>
          </a:p>
        </p:txBody>
      </p:sp>
      <p:sp>
        <p:nvSpPr>
          <p:cNvPr id="21" name="Text 15"/>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BFD8C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OUR QUALITY ASSURANCE PROCESS</a:t>
            </a:r>
            <a:endParaRPr lang="en-US" sz="1250" dirty="0"/>
          </a:p>
        </p:txBody>
      </p:sp>
      <p:sp>
        <p:nvSpPr>
          <p:cNvPr id="3"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000" b="1" dirty="0">
                <a:solidFill>
                  <a:srgbClr val="1A2B22"/>
                </a:solidFill>
                <a:latin typeface="Cambria" pitchFamily="34" charset="0"/>
                <a:ea typeface="Cambria" pitchFamily="34" charset="-122"/>
                <a:cs typeface="Cambria" pitchFamily="34" charset="-120"/>
              </a:rPr>
              <a:t>Quality, Verified at Every Stage</a:t>
            </a:r>
            <a:endParaRPr lang="en-US" sz="3000" dirty="0"/>
          </a:p>
        </p:txBody>
      </p:sp>
      <p:sp>
        <p:nvSpPr>
          <p:cNvPr id="4" name="Shape 2"/>
          <p:cNvSpPr/>
          <p:nvPr/>
        </p:nvSpPr>
        <p:spPr>
          <a:xfrm>
            <a:off x="640080" y="1737360"/>
            <a:ext cx="1993392" cy="4160520"/>
          </a:xfrm>
          <a:prstGeom prst="roundRect">
            <a:avLst>
              <a:gd name="adj" fmla="val 4587"/>
            </a:avLst>
          </a:prstGeom>
          <a:solidFill>
            <a:srgbClr val="1B4332"/>
          </a:solidFill>
          <a:ln/>
          <a:effectLst>
            <a:outerShdw blurRad="127000" dist="38100" dir="5400000" algn="bl" rotWithShape="0">
              <a:srgbClr val="1B4332">
                <a:alpha val="10000"/>
              </a:srgbClr>
            </a:outerShdw>
          </a:effectLst>
        </p:spPr>
      </p:sp>
      <p:sp>
        <p:nvSpPr>
          <p:cNvPr id="5" name="Text 3"/>
          <p:cNvSpPr/>
          <p:nvPr/>
        </p:nvSpPr>
        <p:spPr>
          <a:xfrm>
            <a:off x="804672" y="1901952"/>
            <a:ext cx="914400" cy="457200"/>
          </a:xfrm>
          <a:prstGeom prst="rect">
            <a:avLst/>
          </a:prstGeom>
          <a:noFill/>
          <a:ln/>
        </p:spPr>
        <p:txBody>
          <a:bodyPr wrap="square" lIns="0" tIns="0" rIns="0" bIns="0" rtlCol="0" anchor="ctr"/>
          <a:lstStyle/>
          <a:p>
            <a:pPr marL="0" indent="0">
              <a:buNone/>
            </a:pPr>
            <a:r>
              <a:rPr lang="en-US" sz="2000" b="1" dirty="0">
                <a:solidFill>
                  <a:srgbClr val="FFFFFF">
                    <a:alpha val="55000"/>
                  </a:srgbClr>
                </a:solidFill>
                <a:latin typeface="Cambria" pitchFamily="34" charset="0"/>
                <a:ea typeface="Cambria" pitchFamily="34" charset="-122"/>
                <a:cs typeface="Cambria" pitchFamily="34" charset="-120"/>
              </a:rPr>
              <a:t>01</a:t>
            </a:r>
            <a:endParaRPr lang="en-US" sz="2000" dirty="0"/>
          </a:p>
        </p:txBody>
      </p:sp>
      <p:sp>
        <p:nvSpPr>
          <p:cNvPr id="6" name="Shape 4"/>
          <p:cNvSpPr/>
          <p:nvPr/>
        </p:nvSpPr>
        <p:spPr>
          <a:xfrm>
            <a:off x="1371600" y="2514600"/>
            <a:ext cx="530352" cy="530352"/>
          </a:xfrm>
          <a:prstGeom prst="ellipse">
            <a:avLst/>
          </a:prstGeom>
          <a:solidFill>
            <a:srgbClr val="FFFFFF">
              <a:alpha val="12000"/>
            </a:srgbClr>
          </a:solidFill>
          <a:ln/>
        </p:spPr>
      </p:sp>
      <p:pic>
        <p:nvPicPr>
          <p:cNvPr id="7" name="Image 0" descr="assets/icons/seedling_white.png"/>
          <p:cNvPicPr>
            <a:picLocks noChangeAspect="1"/>
          </p:cNvPicPr>
          <p:nvPr/>
        </p:nvPicPr>
        <p:blipFill>
          <a:blip r:embed="rId4"/>
          <a:stretch>
            <a:fillRect/>
          </a:stretch>
        </p:blipFill>
        <p:spPr>
          <a:xfrm>
            <a:off x="1499616" y="2642616"/>
            <a:ext cx="274320" cy="274320"/>
          </a:xfrm>
          <a:prstGeom prst="rect">
            <a:avLst/>
          </a:prstGeom>
        </p:spPr>
      </p:pic>
      <p:sp>
        <p:nvSpPr>
          <p:cNvPr id="8" name="Text 5"/>
          <p:cNvSpPr/>
          <p:nvPr/>
        </p:nvSpPr>
        <p:spPr>
          <a:xfrm>
            <a:off x="777240" y="3246120"/>
            <a:ext cx="1719072" cy="64008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mbria" pitchFamily="34" charset="0"/>
                <a:ea typeface="Cambria" pitchFamily="34" charset="-122"/>
                <a:cs typeface="Cambria" pitchFamily="34" charset="-120"/>
              </a:rPr>
              <a:t>Raw Material Screening</a:t>
            </a:r>
            <a:endParaRPr lang="en-US" sz="1200" dirty="0"/>
          </a:p>
        </p:txBody>
      </p:sp>
      <p:sp>
        <p:nvSpPr>
          <p:cNvPr id="9" name="Text 6"/>
          <p:cNvSpPr/>
          <p:nvPr/>
        </p:nvSpPr>
        <p:spPr>
          <a:xfrm>
            <a:off x="804672" y="3931920"/>
            <a:ext cx="1664208" cy="1737360"/>
          </a:xfrm>
          <a:prstGeom prst="rect">
            <a:avLst/>
          </a:prstGeom>
          <a:noFill/>
          <a:ln/>
        </p:spPr>
        <p:txBody>
          <a:bodyPr wrap="square" lIns="0" tIns="0" rIns="0" bIns="0" rtlCol="0" anchor="ctr"/>
          <a:lstStyle/>
          <a:p>
            <a:pPr marL="0" indent="0" algn="ctr">
              <a:lnSpc>
                <a:spcPct val="125000"/>
              </a:lnSpc>
              <a:buNone/>
            </a:pPr>
            <a:r>
              <a:rPr lang="en-US" sz="980" dirty="0">
                <a:solidFill>
                  <a:srgbClr val="DCEAE0"/>
                </a:solidFill>
                <a:latin typeface="Calibri" pitchFamily="34" charset="0"/>
                <a:ea typeface="Calibri" pitchFamily="34" charset="-122"/>
                <a:cs typeface="Calibri" pitchFamily="34" charset="-120"/>
              </a:rPr>
              <a:t>Neem inputs are inspected for purity, potency, and consistency before use.</a:t>
            </a:r>
            <a:endParaRPr lang="en-US" sz="980" dirty="0"/>
          </a:p>
        </p:txBody>
      </p:sp>
      <p:pic>
        <p:nvPicPr>
          <p:cNvPr id="10" name="Image 1" descr="assets/icons/arrowright_green.png"/>
          <p:cNvPicPr>
            <a:picLocks noChangeAspect="1"/>
          </p:cNvPicPr>
          <p:nvPr/>
        </p:nvPicPr>
        <p:blipFill>
          <a:blip r:embed="rId5"/>
          <a:stretch>
            <a:fillRect/>
          </a:stretch>
        </p:blipFill>
        <p:spPr>
          <a:xfrm>
            <a:off x="2660904" y="3726180"/>
            <a:ext cx="182880" cy="182880"/>
          </a:xfrm>
          <a:prstGeom prst="rect">
            <a:avLst/>
          </a:prstGeom>
        </p:spPr>
      </p:pic>
      <p:sp>
        <p:nvSpPr>
          <p:cNvPr id="11" name="Shape 7"/>
          <p:cNvSpPr/>
          <p:nvPr/>
        </p:nvSpPr>
        <p:spPr>
          <a:xfrm>
            <a:off x="2871216" y="1737360"/>
            <a:ext cx="1993392" cy="4160520"/>
          </a:xfrm>
          <a:prstGeom prst="roundRect">
            <a:avLst>
              <a:gd name="adj" fmla="val 4587"/>
            </a:avLst>
          </a:prstGeom>
          <a:solidFill>
            <a:srgbClr val="2D6A4F"/>
          </a:solidFill>
          <a:ln/>
          <a:effectLst>
            <a:outerShdw blurRad="127000" dist="38100" dir="5400000" algn="bl" rotWithShape="0">
              <a:srgbClr val="1B4332">
                <a:alpha val="10000"/>
              </a:srgbClr>
            </a:outerShdw>
          </a:effectLst>
        </p:spPr>
      </p:sp>
      <p:sp>
        <p:nvSpPr>
          <p:cNvPr id="12" name="Text 8"/>
          <p:cNvSpPr/>
          <p:nvPr/>
        </p:nvSpPr>
        <p:spPr>
          <a:xfrm>
            <a:off x="3035808" y="1901952"/>
            <a:ext cx="914400" cy="457200"/>
          </a:xfrm>
          <a:prstGeom prst="rect">
            <a:avLst/>
          </a:prstGeom>
          <a:noFill/>
          <a:ln/>
        </p:spPr>
        <p:txBody>
          <a:bodyPr wrap="square" lIns="0" tIns="0" rIns="0" bIns="0" rtlCol="0" anchor="ctr"/>
          <a:lstStyle/>
          <a:p>
            <a:pPr marL="0" indent="0">
              <a:buNone/>
            </a:pPr>
            <a:r>
              <a:rPr lang="en-US" sz="2000" b="1" dirty="0">
                <a:solidFill>
                  <a:srgbClr val="FFFFFF">
                    <a:alpha val="55000"/>
                  </a:srgbClr>
                </a:solidFill>
                <a:latin typeface="Cambria" pitchFamily="34" charset="0"/>
                <a:ea typeface="Cambria" pitchFamily="34" charset="-122"/>
                <a:cs typeface="Cambria" pitchFamily="34" charset="-120"/>
              </a:rPr>
              <a:t>02</a:t>
            </a:r>
            <a:endParaRPr lang="en-US" sz="2000" dirty="0"/>
          </a:p>
        </p:txBody>
      </p:sp>
      <p:sp>
        <p:nvSpPr>
          <p:cNvPr id="13" name="Shape 9"/>
          <p:cNvSpPr/>
          <p:nvPr/>
        </p:nvSpPr>
        <p:spPr>
          <a:xfrm>
            <a:off x="3602736" y="2514600"/>
            <a:ext cx="530352" cy="530352"/>
          </a:xfrm>
          <a:prstGeom prst="ellipse">
            <a:avLst/>
          </a:prstGeom>
          <a:solidFill>
            <a:srgbClr val="FFFFFF">
              <a:alpha val="12000"/>
            </a:srgbClr>
          </a:solidFill>
          <a:ln/>
        </p:spPr>
      </p:sp>
      <p:pic>
        <p:nvPicPr>
          <p:cNvPr id="14" name="Image 2" descr="assets/icons/flask_white.png"/>
          <p:cNvPicPr>
            <a:picLocks noChangeAspect="1"/>
          </p:cNvPicPr>
          <p:nvPr/>
        </p:nvPicPr>
        <p:blipFill>
          <a:blip r:embed="rId6"/>
          <a:stretch>
            <a:fillRect/>
          </a:stretch>
        </p:blipFill>
        <p:spPr>
          <a:xfrm>
            <a:off x="3730752" y="2642616"/>
            <a:ext cx="274320" cy="274320"/>
          </a:xfrm>
          <a:prstGeom prst="rect">
            <a:avLst/>
          </a:prstGeom>
        </p:spPr>
      </p:pic>
      <p:sp>
        <p:nvSpPr>
          <p:cNvPr id="15" name="Text 10"/>
          <p:cNvSpPr/>
          <p:nvPr/>
        </p:nvSpPr>
        <p:spPr>
          <a:xfrm>
            <a:off x="3008376" y="3246120"/>
            <a:ext cx="1719072" cy="64008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mbria" pitchFamily="34" charset="0"/>
                <a:ea typeface="Cambria" pitchFamily="34" charset="-122"/>
                <a:cs typeface="Cambria" pitchFamily="34" charset="-120"/>
              </a:rPr>
              <a:t>Formulation Testing</a:t>
            </a:r>
            <a:endParaRPr lang="en-US" sz="1200" dirty="0"/>
          </a:p>
        </p:txBody>
      </p:sp>
      <p:sp>
        <p:nvSpPr>
          <p:cNvPr id="16" name="Text 11"/>
          <p:cNvSpPr/>
          <p:nvPr/>
        </p:nvSpPr>
        <p:spPr>
          <a:xfrm>
            <a:off x="3035808" y="3931920"/>
            <a:ext cx="1664208" cy="1737360"/>
          </a:xfrm>
          <a:prstGeom prst="rect">
            <a:avLst/>
          </a:prstGeom>
          <a:noFill/>
          <a:ln/>
        </p:spPr>
        <p:txBody>
          <a:bodyPr wrap="square" lIns="0" tIns="0" rIns="0" bIns="0" rtlCol="0" anchor="ctr"/>
          <a:lstStyle/>
          <a:p>
            <a:pPr marL="0" indent="0" algn="ctr">
              <a:lnSpc>
                <a:spcPct val="125000"/>
              </a:lnSpc>
              <a:buNone/>
            </a:pPr>
            <a:r>
              <a:rPr lang="en-US" sz="980" dirty="0">
                <a:solidFill>
                  <a:srgbClr val="DCEAE0"/>
                </a:solidFill>
                <a:latin typeface="Calibri" pitchFamily="34" charset="0"/>
                <a:ea typeface="Calibri" pitchFamily="34" charset="-122"/>
                <a:cs typeface="Calibri" pitchFamily="34" charset="-120"/>
              </a:rPr>
              <a:t>Each formulation is lab-tested for stability, safety, and efficacy.</a:t>
            </a:r>
            <a:endParaRPr lang="en-US" sz="980" dirty="0"/>
          </a:p>
        </p:txBody>
      </p:sp>
      <p:pic>
        <p:nvPicPr>
          <p:cNvPr id="17" name="Image 3" descr="assets/icons/arrowright_green.png"/>
          <p:cNvPicPr>
            <a:picLocks noChangeAspect="1"/>
          </p:cNvPicPr>
          <p:nvPr/>
        </p:nvPicPr>
        <p:blipFill>
          <a:blip r:embed="rId5"/>
          <a:stretch>
            <a:fillRect/>
          </a:stretch>
        </p:blipFill>
        <p:spPr>
          <a:xfrm>
            <a:off x="4892040" y="3726180"/>
            <a:ext cx="182880" cy="182880"/>
          </a:xfrm>
          <a:prstGeom prst="rect">
            <a:avLst/>
          </a:prstGeom>
        </p:spPr>
      </p:pic>
      <p:sp>
        <p:nvSpPr>
          <p:cNvPr id="18" name="Shape 12"/>
          <p:cNvSpPr/>
          <p:nvPr/>
        </p:nvSpPr>
        <p:spPr>
          <a:xfrm>
            <a:off x="5102352" y="1737360"/>
            <a:ext cx="1993392" cy="4160520"/>
          </a:xfrm>
          <a:prstGeom prst="roundRect">
            <a:avLst>
              <a:gd name="adj" fmla="val 4587"/>
            </a:avLst>
          </a:prstGeom>
          <a:solidFill>
            <a:srgbClr val="1B4332"/>
          </a:solidFill>
          <a:ln/>
          <a:effectLst>
            <a:outerShdw blurRad="127000" dist="38100" dir="5400000" algn="bl" rotWithShape="0">
              <a:srgbClr val="1B4332">
                <a:alpha val="10000"/>
              </a:srgbClr>
            </a:outerShdw>
          </a:effectLst>
        </p:spPr>
      </p:sp>
      <p:sp>
        <p:nvSpPr>
          <p:cNvPr id="19" name="Text 13"/>
          <p:cNvSpPr/>
          <p:nvPr/>
        </p:nvSpPr>
        <p:spPr>
          <a:xfrm>
            <a:off x="5266944" y="1901952"/>
            <a:ext cx="914400" cy="457200"/>
          </a:xfrm>
          <a:prstGeom prst="rect">
            <a:avLst/>
          </a:prstGeom>
          <a:noFill/>
          <a:ln/>
        </p:spPr>
        <p:txBody>
          <a:bodyPr wrap="square" lIns="0" tIns="0" rIns="0" bIns="0" rtlCol="0" anchor="ctr"/>
          <a:lstStyle/>
          <a:p>
            <a:pPr marL="0" indent="0">
              <a:buNone/>
            </a:pPr>
            <a:r>
              <a:rPr lang="en-US" sz="2000" b="1" dirty="0">
                <a:solidFill>
                  <a:srgbClr val="FFFFFF">
                    <a:alpha val="55000"/>
                  </a:srgbClr>
                </a:solidFill>
                <a:latin typeface="Cambria" pitchFamily="34" charset="0"/>
                <a:ea typeface="Cambria" pitchFamily="34" charset="-122"/>
                <a:cs typeface="Cambria" pitchFamily="34" charset="-120"/>
              </a:rPr>
              <a:t>03</a:t>
            </a:r>
            <a:endParaRPr lang="en-US" sz="2000" dirty="0"/>
          </a:p>
        </p:txBody>
      </p:sp>
      <p:sp>
        <p:nvSpPr>
          <p:cNvPr id="20" name="Shape 14"/>
          <p:cNvSpPr/>
          <p:nvPr/>
        </p:nvSpPr>
        <p:spPr>
          <a:xfrm>
            <a:off x="5833872" y="2514600"/>
            <a:ext cx="530352" cy="530352"/>
          </a:xfrm>
          <a:prstGeom prst="ellipse">
            <a:avLst/>
          </a:prstGeom>
          <a:solidFill>
            <a:srgbClr val="FFFFFF">
              <a:alpha val="12000"/>
            </a:srgbClr>
          </a:solidFill>
          <a:ln/>
        </p:spPr>
      </p:sp>
      <p:pic>
        <p:nvPicPr>
          <p:cNvPr id="21" name="Image 4" descr="assets/icons/industry_white.png"/>
          <p:cNvPicPr>
            <a:picLocks noChangeAspect="1"/>
          </p:cNvPicPr>
          <p:nvPr/>
        </p:nvPicPr>
        <p:blipFill>
          <a:blip r:embed="rId7"/>
          <a:stretch>
            <a:fillRect/>
          </a:stretch>
        </p:blipFill>
        <p:spPr>
          <a:xfrm>
            <a:off x="5961888" y="2642616"/>
            <a:ext cx="274320" cy="274320"/>
          </a:xfrm>
          <a:prstGeom prst="rect">
            <a:avLst/>
          </a:prstGeom>
        </p:spPr>
      </p:pic>
      <p:sp>
        <p:nvSpPr>
          <p:cNvPr id="22" name="Text 15"/>
          <p:cNvSpPr/>
          <p:nvPr/>
        </p:nvSpPr>
        <p:spPr>
          <a:xfrm>
            <a:off x="5239512" y="3246120"/>
            <a:ext cx="1719072" cy="64008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mbria" pitchFamily="34" charset="0"/>
                <a:ea typeface="Cambria" pitchFamily="34" charset="-122"/>
                <a:cs typeface="Cambria" pitchFamily="34" charset="-120"/>
              </a:rPr>
              <a:t>Production Controls</a:t>
            </a:r>
            <a:endParaRPr lang="en-US" sz="1200" dirty="0"/>
          </a:p>
        </p:txBody>
      </p:sp>
      <p:sp>
        <p:nvSpPr>
          <p:cNvPr id="23" name="Text 16"/>
          <p:cNvSpPr/>
          <p:nvPr/>
        </p:nvSpPr>
        <p:spPr>
          <a:xfrm>
            <a:off x="5266944" y="3931920"/>
            <a:ext cx="1664208" cy="1737360"/>
          </a:xfrm>
          <a:prstGeom prst="rect">
            <a:avLst/>
          </a:prstGeom>
          <a:noFill/>
          <a:ln/>
        </p:spPr>
        <p:txBody>
          <a:bodyPr wrap="square" lIns="0" tIns="0" rIns="0" bIns="0" rtlCol="0" anchor="ctr"/>
          <a:lstStyle/>
          <a:p>
            <a:pPr marL="0" indent="0" algn="ctr">
              <a:lnSpc>
                <a:spcPct val="125000"/>
              </a:lnSpc>
              <a:buNone/>
            </a:pPr>
            <a:r>
              <a:rPr lang="en-US" sz="980" dirty="0">
                <a:solidFill>
                  <a:srgbClr val="DCEAE0"/>
                </a:solidFill>
                <a:latin typeface="Calibri" pitchFamily="34" charset="0"/>
                <a:ea typeface="Calibri" pitchFamily="34" charset="-122"/>
                <a:cs typeface="Calibri" pitchFamily="34" charset="-120"/>
              </a:rPr>
              <a:t>Standardised manufacturing procedures ensure batch-to-batch consistency.</a:t>
            </a:r>
            <a:endParaRPr lang="en-US" sz="980" dirty="0"/>
          </a:p>
        </p:txBody>
      </p:sp>
      <p:pic>
        <p:nvPicPr>
          <p:cNvPr id="24" name="Image 5" descr="assets/icons/arrowright_green.png"/>
          <p:cNvPicPr>
            <a:picLocks noChangeAspect="1"/>
          </p:cNvPicPr>
          <p:nvPr/>
        </p:nvPicPr>
        <p:blipFill>
          <a:blip r:embed="rId5"/>
          <a:stretch>
            <a:fillRect/>
          </a:stretch>
        </p:blipFill>
        <p:spPr>
          <a:xfrm>
            <a:off x="7123176" y="3726180"/>
            <a:ext cx="182880" cy="182880"/>
          </a:xfrm>
          <a:prstGeom prst="rect">
            <a:avLst/>
          </a:prstGeom>
        </p:spPr>
      </p:pic>
      <p:sp>
        <p:nvSpPr>
          <p:cNvPr id="25" name="Shape 17"/>
          <p:cNvSpPr/>
          <p:nvPr/>
        </p:nvSpPr>
        <p:spPr>
          <a:xfrm>
            <a:off x="7333488" y="1737360"/>
            <a:ext cx="1993392" cy="4160520"/>
          </a:xfrm>
          <a:prstGeom prst="roundRect">
            <a:avLst>
              <a:gd name="adj" fmla="val 4587"/>
            </a:avLst>
          </a:prstGeom>
          <a:solidFill>
            <a:srgbClr val="2D6A4F"/>
          </a:solidFill>
          <a:ln/>
          <a:effectLst>
            <a:outerShdw blurRad="127000" dist="38100" dir="5400000" algn="bl" rotWithShape="0">
              <a:srgbClr val="1B4332">
                <a:alpha val="10000"/>
              </a:srgbClr>
            </a:outerShdw>
          </a:effectLst>
        </p:spPr>
      </p:sp>
      <p:sp>
        <p:nvSpPr>
          <p:cNvPr id="26" name="Text 18"/>
          <p:cNvSpPr/>
          <p:nvPr/>
        </p:nvSpPr>
        <p:spPr>
          <a:xfrm>
            <a:off x="7498080" y="1901952"/>
            <a:ext cx="914400" cy="457200"/>
          </a:xfrm>
          <a:prstGeom prst="rect">
            <a:avLst/>
          </a:prstGeom>
          <a:noFill/>
          <a:ln/>
        </p:spPr>
        <p:txBody>
          <a:bodyPr wrap="square" lIns="0" tIns="0" rIns="0" bIns="0" rtlCol="0" anchor="ctr"/>
          <a:lstStyle/>
          <a:p>
            <a:pPr marL="0" indent="0">
              <a:buNone/>
            </a:pPr>
            <a:r>
              <a:rPr lang="en-US" sz="2000" b="1" dirty="0">
                <a:solidFill>
                  <a:srgbClr val="FFFFFF">
                    <a:alpha val="55000"/>
                  </a:srgbClr>
                </a:solidFill>
                <a:latin typeface="Cambria" pitchFamily="34" charset="0"/>
                <a:ea typeface="Cambria" pitchFamily="34" charset="-122"/>
                <a:cs typeface="Cambria" pitchFamily="34" charset="-120"/>
              </a:rPr>
              <a:t>04</a:t>
            </a:r>
            <a:endParaRPr lang="en-US" sz="2000" dirty="0"/>
          </a:p>
        </p:txBody>
      </p:sp>
      <p:sp>
        <p:nvSpPr>
          <p:cNvPr id="27" name="Shape 19"/>
          <p:cNvSpPr/>
          <p:nvPr/>
        </p:nvSpPr>
        <p:spPr>
          <a:xfrm>
            <a:off x="8065008" y="2514600"/>
            <a:ext cx="530352" cy="530352"/>
          </a:xfrm>
          <a:prstGeom prst="ellipse">
            <a:avLst/>
          </a:prstGeom>
          <a:solidFill>
            <a:srgbClr val="FFFFFF">
              <a:alpha val="12000"/>
            </a:srgbClr>
          </a:solidFill>
          <a:ln/>
        </p:spPr>
      </p:sp>
      <p:pic>
        <p:nvPicPr>
          <p:cNvPr id="28" name="Image 6" descr="assets/icons/shield_white.png"/>
          <p:cNvPicPr>
            <a:picLocks noChangeAspect="1"/>
          </p:cNvPicPr>
          <p:nvPr/>
        </p:nvPicPr>
        <p:blipFill>
          <a:blip r:embed="rId8"/>
          <a:stretch>
            <a:fillRect/>
          </a:stretch>
        </p:blipFill>
        <p:spPr>
          <a:xfrm>
            <a:off x="8193024" y="2642616"/>
            <a:ext cx="274320" cy="274320"/>
          </a:xfrm>
          <a:prstGeom prst="rect">
            <a:avLst/>
          </a:prstGeom>
        </p:spPr>
      </p:pic>
      <p:sp>
        <p:nvSpPr>
          <p:cNvPr id="29" name="Text 20"/>
          <p:cNvSpPr/>
          <p:nvPr/>
        </p:nvSpPr>
        <p:spPr>
          <a:xfrm>
            <a:off x="7470648" y="3246120"/>
            <a:ext cx="1719072" cy="64008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mbria" pitchFamily="34" charset="0"/>
                <a:ea typeface="Cambria" pitchFamily="34" charset="-122"/>
                <a:cs typeface="Cambria" pitchFamily="34" charset="-120"/>
              </a:rPr>
              <a:t>Finished Product QC</a:t>
            </a:r>
            <a:endParaRPr lang="en-US" sz="1200" dirty="0"/>
          </a:p>
        </p:txBody>
      </p:sp>
      <p:sp>
        <p:nvSpPr>
          <p:cNvPr id="30" name="Text 21"/>
          <p:cNvSpPr/>
          <p:nvPr/>
        </p:nvSpPr>
        <p:spPr>
          <a:xfrm>
            <a:off x="7498080" y="3931920"/>
            <a:ext cx="1664208" cy="1737360"/>
          </a:xfrm>
          <a:prstGeom prst="rect">
            <a:avLst/>
          </a:prstGeom>
          <a:noFill/>
          <a:ln/>
        </p:spPr>
        <p:txBody>
          <a:bodyPr wrap="square" lIns="0" tIns="0" rIns="0" bIns="0" rtlCol="0" anchor="ctr"/>
          <a:lstStyle/>
          <a:p>
            <a:pPr marL="0" indent="0" algn="ctr">
              <a:lnSpc>
                <a:spcPct val="125000"/>
              </a:lnSpc>
              <a:buNone/>
            </a:pPr>
            <a:r>
              <a:rPr lang="en-US" sz="980" dirty="0">
                <a:solidFill>
                  <a:srgbClr val="DCEAE0"/>
                </a:solidFill>
                <a:latin typeface="Calibri" pitchFamily="34" charset="0"/>
                <a:ea typeface="Calibri" pitchFamily="34" charset="-122"/>
                <a:cs typeface="Calibri" pitchFamily="34" charset="-120"/>
              </a:rPr>
              <a:t>Final products undergo quality checks before release to market.</a:t>
            </a:r>
            <a:endParaRPr lang="en-US" sz="980" dirty="0"/>
          </a:p>
        </p:txBody>
      </p:sp>
      <p:pic>
        <p:nvPicPr>
          <p:cNvPr id="31" name="Image 7" descr="assets/icons/arrowright_green.png"/>
          <p:cNvPicPr>
            <a:picLocks noChangeAspect="1"/>
          </p:cNvPicPr>
          <p:nvPr/>
        </p:nvPicPr>
        <p:blipFill>
          <a:blip r:embed="rId5"/>
          <a:stretch>
            <a:fillRect/>
          </a:stretch>
        </p:blipFill>
        <p:spPr>
          <a:xfrm>
            <a:off x="9354312" y="3726180"/>
            <a:ext cx="182880" cy="182880"/>
          </a:xfrm>
          <a:prstGeom prst="rect">
            <a:avLst/>
          </a:prstGeom>
        </p:spPr>
      </p:pic>
      <p:sp>
        <p:nvSpPr>
          <p:cNvPr id="32" name="Shape 22"/>
          <p:cNvSpPr/>
          <p:nvPr/>
        </p:nvSpPr>
        <p:spPr>
          <a:xfrm>
            <a:off x="9564624" y="1737360"/>
            <a:ext cx="1993392" cy="4160520"/>
          </a:xfrm>
          <a:prstGeom prst="roundRect">
            <a:avLst>
              <a:gd name="adj" fmla="val 4587"/>
            </a:avLst>
          </a:prstGeom>
          <a:solidFill>
            <a:srgbClr val="1B4332"/>
          </a:solidFill>
          <a:ln/>
          <a:effectLst>
            <a:outerShdw blurRad="127000" dist="38100" dir="5400000" algn="bl" rotWithShape="0">
              <a:srgbClr val="1B4332">
                <a:alpha val="10000"/>
              </a:srgbClr>
            </a:outerShdw>
          </a:effectLst>
        </p:spPr>
      </p:sp>
      <p:sp>
        <p:nvSpPr>
          <p:cNvPr id="33" name="Text 23"/>
          <p:cNvSpPr/>
          <p:nvPr/>
        </p:nvSpPr>
        <p:spPr>
          <a:xfrm>
            <a:off x="9729216" y="1901952"/>
            <a:ext cx="914400" cy="457200"/>
          </a:xfrm>
          <a:prstGeom prst="rect">
            <a:avLst/>
          </a:prstGeom>
          <a:noFill/>
          <a:ln/>
        </p:spPr>
        <p:txBody>
          <a:bodyPr wrap="square" lIns="0" tIns="0" rIns="0" bIns="0" rtlCol="0" anchor="ctr"/>
          <a:lstStyle/>
          <a:p>
            <a:pPr marL="0" indent="0">
              <a:buNone/>
            </a:pPr>
            <a:r>
              <a:rPr lang="en-US" sz="2000" b="1" dirty="0">
                <a:solidFill>
                  <a:srgbClr val="FFFFFF">
                    <a:alpha val="55000"/>
                  </a:srgbClr>
                </a:solidFill>
                <a:latin typeface="Cambria" pitchFamily="34" charset="0"/>
                <a:ea typeface="Cambria" pitchFamily="34" charset="-122"/>
                <a:cs typeface="Cambria" pitchFamily="34" charset="-120"/>
              </a:rPr>
              <a:t>05</a:t>
            </a:r>
            <a:endParaRPr lang="en-US" sz="2000" dirty="0"/>
          </a:p>
        </p:txBody>
      </p:sp>
      <p:sp>
        <p:nvSpPr>
          <p:cNvPr id="34" name="Shape 24"/>
          <p:cNvSpPr/>
          <p:nvPr/>
        </p:nvSpPr>
        <p:spPr>
          <a:xfrm>
            <a:off x="10296144" y="2514600"/>
            <a:ext cx="530352" cy="530352"/>
          </a:xfrm>
          <a:prstGeom prst="ellipse">
            <a:avLst/>
          </a:prstGeom>
          <a:solidFill>
            <a:srgbClr val="FFFFFF">
              <a:alpha val="12000"/>
            </a:srgbClr>
          </a:solidFill>
          <a:ln/>
        </p:spPr>
      </p:sp>
      <p:pic>
        <p:nvPicPr>
          <p:cNvPr id="35" name="Image 8" descr="assets/icons/checkcircle_white.png"/>
          <p:cNvPicPr>
            <a:picLocks noChangeAspect="1"/>
          </p:cNvPicPr>
          <p:nvPr/>
        </p:nvPicPr>
        <p:blipFill>
          <a:blip r:embed="rId9"/>
          <a:stretch>
            <a:fillRect/>
          </a:stretch>
        </p:blipFill>
        <p:spPr>
          <a:xfrm>
            <a:off x="10424160" y="2642616"/>
            <a:ext cx="274320" cy="274320"/>
          </a:xfrm>
          <a:prstGeom prst="rect">
            <a:avLst/>
          </a:prstGeom>
        </p:spPr>
      </p:pic>
      <p:sp>
        <p:nvSpPr>
          <p:cNvPr id="36" name="Text 25"/>
          <p:cNvSpPr/>
          <p:nvPr/>
        </p:nvSpPr>
        <p:spPr>
          <a:xfrm>
            <a:off x="9701784" y="3246120"/>
            <a:ext cx="1719072" cy="640080"/>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Cambria" pitchFamily="34" charset="0"/>
                <a:ea typeface="Cambria" pitchFamily="34" charset="-122"/>
                <a:cs typeface="Cambria" pitchFamily="34" charset="-120"/>
              </a:rPr>
              <a:t>Continuous Monitoring</a:t>
            </a:r>
            <a:endParaRPr lang="en-US" sz="1200" dirty="0"/>
          </a:p>
        </p:txBody>
      </p:sp>
      <p:sp>
        <p:nvSpPr>
          <p:cNvPr id="37" name="Text 26"/>
          <p:cNvSpPr/>
          <p:nvPr/>
        </p:nvSpPr>
        <p:spPr>
          <a:xfrm>
            <a:off x="9729216" y="3931920"/>
            <a:ext cx="1664208" cy="1737360"/>
          </a:xfrm>
          <a:prstGeom prst="rect">
            <a:avLst/>
          </a:prstGeom>
          <a:noFill/>
          <a:ln/>
        </p:spPr>
        <p:txBody>
          <a:bodyPr wrap="square" lIns="0" tIns="0" rIns="0" bIns="0" rtlCol="0" anchor="ctr"/>
          <a:lstStyle/>
          <a:p>
            <a:pPr marL="0" indent="0" algn="ctr">
              <a:lnSpc>
                <a:spcPct val="125000"/>
              </a:lnSpc>
              <a:buNone/>
            </a:pPr>
            <a:r>
              <a:rPr lang="en-US" sz="980" dirty="0">
                <a:solidFill>
                  <a:srgbClr val="DCEAE0"/>
                </a:solidFill>
                <a:latin typeface="Calibri" pitchFamily="34" charset="0"/>
                <a:ea typeface="Calibri" pitchFamily="34" charset="-122"/>
                <a:cs typeface="Calibri" pitchFamily="34" charset="-120"/>
              </a:rPr>
              <a:t>Ongoing feedback and quality review drive continuous improvement.</a:t>
            </a:r>
            <a:endParaRPr lang="en-US" sz="980" dirty="0"/>
          </a:p>
        </p:txBody>
      </p:sp>
      <p:sp>
        <p:nvSpPr>
          <p:cNvPr id="38" name="Text 27"/>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39" name="Text 28"/>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bg/leaf_silhouette_white.png"/>
          <p:cNvPicPr>
            <a:picLocks noChangeAspect="1"/>
          </p:cNvPicPr>
          <p:nvPr/>
        </p:nvPicPr>
        <p:blipFill>
          <a:blip r:embed="rId4">
            <a:alphaModFix amt="10000"/>
          </a:blip>
          <a:stretch>
            <a:fillRect/>
          </a:stretch>
        </p:blipFill>
        <p:spPr>
          <a:xfrm rot="-720000">
            <a:off x="-822960" y="3200400"/>
            <a:ext cx="2743200" cy="3931920"/>
          </a:xfrm>
          <a:prstGeom prst="rect">
            <a:avLst/>
          </a:prstGeom>
        </p:spPr>
      </p:pic>
      <p:sp>
        <p:nvSpPr>
          <p:cNvPr id="3"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95D5B2"/>
                </a:solidFill>
                <a:latin typeface="Calibri" pitchFamily="34" charset="0"/>
                <a:ea typeface="Calibri" pitchFamily="34" charset="-122"/>
                <a:cs typeface="Calibri" pitchFamily="34" charset="-120"/>
              </a:rPr>
              <a:t>SUSTAINABILITY COMMITMENT</a:t>
            </a:r>
            <a:endParaRPr lang="en-US" sz="1250" dirty="0"/>
          </a:p>
        </p:txBody>
      </p:sp>
      <p:sp>
        <p:nvSpPr>
          <p:cNvPr id="4" name="Text 1"/>
          <p:cNvSpPr/>
          <p:nvPr/>
        </p:nvSpPr>
        <p:spPr>
          <a:xfrm>
            <a:off x="640080" y="804672"/>
            <a:ext cx="1005840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Built for the Planet, Not Just the Market</a:t>
            </a:r>
            <a:endParaRPr lang="en-US" sz="2800" dirty="0"/>
          </a:p>
        </p:txBody>
      </p:sp>
      <p:sp>
        <p:nvSpPr>
          <p:cNvPr id="5" name="Text 2"/>
          <p:cNvSpPr/>
          <p:nvPr/>
        </p:nvSpPr>
        <p:spPr>
          <a:xfrm>
            <a:off x="640080" y="1508760"/>
            <a:ext cx="10515600" cy="411480"/>
          </a:xfrm>
          <a:prstGeom prst="rect">
            <a:avLst/>
          </a:prstGeom>
          <a:noFill/>
          <a:ln/>
        </p:spPr>
        <p:txBody>
          <a:bodyPr wrap="square" lIns="0" tIns="0" rIns="0" bIns="0" rtlCol="0" anchor="ctr"/>
          <a:lstStyle/>
          <a:p>
            <a:pPr marL="0" indent="0">
              <a:buNone/>
            </a:pPr>
            <a:r>
              <a:rPr lang="en-US" sz="1350" i="1" dirty="0">
                <a:solidFill>
                  <a:srgbClr val="DCEAE0"/>
                </a:solidFill>
                <a:latin typeface="Calibri" pitchFamily="34" charset="0"/>
                <a:ea typeface="Calibri" pitchFamily="34" charset="-122"/>
                <a:cs typeface="Calibri" pitchFamily="34" charset="-120"/>
              </a:rPr>
              <a:t>Sustainability is not an afterthought at </a:t>
            </a:r>
            <a:r>
              <a:rPr lang="en-US" sz="1350" i="1" dirty="0" err="1">
                <a:solidFill>
                  <a:srgbClr val="DCEAE0"/>
                </a:solidFill>
                <a:latin typeface="Calibri" pitchFamily="34" charset="0"/>
                <a:ea typeface="Calibri" pitchFamily="34" charset="-122"/>
                <a:cs typeface="Calibri" pitchFamily="34" charset="-120"/>
              </a:rPr>
              <a:t>EcoNeemTech</a:t>
            </a:r>
            <a:r>
              <a:rPr lang="en-US" sz="1350" i="1" dirty="0">
                <a:solidFill>
                  <a:srgbClr val="DCEAE0"/>
                </a:solidFill>
                <a:latin typeface="Calibri" pitchFamily="34" charset="0"/>
                <a:ea typeface="Calibri" pitchFamily="34" charset="-122"/>
                <a:cs typeface="Calibri" pitchFamily="34" charset="-120"/>
              </a:rPr>
              <a:t>, it is embedded in how we source, formulate, package, and operate.</a:t>
            </a:r>
            <a:endParaRPr lang="en-US" sz="1350" dirty="0"/>
          </a:p>
        </p:txBody>
      </p:sp>
      <p:sp>
        <p:nvSpPr>
          <p:cNvPr id="6" name="Shape 3"/>
          <p:cNvSpPr/>
          <p:nvPr/>
        </p:nvSpPr>
        <p:spPr>
          <a:xfrm>
            <a:off x="640080" y="2148840"/>
            <a:ext cx="3520440" cy="1783080"/>
          </a:xfrm>
          <a:prstGeom prst="roundRect">
            <a:avLst>
              <a:gd name="adj" fmla="val 5128"/>
            </a:avLst>
          </a:prstGeom>
          <a:solidFill>
            <a:srgbClr val="FFFFFF">
              <a:alpha val="8000"/>
            </a:srgbClr>
          </a:solidFill>
          <a:ln w="9525">
            <a:solidFill>
              <a:srgbClr val="FFFFFF">
                <a:alpha val="30000"/>
              </a:srgbClr>
            </a:solidFill>
            <a:prstDash val="solid"/>
          </a:ln>
        </p:spPr>
      </p:sp>
      <p:sp>
        <p:nvSpPr>
          <p:cNvPr id="7" name="Shape 4"/>
          <p:cNvSpPr/>
          <p:nvPr/>
        </p:nvSpPr>
        <p:spPr>
          <a:xfrm>
            <a:off x="841248" y="2350008"/>
            <a:ext cx="457200" cy="457200"/>
          </a:xfrm>
          <a:prstGeom prst="ellipse">
            <a:avLst/>
          </a:prstGeom>
          <a:solidFill>
            <a:srgbClr val="95D5B2"/>
          </a:solidFill>
          <a:ln/>
        </p:spPr>
      </p:sp>
      <p:pic>
        <p:nvPicPr>
          <p:cNvPr id="8" name="Image 1" descr="assets/icons/seedling_deep.png"/>
          <p:cNvPicPr>
            <a:picLocks noChangeAspect="1"/>
          </p:cNvPicPr>
          <p:nvPr/>
        </p:nvPicPr>
        <p:blipFill>
          <a:blip r:embed="rId5"/>
          <a:stretch>
            <a:fillRect/>
          </a:stretch>
        </p:blipFill>
        <p:spPr>
          <a:xfrm>
            <a:off x="950976" y="2459736"/>
            <a:ext cx="237744" cy="237744"/>
          </a:xfrm>
          <a:prstGeom prst="rect">
            <a:avLst/>
          </a:prstGeom>
        </p:spPr>
      </p:pic>
      <p:sp>
        <p:nvSpPr>
          <p:cNvPr id="9" name="Text 5"/>
          <p:cNvSpPr/>
          <p:nvPr/>
        </p:nvSpPr>
        <p:spPr>
          <a:xfrm>
            <a:off x="1417320" y="2331720"/>
            <a:ext cx="2606040" cy="50292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Responsible Sourcing</a:t>
            </a:r>
            <a:endParaRPr lang="en-US" sz="1200" dirty="0"/>
          </a:p>
        </p:txBody>
      </p:sp>
      <p:sp>
        <p:nvSpPr>
          <p:cNvPr id="10" name="Text 6"/>
          <p:cNvSpPr/>
          <p:nvPr/>
        </p:nvSpPr>
        <p:spPr>
          <a:xfrm>
            <a:off x="841248" y="2926080"/>
            <a:ext cx="3154680" cy="914400"/>
          </a:xfrm>
          <a:prstGeom prst="rect">
            <a:avLst/>
          </a:prstGeom>
          <a:noFill/>
          <a:ln/>
        </p:spPr>
        <p:txBody>
          <a:bodyPr wrap="square" lIns="0" tIns="0" rIns="0" bIns="0" rtlCol="0" anchor="ctr"/>
          <a:lstStyle/>
          <a:p>
            <a:pPr marL="0" indent="0">
              <a:lnSpc>
                <a:spcPct val="122000"/>
              </a:lnSpc>
              <a:buNone/>
            </a:pPr>
            <a:r>
              <a:rPr lang="en-US" sz="980" dirty="0">
                <a:solidFill>
                  <a:srgbClr val="DCEAE0"/>
                </a:solidFill>
                <a:latin typeface="Calibri" pitchFamily="34" charset="0"/>
                <a:ea typeface="Calibri" pitchFamily="34" charset="-122"/>
                <a:cs typeface="Calibri" pitchFamily="34" charset="-120"/>
              </a:rPr>
              <a:t>Neem inputs sourced sustainably, supporting local growers and ecosystems.</a:t>
            </a:r>
            <a:endParaRPr lang="en-US" sz="980" dirty="0"/>
          </a:p>
        </p:txBody>
      </p:sp>
      <p:sp>
        <p:nvSpPr>
          <p:cNvPr id="11" name="Shape 7"/>
          <p:cNvSpPr/>
          <p:nvPr/>
        </p:nvSpPr>
        <p:spPr>
          <a:xfrm>
            <a:off x="4343400" y="2148840"/>
            <a:ext cx="3520440" cy="1783080"/>
          </a:xfrm>
          <a:prstGeom prst="roundRect">
            <a:avLst>
              <a:gd name="adj" fmla="val 5128"/>
            </a:avLst>
          </a:prstGeom>
          <a:solidFill>
            <a:srgbClr val="FFFFFF">
              <a:alpha val="8000"/>
            </a:srgbClr>
          </a:solidFill>
          <a:ln w="9525">
            <a:solidFill>
              <a:srgbClr val="FFFFFF">
                <a:alpha val="30000"/>
              </a:srgbClr>
            </a:solidFill>
            <a:prstDash val="solid"/>
          </a:ln>
        </p:spPr>
      </p:sp>
      <p:sp>
        <p:nvSpPr>
          <p:cNvPr id="12" name="Shape 8"/>
          <p:cNvSpPr/>
          <p:nvPr/>
        </p:nvSpPr>
        <p:spPr>
          <a:xfrm>
            <a:off x="4544568" y="2350008"/>
            <a:ext cx="457200" cy="457200"/>
          </a:xfrm>
          <a:prstGeom prst="ellipse">
            <a:avLst/>
          </a:prstGeom>
          <a:solidFill>
            <a:srgbClr val="95D5B2"/>
          </a:solidFill>
          <a:ln/>
        </p:spPr>
      </p:sp>
      <p:pic>
        <p:nvPicPr>
          <p:cNvPr id="13" name="Image 2" descr="assets/icons/recycle_deep.png"/>
          <p:cNvPicPr>
            <a:picLocks noChangeAspect="1"/>
          </p:cNvPicPr>
          <p:nvPr/>
        </p:nvPicPr>
        <p:blipFill>
          <a:blip r:embed="rId6"/>
          <a:stretch>
            <a:fillRect/>
          </a:stretch>
        </p:blipFill>
        <p:spPr>
          <a:xfrm>
            <a:off x="4654296" y="2459736"/>
            <a:ext cx="237744" cy="237744"/>
          </a:xfrm>
          <a:prstGeom prst="rect">
            <a:avLst/>
          </a:prstGeom>
        </p:spPr>
      </p:pic>
      <p:sp>
        <p:nvSpPr>
          <p:cNvPr id="14" name="Text 9"/>
          <p:cNvSpPr/>
          <p:nvPr/>
        </p:nvSpPr>
        <p:spPr>
          <a:xfrm>
            <a:off x="5120640" y="2331720"/>
            <a:ext cx="2606040" cy="50292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Reduced Chemical Footprint</a:t>
            </a:r>
            <a:endParaRPr lang="en-US" sz="1200" dirty="0"/>
          </a:p>
        </p:txBody>
      </p:sp>
      <p:sp>
        <p:nvSpPr>
          <p:cNvPr id="15" name="Text 10"/>
          <p:cNvSpPr/>
          <p:nvPr/>
        </p:nvSpPr>
        <p:spPr>
          <a:xfrm>
            <a:off x="4544568" y="2926080"/>
            <a:ext cx="3154680" cy="914400"/>
          </a:xfrm>
          <a:prstGeom prst="rect">
            <a:avLst/>
          </a:prstGeom>
          <a:noFill/>
          <a:ln/>
        </p:spPr>
        <p:txBody>
          <a:bodyPr wrap="square" lIns="0" tIns="0" rIns="0" bIns="0" rtlCol="0" anchor="ctr"/>
          <a:lstStyle/>
          <a:p>
            <a:pPr marL="0" indent="0">
              <a:lnSpc>
                <a:spcPct val="122000"/>
              </a:lnSpc>
              <a:buNone/>
            </a:pPr>
            <a:r>
              <a:rPr lang="en-US" sz="980" dirty="0">
                <a:solidFill>
                  <a:srgbClr val="DCEAE0"/>
                </a:solidFill>
                <a:latin typeface="Calibri" pitchFamily="34" charset="0"/>
                <a:ea typeface="Calibri" pitchFamily="34" charset="-122"/>
                <a:cs typeface="Calibri" pitchFamily="34" charset="-120"/>
              </a:rPr>
              <a:t>Natural alternatives reduce reliance on synthetic, polluting chemicals.</a:t>
            </a:r>
            <a:endParaRPr lang="en-US" sz="980" dirty="0"/>
          </a:p>
        </p:txBody>
      </p:sp>
      <p:sp>
        <p:nvSpPr>
          <p:cNvPr id="16" name="Shape 11"/>
          <p:cNvSpPr/>
          <p:nvPr/>
        </p:nvSpPr>
        <p:spPr>
          <a:xfrm>
            <a:off x="8046720" y="2148840"/>
            <a:ext cx="3520440" cy="1783080"/>
          </a:xfrm>
          <a:prstGeom prst="roundRect">
            <a:avLst>
              <a:gd name="adj" fmla="val 5128"/>
            </a:avLst>
          </a:prstGeom>
          <a:solidFill>
            <a:srgbClr val="FFFFFF">
              <a:alpha val="8000"/>
            </a:srgbClr>
          </a:solidFill>
          <a:ln w="9525">
            <a:solidFill>
              <a:srgbClr val="FFFFFF">
                <a:alpha val="30000"/>
              </a:srgbClr>
            </a:solidFill>
            <a:prstDash val="solid"/>
          </a:ln>
        </p:spPr>
      </p:sp>
      <p:sp>
        <p:nvSpPr>
          <p:cNvPr id="17" name="Shape 12"/>
          <p:cNvSpPr/>
          <p:nvPr/>
        </p:nvSpPr>
        <p:spPr>
          <a:xfrm>
            <a:off x="8247888" y="2350008"/>
            <a:ext cx="457200" cy="457200"/>
          </a:xfrm>
          <a:prstGeom prst="ellipse">
            <a:avLst/>
          </a:prstGeom>
          <a:solidFill>
            <a:srgbClr val="95D5B2"/>
          </a:solidFill>
          <a:ln/>
        </p:spPr>
      </p:sp>
      <p:pic>
        <p:nvPicPr>
          <p:cNvPr id="18" name="Image 3" descr="assets/icons/tint_deep.png"/>
          <p:cNvPicPr>
            <a:picLocks noChangeAspect="1"/>
          </p:cNvPicPr>
          <p:nvPr/>
        </p:nvPicPr>
        <p:blipFill>
          <a:blip r:embed="rId7"/>
          <a:stretch>
            <a:fillRect/>
          </a:stretch>
        </p:blipFill>
        <p:spPr>
          <a:xfrm>
            <a:off x="8357616" y="2459736"/>
            <a:ext cx="237744" cy="237744"/>
          </a:xfrm>
          <a:prstGeom prst="rect">
            <a:avLst/>
          </a:prstGeom>
        </p:spPr>
      </p:pic>
      <p:sp>
        <p:nvSpPr>
          <p:cNvPr id="19" name="Text 13"/>
          <p:cNvSpPr/>
          <p:nvPr/>
        </p:nvSpPr>
        <p:spPr>
          <a:xfrm>
            <a:off x="8823960" y="2331720"/>
            <a:ext cx="2606040" cy="50292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Water-Conscious Production</a:t>
            </a:r>
            <a:endParaRPr lang="en-US" sz="1200" dirty="0"/>
          </a:p>
        </p:txBody>
      </p:sp>
      <p:sp>
        <p:nvSpPr>
          <p:cNvPr id="20" name="Text 14"/>
          <p:cNvSpPr/>
          <p:nvPr/>
        </p:nvSpPr>
        <p:spPr>
          <a:xfrm>
            <a:off x="8247888" y="2926080"/>
            <a:ext cx="3154680" cy="914400"/>
          </a:xfrm>
          <a:prstGeom prst="rect">
            <a:avLst/>
          </a:prstGeom>
          <a:noFill/>
          <a:ln/>
        </p:spPr>
        <p:txBody>
          <a:bodyPr wrap="square" lIns="0" tIns="0" rIns="0" bIns="0" rtlCol="0" anchor="ctr"/>
          <a:lstStyle/>
          <a:p>
            <a:pPr marL="0" indent="0">
              <a:lnSpc>
                <a:spcPct val="122000"/>
              </a:lnSpc>
              <a:buNone/>
            </a:pPr>
            <a:r>
              <a:rPr lang="en-US" sz="980" dirty="0">
                <a:solidFill>
                  <a:srgbClr val="DCEAE0"/>
                </a:solidFill>
                <a:latin typeface="Calibri" pitchFamily="34" charset="0"/>
                <a:ea typeface="Calibri" pitchFamily="34" charset="-122"/>
                <a:cs typeface="Calibri" pitchFamily="34" charset="-120"/>
              </a:rPr>
              <a:t>Manufacturing processes designed to minimise water use and waste.</a:t>
            </a:r>
            <a:endParaRPr lang="en-US" sz="980" dirty="0"/>
          </a:p>
        </p:txBody>
      </p:sp>
      <p:sp>
        <p:nvSpPr>
          <p:cNvPr id="21" name="Shape 15"/>
          <p:cNvSpPr/>
          <p:nvPr/>
        </p:nvSpPr>
        <p:spPr>
          <a:xfrm>
            <a:off x="640080" y="4114800"/>
            <a:ext cx="3520440" cy="1783080"/>
          </a:xfrm>
          <a:prstGeom prst="roundRect">
            <a:avLst>
              <a:gd name="adj" fmla="val 5128"/>
            </a:avLst>
          </a:prstGeom>
          <a:solidFill>
            <a:srgbClr val="FFFFFF">
              <a:alpha val="8000"/>
            </a:srgbClr>
          </a:solidFill>
          <a:ln w="9525">
            <a:solidFill>
              <a:srgbClr val="FFFFFF">
                <a:alpha val="30000"/>
              </a:srgbClr>
            </a:solidFill>
            <a:prstDash val="solid"/>
          </a:ln>
        </p:spPr>
      </p:sp>
      <p:sp>
        <p:nvSpPr>
          <p:cNvPr id="22" name="Shape 16"/>
          <p:cNvSpPr/>
          <p:nvPr/>
        </p:nvSpPr>
        <p:spPr>
          <a:xfrm>
            <a:off x="841248" y="4315968"/>
            <a:ext cx="457200" cy="457200"/>
          </a:xfrm>
          <a:prstGeom prst="ellipse">
            <a:avLst/>
          </a:prstGeom>
          <a:solidFill>
            <a:srgbClr val="95D5B2"/>
          </a:solidFill>
          <a:ln/>
        </p:spPr>
      </p:sp>
      <p:pic>
        <p:nvPicPr>
          <p:cNvPr id="23" name="Image 4" descr="assets/icons/globe_deep.png"/>
          <p:cNvPicPr>
            <a:picLocks noChangeAspect="1"/>
          </p:cNvPicPr>
          <p:nvPr/>
        </p:nvPicPr>
        <p:blipFill>
          <a:blip r:embed="rId8"/>
          <a:stretch>
            <a:fillRect/>
          </a:stretch>
        </p:blipFill>
        <p:spPr>
          <a:xfrm>
            <a:off x="950976" y="4425696"/>
            <a:ext cx="237744" cy="237744"/>
          </a:xfrm>
          <a:prstGeom prst="rect">
            <a:avLst/>
          </a:prstGeom>
        </p:spPr>
      </p:pic>
      <p:sp>
        <p:nvSpPr>
          <p:cNvPr id="24" name="Text 17"/>
          <p:cNvSpPr/>
          <p:nvPr/>
        </p:nvSpPr>
        <p:spPr>
          <a:xfrm>
            <a:off x="1417320" y="4297680"/>
            <a:ext cx="2606040" cy="50292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Eco-Conscious Packaging</a:t>
            </a:r>
            <a:endParaRPr lang="en-US" sz="1200" dirty="0"/>
          </a:p>
        </p:txBody>
      </p:sp>
      <p:sp>
        <p:nvSpPr>
          <p:cNvPr id="25" name="Text 18"/>
          <p:cNvSpPr/>
          <p:nvPr/>
        </p:nvSpPr>
        <p:spPr>
          <a:xfrm>
            <a:off x="841248" y="4892040"/>
            <a:ext cx="3154680" cy="914400"/>
          </a:xfrm>
          <a:prstGeom prst="rect">
            <a:avLst/>
          </a:prstGeom>
          <a:noFill/>
          <a:ln/>
        </p:spPr>
        <p:txBody>
          <a:bodyPr wrap="square" lIns="0" tIns="0" rIns="0" bIns="0" rtlCol="0" anchor="ctr"/>
          <a:lstStyle/>
          <a:p>
            <a:pPr marL="0" indent="0">
              <a:lnSpc>
                <a:spcPct val="122000"/>
              </a:lnSpc>
              <a:buNone/>
            </a:pPr>
            <a:r>
              <a:rPr lang="en-US" sz="980" dirty="0">
                <a:solidFill>
                  <a:srgbClr val="DCEAE0"/>
                </a:solidFill>
                <a:latin typeface="Calibri" pitchFamily="34" charset="0"/>
                <a:ea typeface="Calibri" pitchFamily="34" charset="-122"/>
                <a:cs typeface="Calibri" pitchFamily="34" charset="-120"/>
              </a:rPr>
              <a:t>Ongoing work toward recyclable and biodegradable packaging solutions.</a:t>
            </a:r>
            <a:endParaRPr lang="en-US" sz="980" dirty="0"/>
          </a:p>
        </p:txBody>
      </p:sp>
      <p:sp>
        <p:nvSpPr>
          <p:cNvPr id="26" name="Shape 19"/>
          <p:cNvSpPr/>
          <p:nvPr/>
        </p:nvSpPr>
        <p:spPr>
          <a:xfrm>
            <a:off x="4343400" y="4114800"/>
            <a:ext cx="3520440" cy="1783080"/>
          </a:xfrm>
          <a:prstGeom prst="roundRect">
            <a:avLst>
              <a:gd name="adj" fmla="val 5128"/>
            </a:avLst>
          </a:prstGeom>
          <a:solidFill>
            <a:srgbClr val="FFFFFF">
              <a:alpha val="8000"/>
            </a:srgbClr>
          </a:solidFill>
          <a:ln w="9525">
            <a:solidFill>
              <a:srgbClr val="FFFFFF">
                <a:alpha val="30000"/>
              </a:srgbClr>
            </a:solidFill>
            <a:prstDash val="solid"/>
          </a:ln>
        </p:spPr>
      </p:sp>
      <p:sp>
        <p:nvSpPr>
          <p:cNvPr id="27" name="Shape 20"/>
          <p:cNvSpPr/>
          <p:nvPr/>
        </p:nvSpPr>
        <p:spPr>
          <a:xfrm>
            <a:off x="4544568" y="4315968"/>
            <a:ext cx="457200" cy="457200"/>
          </a:xfrm>
          <a:prstGeom prst="ellipse">
            <a:avLst/>
          </a:prstGeom>
          <a:solidFill>
            <a:srgbClr val="95D5B2"/>
          </a:solidFill>
          <a:ln/>
        </p:spPr>
      </p:sp>
      <p:pic>
        <p:nvPicPr>
          <p:cNvPr id="28" name="Image 5" descr="assets/icons/sun_deep.png"/>
          <p:cNvPicPr>
            <a:picLocks noChangeAspect="1"/>
          </p:cNvPicPr>
          <p:nvPr/>
        </p:nvPicPr>
        <p:blipFill>
          <a:blip r:embed="rId9"/>
          <a:stretch>
            <a:fillRect/>
          </a:stretch>
        </p:blipFill>
        <p:spPr>
          <a:xfrm>
            <a:off x="4654296" y="4425696"/>
            <a:ext cx="237744" cy="237744"/>
          </a:xfrm>
          <a:prstGeom prst="rect">
            <a:avLst/>
          </a:prstGeom>
        </p:spPr>
      </p:pic>
      <p:sp>
        <p:nvSpPr>
          <p:cNvPr id="29" name="Text 21"/>
          <p:cNvSpPr/>
          <p:nvPr/>
        </p:nvSpPr>
        <p:spPr>
          <a:xfrm>
            <a:off x="5120640" y="4297680"/>
            <a:ext cx="2606040" cy="50292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Climate-Positive Sourcing</a:t>
            </a:r>
            <a:endParaRPr lang="en-US" sz="1200" dirty="0"/>
          </a:p>
        </p:txBody>
      </p:sp>
      <p:sp>
        <p:nvSpPr>
          <p:cNvPr id="30" name="Text 22"/>
          <p:cNvSpPr/>
          <p:nvPr/>
        </p:nvSpPr>
        <p:spPr>
          <a:xfrm>
            <a:off x="4544568" y="4892040"/>
            <a:ext cx="3154680" cy="914400"/>
          </a:xfrm>
          <a:prstGeom prst="rect">
            <a:avLst/>
          </a:prstGeom>
          <a:noFill/>
          <a:ln/>
        </p:spPr>
        <p:txBody>
          <a:bodyPr wrap="square" lIns="0" tIns="0" rIns="0" bIns="0" rtlCol="0" anchor="ctr"/>
          <a:lstStyle/>
          <a:p>
            <a:pPr marL="0" indent="0">
              <a:lnSpc>
                <a:spcPct val="122000"/>
              </a:lnSpc>
              <a:buNone/>
            </a:pPr>
            <a:r>
              <a:rPr lang="en-US" sz="980" dirty="0">
                <a:solidFill>
                  <a:srgbClr val="DCEAE0"/>
                </a:solidFill>
                <a:latin typeface="Calibri" pitchFamily="34" charset="0"/>
                <a:ea typeface="Calibri" pitchFamily="34" charset="-122"/>
                <a:cs typeface="Calibri" pitchFamily="34" charset="-120"/>
              </a:rPr>
              <a:t>Neem cultivation supports soil health and requires minimal irrigation.</a:t>
            </a:r>
            <a:endParaRPr lang="en-US" sz="980" dirty="0"/>
          </a:p>
        </p:txBody>
      </p:sp>
      <p:sp>
        <p:nvSpPr>
          <p:cNvPr id="31" name="Shape 23"/>
          <p:cNvSpPr/>
          <p:nvPr/>
        </p:nvSpPr>
        <p:spPr>
          <a:xfrm>
            <a:off x="8046720" y="4114800"/>
            <a:ext cx="3520440" cy="1783080"/>
          </a:xfrm>
          <a:prstGeom prst="roundRect">
            <a:avLst>
              <a:gd name="adj" fmla="val 5128"/>
            </a:avLst>
          </a:prstGeom>
          <a:solidFill>
            <a:srgbClr val="FFFFFF">
              <a:alpha val="8000"/>
            </a:srgbClr>
          </a:solidFill>
          <a:ln w="9525">
            <a:solidFill>
              <a:srgbClr val="FFFFFF">
                <a:alpha val="30000"/>
              </a:srgbClr>
            </a:solidFill>
            <a:prstDash val="solid"/>
          </a:ln>
        </p:spPr>
      </p:sp>
      <p:sp>
        <p:nvSpPr>
          <p:cNvPr id="32" name="Shape 24"/>
          <p:cNvSpPr/>
          <p:nvPr/>
        </p:nvSpPr>
        <p:spPr>
          <a:xfrm>
            <a:off x="8247888" y="4315968"/>
            <a:ext cx="457200" cy="457200"/>
          </a:xfrm>
          <a:prstGeom prst="ellipse">
            <a:avLst/>
          </a:prstGeom>
          <a:solidFill>
            <a:srgbClr val="95D5B2"/>
          </a:solidFill>
          <a:ln/>
        </p:spPr>
      </p:sp>
      <p:pic>
        <p:nvPicPr>
          <p:cNvPr id="33" name="Image 6" descr="assets/icons/handshake_deep.png"/>
          <p:cNvPicPr>
            <a:picLocks noChangeAspect="1"/>
          </p:cNvPicPr>
          <p:nvPr/>
        </p:nvPicPr>
        <p:blipFill>
          <a:blip r:embed="rId10"/>
          <a:stretch>
            <a:fillRect/>
          </a:stretch>
        </p:blipFill>
        <p:spPr>
          <a:xfrm>
            <a:off x="8357616" y="4425696"/>
            <a:ext cx="237744" cy="237744"/>
          </a:xfrm>
          <a:prstGeom prst="rect">
            <a:avLst/>
          </a:prstGeom>
        </p:spPr>
      </p:pic>
      <p:sp>
        <p:nvSpPr>
          <p:cNvPr id="34" name="Text 25"/>
          <p:cNvSpPr/>
          <p:nvPr/>
        </p:nvSpPr>
        <p:spPr>
          <a:xfrm>
            <a:off x="8823960" y="4297680"/>
            <a:ext cx="2606040" cy="50292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Community Impact</a:t>
            </a:r>
            <a:endParaRPr lang="en-US" sz="1200" dirty="0"/>
          </a:p>
        </p:txBody>
      </p:sp>
      <p:sp>
        <p:nvSpPr>
          <p:cNvPr id="35" name="Text 26"/>
          <p:cNvSpPr/>
          <p:nvPr/>
        </p:nvSpPr>
        <p:spPr>
          <a:xfrm>
            <a:off x="8247888" y="4892040"/>
            <a:ext cx="3154680" cy="914400"/>
          </a:xfrm>
          <a:prstGeom prst="rect">
            <a:avLst/>
          </a:prstGeom>
          <a:noFill/>
          <a:ln/>
        </p:spPr>
        <p:txBody>
          <a:bodyPr wrap="square" lIns="0" tIns="0" rIns="0" bIns="0" rtlCol="0" anchor="ctr"/>
          <a:lstStyle/>
          <a:p>
            <a:pPr marL="0" indent="0">
              <a:lnSpc>
                <a:spcPct val="122000"/>
              </a:lnSpc>
              <a:buNone/>
            </a:pPr>
            <a:r>
              <a:rPr lang="en-US" sz="980" dirty="0">
                <a:solidFill>
                  <a:srgbClr val="DCEAE0"/>
                </a:solidFill>
                <a:latin typeface="Calibri" pitchFamily="34" charset="0"/>
                <a:ea typeface="Calibri" pitchFamily="34" charset="-122"/>
                <a:cs typeface="Calibri" pitchFamily="34" charset="-120"/>
              </a:rPr>
              <a:t>Engagement with local farming communities to build sustainable supply chains.</a:t>
            </a:r>
            <a:endParaRPr lang="en-US" sz="980" dirty="0"/>
          </a:p>
        </p:txBody>
      </p:sp>
      <p:sp>
        <p:nvSpPr>
          <p:cNvPr id="36" name="Text 27"/>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BFD8C9"/>
                </a:solidFill>
                <a:latin typeface="Calibri" pitchFamily="34" charset="0"/>
                <a:ea typeface="Calibri" pitchFamily="34" charset="-122"/>
                <a:cs typeface="Calibri" pitchFamily="34" charset="-120"/>
              </a:rPr>
              <a:t>ECONEEMTECH LTD</a:t>
            </a:r>
            <a:endParaRPr lang="en-US" sz="850" dirty="0"/>
          </a:p>
        </p:txBody>
      </p:sp>
      <p:sp>
        <p:nvSpPr>
          <p:cNvPr id="37" name="Text 28"/>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BFD8C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RESEARCH &amp; INNOVATION</a:t>
            </a:r>
            <a:endParaRPr lang="en-US" sz="1250" dirty="0"/>
          </a:p>
        </p:txBody>
      </p:sp>
      <p:sp>
        <p:nvSpPr>
          <p:cNvPr id="3" name="Text 1"/>
          <p:cNvSpPr/>
          <p:nvPr/>
        </p:nvSpPr>
        <p:spPr>
          <a:xfrm>
            <a:off x="640080" y="804672"/>
            <a:ext cx="10058400" cy="685800"/>
          </a:xfrm>
          <a:prstGeom prst="rect">
            <a:avLst/>
          </a:prstGeom>
          <a:noFill/>
          <a:ln/>
        </p:spPr>
        <p:txBody>
          <a:bodyPr wrap="square" lIns="0" tIns="0" rIns="0" bIns="0" rtlCol="0" anchor="ctr"/>
          <a:lstStyle/>
          <a:p>
            <a:pPr marL="0" indent="0">
              <a:buNone/>
            </a:pPr>
            <a:r>
              <a:rPr lang="en-US" sz="2600" b="1" dirty="0">
                <a:solidFill>
                  <a:srgbClr val="1A2B22"/>
                </a:solidFill>
                <a:latin typeface="Cambria" pitchFamily="34" charset="0"/>
                <a:ea typeface="Cambria" pitchFamily="34" charset="-122"/>
                <a:cs typeface="Cambria" pitchFamily="34" charset="-120"/>
              </a:rPr>
              <a:t>Where Tradition Meets Laboratory Precision</a:t>
            </a:r>
            <a:endParaRPr lang="en-US" sz="2600" dirty="0"/>
          </a:p>
        </p:txBody>
      </p:sp>
      <p:sp>
        <p:nvSpPr>
          <p:cNvPr id="4" name="Text 2"/>
          <p:cNvSpPr/>
          <p:nvPr/>
        </p:nvSpPr>
        <p:spPr>
          <a:xfrm>
            <a:off x="640080" y="1508760"/>
            <a:ext cx="5852160" cy="777240"/>
          </a:xfrm>
          <a:prstGeom prst="rect">
            <a:avLst/>
          </a:prstGeom>
          <a:noFill/>
          <a:ln/>
        </p:spPr>
        <p:txBody>
          <a:bodyPr wrap="square" lIns="0" tIns="0" rIns="0" bIns="0" rtlCol="0" anchor="ctr"/>
          <a:lstStyle/>
          <a:p>
            <a:pPr marL="0" indent="0">
              <a:lnSpc>
                <a:spcPct val="130000"/>
              </a:lnSpc>
              <a:buNone/>
            </a:pPr>
            <a:r>
              <a:rPr lang="en-US" sz="1250" dirty="0">
                <a:solidFill>
                  <a:srgbClr val="3F4A42"/>
                </a:solidFill>
                <a:latin typeface="Calibri" pitchFamily="34" charset="0"/>
                <a:ea typeface="Calibri" pitchFamily="34" charset="-122"/>
                <a:cs typeface="Calibri" pitchFamily="34" charset="-120"/>
              </a:rPr>
              <a:t>Our innovation pipeline is focused on deepening the science behind Neem-based formulations and expanding their application across new product categories.</a:t>
            </a:r>
            <a:endParaRPr lang="en-US" sz="1250" dirty="0"/>
          </a:p>
        </p:txBody>
      </p:sp>
      <p:sp>
        <p:nvSpPr>
          <p:cNvPr id="5" name="Shape 3"/>
          <p:cNvSpPr/>
          <p:nvPr/>
        </p:nvSpPr>
        <p:spPr>
          <a:xfrm>
            <a:off x="640080" y="2423160"/>
            <a:ext cx="365760" cy="365760"/>
          </a:xfrm>
          <a:prstGeom prst="ellipse">
            <a:avLst/>
          </a:prstGeom>
          <a:solidFill>
            <a:srgbClr val="D8E8DC"/>
          </a:solidFill>
          <a:ln/>
        </p:spPr>
      </p:sp>
      <p:pic>
        <p:nvPicPr>
          <p:cNvPr id="6" name="Image 0" descr="assets/icons/checkcircle_deep.png"/>
          <p:cNvPicPr>
            <a:picLocks noChangeAspect="1"/>
          </p:cNvPicPr>
          <p:nvPr/>
        </p:nvPicPr>
        <p:blipFill>
          <a:blip r:embed="rId4"/>
          <a:stretch>
            <a:fillRect/>
          </a:stretch>
        </p:blipFill>
        <p:spPr>
          <a:xfrm>
            <a:off x="713232" y="2496312"/>
            <a:ext cx="219456" cy="219456"/>
          </a:xfrm>
          <a:prstGeom prst="rect">
            <a:avLst/>
          </a:prstGeom>
        </p:spPr>
      </p:pic>
      <p:sp>
        <p:nvSpPr>
          <p:cNvPr id="7" name="Text 4"/>
          <p:cNvSpPr/>
          <p:nvPr/>
        </p:nvSpPr>
        <p:spPr>
          <a:xfrm>
            <a:off x="1143000" y="2386584"/>
            <a:ext cx="4846320" cy="320040"/>
          </a:xfrm>
          <a:prstGeom prst="rect">
            <a:avLst/>
          </a:prstGeom>
          <a:noFill/>
          <a:ln/>
        </p:spPr>
        <p:txBody>
          <a:bodyPr wrap="square" lIns="0" tIns="0" rIns="0" bIns="0" rtlCol="0" anchor="ctr"/>
          <a:lstStyle/>
          <a:p>
            <a:pPr marL="0" indent="0">
              <a:buNone/>
            </a:pPr>
            <a:r>
              <a:rPr lang="en-US" sz="1300" b="1" dirty="0">
                <a:solidFill>
                  <a:srgbClr val="1A2B22"/>
                </a:solidFill>
                <a:latin typeface="Cambria" pitchFamily="34" charset="0"/>
                <a:ea typeface="Cambria" pitchFamily="34" charset="-122"/>
                <a:cs typeface="Cambria" pitchFamily="34" charset="-120"/>
              </a:rPr>
              <a:t>Formulation Science</a:t>
            </a:r>
            <a:endParaRPr lang="en-US" sz="1300" dirty="0"/>
          </a:p>
        </p:txBody>
      </p:sp>
      <p:sp>
        <p:nvSpPr>
          <p:cNvPr id="8" name="Text 5"/>
          <p:cNvSpPr/>
          <p:nvPr/>
        </p:nvSpPr>
        <p:spPr>
          <a:xfrm>
            <a:off x="1143000" y="2715768"/>
            <a:ext cx="4846320" cy="457200"/>
          </a:xfrm>
          <a:prstGeom prst="rect">
            <a:avLst/>
          </a:prstGeom>
          <a:noFill/>
          <a:ln/>
        </p:spPr>
        <p:txBody>
          <a:bodyPr wrap="square" lIns="0" tIns="0" rIns="0" bIns="0" rtlCol="0" anchor="ctr"/>
          <a:lstStyle/>
          <a:p>
            <a:pPr marL="0" indent="0">
              <a:lnSpc>
                <a:spcPct val="120000"/>
              </a:lnSpc>
              <a:buNone/>
            </a:pPr>
            <a:r>
              <a:rPr lang="en-US" sz="1080" dirty="0">
                <a:solidFill>
                  <a:srgbClr val="3F4A42"/>
                </a:solidFill>
                <a:latin typeface="Calibri" pitchFamily="34" charset="0"/>
                <a:ea typeface="Calibri" pitchFamily="34" charset="-122"/>
                <a:cs typeface="Calibri" pitchFamily="34" charset="-120"/>
              </a:rPr>
              <a:t>Optimising extraction and stabilisation of Neem's active compounds.</a:t>
            </a:r>
            <a:endParaRPr lang="en-US" sz="1080" dirty="0"/>
          </a:p>
        </p:txBody>
      </p:sp>
      <p:sp>
        <p:nvSpPr>
          <p:cNvPr id="9" name="Shape 6"/>
          <p:cNvSpPr/>
          <p:nvPr/>
        </p:nvSpPr>
        <p:spPr>
          <a:xfrm>
            <a:off x="640080" y="3291840"/>
            <a:ext cx="365760" cy="365760"/>
          </a:xfrm>
          <a:prstGeom prst="ellipse">
            <a:avLst/>
          </a:prstGeom>
          <a:solidFill>
            <a:srgbClr val="D8E8DC"/>
          </a:solidFill>
          <a:ln/>
        </p:spPr>
      </p:sp>
      <p:pic>
        <p:nvPicPr>
          <p:cNvPr id="10" name="Image 1" descr="assets/icons/checkcircle_deep.png"/>
          <p:cNvPicPr>
            <a:picLocks noChangeAspect="1"/>
          </p:cNvPicPr>
          <p:nvPr/>
        </p:nvPicPr>
        <p:blipFill>
          <a:blip r:embed="rId4"/>
          <a:stretch>
            <a:fillRect/>
          </a:stretch>
        </p:blipFill>
        <p:spPr>
          <a:xfrm>
            <a:off x="713232" y="3364992"/>
            <a:ext cx="219456" cy="219456"/>
          </a:xfrm>
          <a:prstGeom prst="rect">
            <a:avLst/>
          </a:prstGeom>
        </p:spPr>
      </p:pic>
      <p:sp>
        <p:nvSpPr>
          <p:cNvPr id="11" name="Text 7"/>
          <p:cNvSpPr/>
          <p:nvPr/>
        </p:nvSpPr>
        <p:spPr>
          <a:xfrm>
            <a:off x="1143000" y="3255264"/>
            <a:ext cx="4846320" cy="320040"/>
          </a:xfrm>
          <a:prstGeom prst="rect">
            <a:avLst/>
          </a:prstGeom>
          <a:noFill/>
          <a:ln/>
        </p:spPr>
        <p:txBody>
          <a:bodyPr wrap="square" lIns="0" tIns="0" rIns="0" bIns="0" rtlCol="0" anchor="ctr"/>
          <a:lstStyle/>
          <a:p>
            <a:pPr marL="0" indent="0">
              <a:buNone/>
            </a:pPr>
            <a:r>
              <a:rPr lang="en-US" sz="1300" b="1" dirty="0">
                <a:solidFill>
                  <a:srgbClr val="1A2B22"/>
                </a:solidFill>
                <a:latin typeface="Cambria" pitchFamily="34" charset="0"/>
                <a:ea typeface="Cambria" pitchFamily="34" charset="-122"/>
                <a:cs typeface="Cambria" pitchFamily="34" charset="-120"/>
              </a:rPr>
              <a:t>Efficacy Validation</a:t>
            </a:r>
            <a:endParaRPr lang="en-US" sz="1300" dirty="0"/>
          </a:p>
        </p:txBody>
      </p:sp>
      <p:sp>
        <p:nvSpPr>
          <p:cNvPr id="12" name="Text 8"/>
          <p:cNvSpPr/>
          <p:nvPr/>
        </p:nvSpPr>
        <p:spPr>
          <a:xfrm>
            <a:off x="1143000" y="3584448"/>
            <a:ext cx="4846320" cy="457200"/>
          </a:xfrm>
          <a:prstGeom prst="rect">
            <a:avLst/>
          </a:prstGeom>
          <a:noFill/>
          <a:ln/>
        </p:spPr>
        <p:txBody>
          <a:bodyPr wrap="square" lIns="0" tIns="0" rIns="0" bIns="0" rtlCol="0" anchor="ctr"/>
          <a:lstStyle/>
          <a:p>
            <a:pPr marL="0" indent="0">
              <a:lnSpc>
                <a:spcPct val="120000"/>
              </a:lnSpc>
              <a:buNone/>
            </a:pPr>
            <a:r>
              <a:rPr lang="en-US" sz="1080" dirty="0">
                <a:solidFill>
                  <a:srgbClr val="3F4A42"/>
                </a:solidFill>
                <a:latin typeface="Calibri" pitchFamily="34" charset="0"/>
                <a:ea typeface="Calibri" pitchFamily="34" charset="-122"/>
                <a:cs typeface="Calibri" pitchFamily="34" charset="-120"/>
              </a:rPr>
              <a:t>Structured testing to substantiate product performance claims.</a:t>
            </a:r>
            <a:endParaRPr lang="en-US" sz="1080" dirty="0"/>
          </a:p>
        </p:txBody>
      </p:sp>
      <p:sp>
        <p:nvSpPr>
          <p:cNvPr id="13" name="Shape 9"/>
          <p:cNvSpPr/>
          <p:nvPr/>
        </p:nvSpPr>
        <p:spPr>
          <a:xfrm>
            <a:off x="640080" y="4160520"/>
            <a:ext cx="365760" cy="365760"/>
          </a:xfrm>
          <a:prstGeom prst="ellipse">
            <a:avLst/>
          </a:prstGeom>
          <a:solidFill>
            <a:srgbClr val="D8E8DC"/>
          </a:solidFill>
          <a:ln/>
        </p:spPr>
      </p:sp>
      <p:pic>
        <p:nvPicPr>
          <p:cNvPr id="14" name="Image 2" descr="assets/icons/checkcircle_deep.png"/>
          <p:cNvPicPr>
            <a:picLocks noChangeAspect="1"/>
          </p:cNvPicPr>
          <p:nvPr/>
        </p:nvPicPr>
        <p:blipFill>
          <a:blip r:embed="rId4"/>
          <a:stretch>
            <a:fillRect/>
          </a:stretch>
        </p:blipFill>
        <p:spPr>
          <a:xfrm>
            <a:off x="713232" y="4233672"/>
            <a:ext cx="219456" cy="219456"/>
          </a:xfrm>
          <a:prstGeom prst="rect">
            <a:avLst/>
          </a:prstGeom>
        </p:spPr>
      </p:pic>
      <p:sp>
        <p:nvSpPr>
          <p:cNvPr id="15" name="Text 10"/>
          <p:cNvSpPr/>
          <p:nvPr/>
        </p:nvSpPr>
        <p:spPr>
          <a:xfrm>
            <a:off x="1143000" y="4123944"/>
            <a:ext cx="4846320" cy="320040"/>
          </a:xfrm>
          <a:prstGeom prst="rect">
            <a:avLst/>
          </a:prstGeom>
          <a:noFill/>
          <a:ln/>
        </p:spPr>
        <p:txBody>
          <a:bodyPr wrap="square" lIns="0" tIns="0" rIns="0" bIns="0" rtlCol="0" anchor="ctr"/>
          <a:lstStyle/>
          <a:p>
            <a:pPr marL="0" indent="0">
              <a:buNone/>
            </a:pPr>
            <a:r>
              <a:rPr lang="en-US" sz="1300" b="1" dirty="0">
                <a:solidFill>
                  <a:srgbClr val="1A2B22"/>
                </a:solidFill>
                <a:latin typeface="Cambria" pitchFamily="34" charset="0"/>
                <a:ea typeface="Cambria" pitchFamily="34" charset="-122"/>
                <a:cs typeface="Cambria" pitchFamily="34" charset="-120"/>
              </a:rPr>
              <a:t>New Product Pipeline</a:t>
            </a:r>
            <a:endParaRPr lang="en-US" sz="1300" dirty="0"/>
          </a:p>
        </p:txBody>
      </p:sp>
      <p:sp>
        <p:nvSpPr>
          <p:cNvPr id="16" name="Text 11"/>
          <p:cNvSpPr/>
          <p:nvPr/>
        </p:nvSpPr>
        <p:spPr>
          <a:xfrm>
            <a:off x="1143000" y="4453128"/>
            <a:ext cx="4846320" cy="457200"/>
          </a:xfrm>
          <a:prstGeom prst="rect">
            <a:avLst/>
          </a:prstGeom>
          <a:noFill/>
          <a:ln/>
        </p:spPr>
        <p:txBody>
          <a:bodyPr wrap="square" lIns="0" tIns="0" rIns="0" bIns="0" rtlCol="0" anchor="ctr"/>
          <a:lstStyle/>
          <a:p>
            <a:pPr marL="0" indent="0">
              <a:lnSpc>
                <a:spcPct val="120000"/>
              </a:lnSpc>
              <a:buNone/>
            </a:pPr>
            <a:r>
              <a:rPr lang="en-US" sz="1080" dirty="0">
                <a:solidFill>
                  <a:srgbClr val="3F4A42"/>
                </a:solidFill>
                <a:latin typeface="Calibri" pitchFamily="34" charset="0"/>
                <a:ea typeface="Calibri" pitchFamily="34" charset="-122"/>
                <a:cs typeface="Calibri" pitchFamily="34" charset="-120"/>
              </a:rPr>
              <a:t>Expanding the range of Neem-based health &amp; environmental solutions.</a:t>
            </a:r>
            <a:endParaRPr lang="en-US" sz="1080" dirty="0"/>
          </a:p>
        </p:txBody>
      </p:sp>
      <p:sp>
        <p:nvSpPr>
          <p:cNvPr id="17" name="Shape 12"/>
          <p:cNvSpPr/>
          <p:nvPr/>
        </p:nvSpPr>
        <p:spPr>
          <a:xfrm>
            <a:off x="640080" y="5029200"/>
            <a:ext cx="365760" cy="365760"/>
          </a:xfrm>
          <a:prstGeom prst="ellipse">
            <a:avLst/>
          </a:prstGeom>
          <a:solidFill>
            <a:srgbClr val="D8E8DC"/>
          </a:solidFill>
          <a:ln/>
        </p:spPr>
      </p:sp>
      <p:pic>
        <p:nvPicPr>
          <p:cNvPr id="18" name="Image 3" descr="assets/icons/checkcircle_deep.png"/>
          <p:cNvPicPr>
            <a:picLocks noChangeAspect="1"/>
          </p:cNvPicPr>
          <p:nvPr/>
        </p:nvPicPr>
        <p:blipFill>
          <a:blip r:embed="rId4"/>
          <a:stretch>
            <a:fillRect/>
          </a:stretch>
        </p:blipFill>
        <p:spPr>
          <a:xfrm>
            <a:off x="713232" y="5102352"/>
            <a:ext cx="219456" cy="219456"/>
          </a:xfrm>
          <a:prstGeom prst="rect">
            <a:avLst/>
          </a:prstGeom>
        </p:spPr>
      </p:pic>
      <p:sp>
        <p:nvSpPr>
          <p:cNvPr id="19" name="Text 13"/>
          <p:cNvSpPr/>
          <p:nvPr/>
        </p:nvSpPr>
        <p:spPr>
          <a:xfrm>
            <a:off x="1143000" y="4992624"/>
            <a:ext cx="4846320" cy="320040"/>
          </a:xfrm>
          <a:prstGeom prst="rect">
            <a:avLst/>
          </a:prstGeom>
          <a:noFill/>
          <a:ln/>
        </p:spPr>
        <p:txBody>
          <a:bodyPr wrap="square" lIns="0" tIns="0" rIns="0" bIns="0" rtlCol="0" anchor="ctr"/>
          <a:lstStyle/>
          <a:p>
            <a:pPr marL="0" indent="0">
              <a:buNone/>
            </a:pPr>
            <a:r>
              <a:rPr lang="en-US" sz="1300" b="1" dirty="0">
                <a:solidFill>
                  <a:srgbClr val="1A2B22"/>
                </a:solidFill>
                <a:latin typeface="Cambria" pitchFamily="34" charset="0"/>
                <a:ea typeface="Cambria" pitchFamily="34" charset="-122"/>
                <a:cs typeface="Cambria" pitchFamily="34" charset="-120"/>
              </a:rPr>
              <a:t>Process Innovation</a:t>
            </a:r>
            <a:endParaRPr lang="en-US" sz="1300" dirty="0"/>
          </a:p>
        </p:txBody>
      </p:sp>
      <p:sp>
        <p:nvSpPr>
          <p:cNvPr id="20" name="Text 14"/>
          <p:cNvSpPr/>
          <p:nvPr/>
        </p:nvSpPr>
        <p:spPr>
          <a:xfrm>
            <a:off x="1143000" y="5321808"/>
            <a:ext cx="4846320" cy="457200"/>
          </a:xfrm>
          <a:prstGeom prst="rect">
            <a:avLst/>
          </a:prstGeom>
          <a:noFill/>
          <a:ln/>
        </p:spPr>
        <p:txBody>
          <a:bodyPr wrap="square" lIns="0" tIns="0" rIns="0" bIns="0" rtlCol="0" anchor="ctr"/>
          <a:lstStyle/>
          <a:p>
            <a:pPr marL="0" indent="0">
              <a:lnSpc>
                <a:spcPct val="120000"/>
              </a:lnSpc>
              <a:buNone/>
            </a:pPr>
            <a:r>
              <a:rPr lang="en-US" sz="1080" dirty="0">
                <a:solidFill>
                  <a:srgbClr val="3F4A42"/>
                </a:solidFill>
                <a:latin typeface="Calibri" pitchFamily="34" charset="0"/>
                <a:ea typeface="Calibri" pitchFamily="34" charset="-122"/>
                <a:cs typeface="Calibri" pitchFamily="34" charset="-120"/>
              </a:rPr>
              <a:t>Improving manufacturing efficiency and environmental performance.</a:t>
            </a:r>
            <a:endParaRPr lang="en-US" sz="1080" dirty="0"/>
          </a:p>
        </p:txBody>
      </p:sp>
      <p:sp>
        <p:nvSpPr>
          <p:cNvPr id="21" name="Shape 15"/>
          <p:cNvSpPr/>
          <p:nvPr/>
        </p:nvSpPr>
        <p:spPr>
          <a:xfrm>
            <a:off x="6949440" y="1554480"/>
            <a:ext cx="4617720" cy="4572000"/>
          </a:xfrm>
          <a:prstGeom prst="roundRect">
            <a:avLst>
              <a:gd name="adj" fmla="val 2400"/>
            </a:avLst>
          </a:prstGeom>
          <a:solidFill>
            <a:srgbClr val="1B4332"/>
          </a:solidFill>
          <a:ln/>
          <a:effectLst>
            <a:outerShdw blurRad="177800" dist="50800" dir="5400000" algn="bl" rotWithShape="0">
              <a:srgbClr val="1B4332">
                <a:alpha val="12000"/>
              </a:srgbClr>
            </a:outerShdw>
          </a:effectLst>
        </p:spPr>
      </p:sp>
      <p:sp>
        <p:nvSpPr>
          <p:cNvPr id="22" name="Shape 16"/>
          <p:cNvSpPr/>
          <p:nvPr/>
        </p:nvSpPr>
        <p:spPr>
          <a:xfrm>
            <a:off x="8778240" y="1965960"/>
            <a:ext cx="960120" cy="960120"/>
          </a:xfrm>
          <a:prstGeom prst="ellipse">
            <a:avLst/>
          </a:prstGeom>
          <a:solidFill>
            <a:srgbClr val="FFFFFF">
              <a:alpha val="12000"/>
            </a:srgbClr>
          </a:solidFill>
          <a:ln/>
        </p:spPr>
      </p:sp>
      <p:pic>
        <p:nvPicPr>
          <p:cNvPr id="23" name="Image 4" descr="assets/icons/microscope_white.png"/>
          <p:cNvPicPr>
            <a:picLocks noChangeAspect="1"/>
          </p:cNvPicPr>
          <p:nvPr/>
        </p:nvPicPr>
        <p:blipFill>
          <a:blip r:embed="rId5"/>
          <a:stretch>
            <a:fillRect/>
          </a:stretch>
        </p:blipFill>
        <p:spPr>
          <a:xfrm>
            <a:off x="9006840" y="2194560"/>
            <a:ext cx="502920" cy="502920"/>
          </a:xfrm>
          <a:prstGeom prst="rect">
            <a:avLst/>
          </a:prstGeom>
        </p:spPr>
      </p:pic>
      <p:sp>
        <p:nvSpPr>
          <p:cNvPr id="24" name="Text 17"/>
          <p:cNvSpPr/>
          <p:nvPr/>
        </p:nvSpPr>
        <p:spPr>
          <a:xfrm>
            <a:off x="7269480" y="3108960"/>
            <a:ext cx="3977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FROM LEAF TO LAB TO LIFE</a:t>
            </a:r>
            <a:endParaRPr lang="en-US" sz="1600" dirty="0"/>
          </a:p>
        </p:txBody>
      </p:sp>
      <p:sp>
        <p:nvSpPr>
          <p:cNvPr id="25" name="Text 18"/>
          <p:cNvSpPr/>
          <p:nvPr/>
        </p:nvSpPr>
        <p:spPr>
          <a:xfrm>
            <a:off x="7406640" y="3611880"/>
            <a:ext cx="3703320" cy="1463040"/>
          </a:xfrm>
          <a:prstGeom prst="rect">
            <a:avLst/>
          </a:prstGeom>
          <a:noFill/>
          <a:ln/>
        </p:spPr>
        <p:txBody>
          <a:bodyPr wrap="square" lIns="0" tIns="0" rIns="0" bIns="0" rtlCol="0" anchor="ctr"/>
          <a:lstStyle/>
          <a:p>
            <a:pPr marL="0" indent="0" algn="ctr">
              <a:lnSpc>
                <a:spcPct val="135000"/>
              </a:lnSpc>
              <a:buNone/>
            </a:pPr>
            <a:r>
              <a:rPr lang="en-US" sz="1150" dirty="0">
                <a:solidFill>
                  <a:srgbClr val="DCEAE0"/>
                </a:solidFill>
                <a:latin typeface="Calibri" pitchFamily="34" charset="0"/>
                <a:ea typeface="Calibri" pitchFamily="34" charset="-122"/>
                <a:cs typeface="Calibri" pitchFamily="34" charset="-120"/>
              </a:rPr>
              <a:t>Every EcoNeemTech product passes through a disciplined R&amp;D process , combining indigenous botanical knowledge with structured testing to ensure safety, consistency, and real-world efficacy before it ever reaches a customer.</a:t>
            </a:r>
            <a:endParaRPr lang="en-US" sz="1150" dirty="0"/>
          </a:p>
        </p:txBody>
      </p:sp>
      <p:sp>
        <p:nvSpPr>
          <p:cNvPr id="26" name="Shape 19"/>
          <p:cNvSpPr/>
          <p:nvPr/>
        </p:nvSpPr>
        <p:spPr>
          <a:xfrm>
            <a:off x="7680960" y="5257800"/>
            <a:ext cx="3154680" cy="0"/>
          </a:xfrm>
          <a:prstGeom prst="line">
            <a:avLst/>
          </a:prstGeom>
          <a:noFill/>
          <a:ln w="9525">
            <a:solidFill>
              <a:srgbClr val="FFFFFF">
                <a:alpha val="30000"/>
              </a:srgbClr>
            </a:solidFill>
            <a:prstDash val="solid"/>
          </a:ln>
        </p:spPr>
      </p:sp>
      <p:sp>
        <p:nvSpPr>
          <p:cNvPr id="27" name="Text 20"/>
          <p:cNvSpPr/>
          <p:nvPr/>
        </p:nvSpPr>
        <p:spPr>
          <a:xfrm>
            <a:off x="7406640" y="5440680"/>
            <a:ext cx="3703320" cy="457200"/>
          </a:xfrm>
          <a:prstGeom prst="rect">
            <a:avLst/>
          </a:prstGeom>
          <a:noFill/>
          <a:ln/>
        </p:spPr>
        <p:txBody>
          <a:bodyPr wrap="square" lIns="0" tIns="0" rIns="0" bIns="0" rtlCol="0" anchor="ctr"/>
          <a:lstStyle/>
          <a:p>
            <a:pPr marL="0" indent="0" algn="ctr">
              <a:buNone/>
            </a:pPr>
            <a:r>
              <a:rPr lang="en-US" sz="1050" i="1" dirty="0">
                <a:solidFill>
                  <a:srgbClr val="95D5B2"/>
                </a:solidFill>
                <a:latin typeface="Calibri" pitchFamily="34" charset="0"/>
                <a:ea typeface="Calibri" pitchFamily="34" charset="-122"/>
                <a:cs typeface="Calibri" pitchFamily="34" charset="-120"/>
              </a:rPr>
              <a:t>Innovation is continuous   not a one-time event.</a:t>
            </a:r>
            <a:endParaRPr lang="en-US" sz="1050" dirty="0"/>
          </a:p>
        </p:txBody>
      </p:sp>
      <p:sp>
        <p:nvSpPr>
          <p:cNvPr id="28" name="Text 21"/>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29" name="Text 22"/>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CORPORATE SOCIAL RESPONSIBILITY</a:t>
            </a:r>
            <a:endParaRPr lang="en-US" sz="1250" dirty="0"/>
          </a:p>
        </p:txBody>
      </p:sp>
      <p:sp>
        <p:nvSpPr>
          <p:cNvPr id="3" name="Text 1"/>
          <p:cNvSpPr/>
          <p:nvPr/>
        </p:nvSpPr>
        <p:spPr>
          <a:xfrm>
            <a:off x="640080" y="804672"/>
            <a:ext cx="10058400" cy="685800"/>
          </a:xfrm>
          <a:prstGeom prst="rect">
            <a:avLst/>
          </a:prstGeom>
          <a:noFill/>
          <a:ln/>
        </p:spPr>
        <p:txBody>
          <a:bodyPr wrap="square" lIns="0" tIns="0" rIns="0" bIns="0" rtlCol="0" anchor="ctr"/>
          <a:lstStyle/>
          <a:p>
            <a:pPr marL="0" indent="0">
              <a:buNone/>
            </a:pPr>
            <a:r>
              <a:rPr lang="en-US" sz="2600" b="1" dirty="0">
                <a:solidFill>
                  <a:srgbClr val="1A2B22"/>
                </a:solidFill>
                <a:latin typeface="Cambria" pitchFamily="34" charset="0"/>
                <a:ea typeface="Cambria" pitchFamily="34" charset="-122"/>
                <a:cs typeface="Cambria" pitchFamily="34" charset="-120"/>
              </a:rPr>
              <a:t>Giving Back to the Communities We Serve</a:t>
            </a:r>
            <a:endParaRPr lang="en-US" sz="2600" dirty="0"/>
          </a:p>
        </p:txBody>
      </p:sp>
      <p:sp>
        <p:nvSpPr>
          <p:cNvPr id="4" name="Shape 2"/>
          <p:cNvSpPr/>
          <p:nvPr/>
        </p:nvSpPr>
        <p:spPr>
          <a:xfrm>
            <a:off x="640080" y="1691640"/>
            <a:ext cx="5349240" cy="2011680"/>
          </a:xfrm>
          <a:prstGeom prst="roundRect">
            <a:avLst>
              <a:gd name="adj" fmla="val 4545"/>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5" name="Shape 3"/>
          <p:cNvSpPr/>
          <p:nvPr/>
        </p:nvSpPr>
        <p:spPr>
          <a:xfrm>
            <a:off x="914400" y="1947672"/>
            <a:ext cx="566928" cy="566928"/>
          </a:xfrm>
          <a:prstGeom prst="ellipse">
            <a:avLst/>
          </a:prstGeom>
          <a:solidFill>
            <a:srgbClr val="D8E8DC"/>
          </a:solidFill>
          <a:ln/>
        </p:spPr>
      </p:sp>
      <p:pic>
        <p:nvPicPr>
          <p:cNvPr id="6" name="Image 0" descr="assets/icons/users_deep.png"/>
          <p:cNvPicPr>
            <a:picLocks noChangeAspect="1"/>
          </p:cNvPicPr>
          <p:nvPr/>
        </p:nvPicPr>
        <p:blipFill>
          <a:blip r:embed="rId4"/>
          <a:stretch>
            <a:fillRect/>
          </a:stretch>
        </p:blipFill>
        <p:spPr>
          <a:xfrm>
            <a:off x="1051560" y="2084832"/>
            <a:ext cx="292608" cy="292608"/>
          </a:xfrm>
          <a:prstGeom prst="rect">
            <a:avLst/>
          </a:prstGeom>
        </p:spPr>
      </p:pic>
      <p:sp>
        <p:nvSpPr>
          <p:cNvPr id="7" name="Text 4"/>
          <p:cNvSpPr/>
          <p:nvPr/>
        </p:nvSpPr>
        <p:spPr>
          <a:xfrm>
            <a:off x="1645920" y="1965960"/>
            <a:ext cx="4114800" cy="502920"/>
          </a:xfrm>
          <a:prstGeom prst="rect">
            <a:avLst/>
          </a:prstGeom>
          <a:noFill/>
          <a:ln/>
        </p:spPr>
        <p:txBody>
          <a:bodyPr wrap="square" lIns="0" tIns="0" rIns="0" bIns="0" rtlCol="0" anchor="ctr"/>
          <a:lstStyle/>
          <a:p>
            <a:pPr marL="0" indent="0">
              <a:buNone/>
            </a:pPr>
            <a:r>
              <a:rPr lang="en-US" sz="1400" b="1" dirty="0">
                <a:solidFill>
                  <a:srgbClr val="1A2B22"/>
                </a:solidFill>
                <a:latin typeface="Cambria" pitchFamily="34" charset="0"/>
                <a:ea typeface="Cambria" pitchFamily="34" charset="-122"/>
                <a:cs typeface="Cambria" pitchFamily="34" charset="-120"/>
              </a:rPr>
              <a:t>Community Health Outreach</a:t>
            </a:r>
            <a:endParaRPr lang="en-US" sz="1400" dirty="0"/>
          </a:p>
        </p:txBody>
      </p:sp>
      <p:sp>
        <p:nvSpPr>
          <p:cNvPr id="8" name="Text 5"/>
          <p:cNvSpPr/>
          <p:nvPr/>
        </p:nvSpPr>
        <p:spPr>
          <a:xfrm>
            <a:off x="914400" y="2651760"/>
            <a:ext cx="4800600" cy="914400"/>
          </a:xfrm>
          <a:prstGeom prst="rect">
            <a:avLst/>
          </a:prstGeom>
          <a:noFill/>
          <a:ln/>
        </p:spPr>
        <p:txBody>
          <a:bodyPr wrap="square" lIns="0" tIns="0" rIns="0" bIns="0" rtlCol="0" anchor="ctr"/>
          <a:lstStyle/>
          <a:p>
            <a:pPr marL="0" indent="0">
              <a:lnSpc>
                <a:spcPct val="128000"/>
              </a:lnSpc>
              <a:buNone/>
            </a:pPr>
            <a:r>
              <a:rPr lang="en-US" sz="1100" dirty="0">
                <a:solidFill>
                  <a:srgbClr val="3F4A42"/>
                </a:solidFill>
                <a:latin typeface="Calibri" pitchFamily="34" charset="0"/>
                <a:ea typeface="Calibri" pitchFamily="34" charset="-122"/>
                <a:cs typeface="Calibri" pitchFamily="34" charset="-120"/>
              </a:rPr>
              <a:t>Supporting access to affordable, natural hygiene solutions in underserved communities.</a:t>
            </a:r>
            <a:endParaRPr lang="en-US" sz="1100" dirty="0"/>
          </a:p>
        </p:txBody>
      </p:sp>
      <p:sp>
        <p:nvSpPr>
          <p:cNvPr id="9" name="Shape 6"/>
          <p:cNvSpPr/>
          <p:nvPr/>
        </p:nvSpPr>
        <p:spPr>
          <a:xfrm>
            <a:off x="6172200" y="1691640"/>
            <a:ext cx="5349240" cy="2011680"/>
          </a:xfrm>
          <a:prstGeom prst="roundRect">
            <a:avLst>
              <a:gd name="adj" fmla="val 4545"/>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10" name="Shape 7"/>
          <p:cNvSpPr/>
          <p:nvPr/>
        </p:nvSpPr>
        <p:spPr>
          <a:xfrm>
            <a:off x="6446520" y="1947672"/>
            <a:ext cx="566928" cy="566928"/>
          </a:xfrm>
          <a:prstGeom prst="ellipse">
            <a:avLst/>
          </a:prstGeom>
          <a:solidFill>
            <a:srgbClr val="D8E8DC"/>
          </a:solidFill>
          <a:ln/>
        </p:spPr>
      </p:sp>
      <p:pic>
        <p:nvPicPr>
          <p:cNvPr id="11" name="Image 1" descr="assets/icons/seedling_deep.png"/>
          <p:cNvPicPr>
            <a:picLocks noChangeAspect="1"/>
          </p:cNvPicPr>
          <p:nvPr/>
        </p:nvPicPr>
        <p:blipFill>
          <a:blip r:embed="rId5"/>
          <a:stretch>
            <a:fillRect/>
          </a:stretch>
        </p:blipFill>
        <p:spPr>
          <a:xfrm>
            <a:off x="6583680" y="2084832"/>
            <a:ext cx="292608" cy="292608"/>
          </a:xfrm>
          <a:prstGeom prst="rect">
            <a:avLst/>
          </a:prstGeom>
        </p:spPr>
      </p:pic>
      <p:sp>
        <p:nvSpPr>
          <p:cNvPr id="12" name="Text 8"/>
          <p:cNvSpPr/>
          <p:nvPr/>
        </p:nvSpPr>
        <p:spPr>
          <a:xfrm>
            <a:off x="7178040" y="1965960"/>
            <a:ext cx="4114800" cy="502920"/>
          </a:xfrm>
          <a:prstGeom prst="rect">
            <a:avLst/>
          </a:prstGeom>
          <a:noFill/>
          <a:ln/>
        </p:spPr>
        <p:txBody>
          <a:bodyPr wrap="square" lIns="0" tIns="0" rIns="0" bIns="0" rtlCol="0" anchor="ctr"/>
          <a:lstStyle/>
          <a:p>
            <a:pPr marL="0" indent="0">
              <a:buNone/>
            </a:pPr>
            <a:r>
              <a:rPr lang="en-US" sz="1400" b="1" dirty="0">
                <a:solidFill>
                  <a:srgbClr val="1A2B22"/>
                </a:solidFill>
                <a:latin typeface="Cambria" pitchFamily="34" charset="0"/>
                <a:ea typeface="Cambria" pitchFamily="34" charset="-122"/>
                <a:cs typeface="Cambria" pitchFamily="34" charset="-120"/>
              </a:rPr>
              <a:t>Environmental Stewardship</a:t>
            </a:r>
            <a:endParaRPr lang="en-US" sz="1400" dirty="0"/>
          </a:p>
        </p:txBody>
      </p:sp>
      <p:sp>
        <p:nvSpPr>
          <p:cNvPr id="13" name="Text 9"/>
          <p:cNvSpPr/>
          <p:nvPr/>
        </p:nvSpPr>
        <p:spPr>
          <a:xfrm>
            <a:off x="6446520" y="2651760"/>
            <a:ext cx="4800600" cy="914400"/>
          </a:xfrm>
          <a:prstGeom prst="rect">
            <a:avLst/>
          </a:prstGeom>
          <a:noFill/>
          <a:ln/>
        </p:spPr>
        <p:txBody>
          <a:bodyPr wrap="square" lIns="0" tIns="0" rIns="0" bIns="0" rtlCol="0" anchor="ctr"/>
          <a:lstStyle/>
          <a:p>
            <a:pPr marL="0" indent="0">
              <a:lnSpc>
                <a:spcPct val="128000"/>
              </a:lnSpc>
              <a:buNone/>
            </a:pPr>
            <a:r>
              <a:rPr lang="en-US" sz="1100" dirty="0">
                <a:solidFill>
                  <a:srgbClr val="3F4A42"/>
                </a:solidFill>
                <a:latin typeface="Calibri" pitchFamily="34" charset="0"/>
                <a:ea typeface="Calibri" pitchFamily="34" charset="-122"/>
                <a:cs typeface="Calibri" pitchFamily="34" charset="-120"/>
              </a:rPr>
              <a:t>Promoting Neem cultivation and environmental awareness initiatives.</a:t>
            </a:r>
            <a:endParaRPr lang="en-US" sz="1100" dirty="0"/>
          </a:p>
        </p:txBody>
      </p:sp>
      <p:sp>
        <p:nvSpPr>
          <p:cNvPr id="14" name="Shape 10"/>
          <p:cNvSpPr/>
          <p:nvPr/>
        </p:nvSpPr>
        <p:spPr>
          <a:xfrm>
            <a:off x="640080" y="3931920"/>
            <a:ext cx="5349240" cy="2011680"/>
          </a:xfrm>
          <a:prstGeom prst="roundRect">
            <a:avLst>
              <a:gd name="adj" fmla="val 4545"/>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15" name="Shape 11"/>
          <p:cNvSpPr/>
          <p:nvPr/>
        </p:nvSpPr>
        <p:spPr>
          <a:xfrm>
            <a:off x="914400" y="4187952"/>
            <a:ext cx="566928" cy="566928"/>
          </a:xfrm>
          <a:prstGeom prst="ellipse">
            <a:avLst/>
          </a:prstGeom>
          <a:solidFill>
            <a:srgbClr val="D8E8DC"/>
          </a:solidFill>
          <a:ln/>
        </p:spPr>
      </p:sp>
      <p:pic>
        <p:nvPicPr>
          <p:cNvPr id="16" name="Image 2" descr="assets/icons/handshake_deep.png"/>
          <p:cNvPicPr>
            <a:picLocks noChangeAspect="1"/>
          </p:cNvPicPr>
          <p:nvPr/>
        </p:nvPicPr>
        <p:blipFill>
          <a:blip r:embed="rId6"/>
          <a:stretch>
            <a:fillRect/>
          </a:stretch>
        </p:blipFill>
        <p:spPr>
          <a:xfrm>
            <a:off x="1051560" y="4325112"/>
            <a:ext cx="292608" cy="292608"/>
          </a:xfrm>
          <a:prstGeom prst="rect">
            <a:avLst/>
          </a:prstGeom>
        </p:spPr>
      </p:pic>
      <p:sp>
        <p:nvSpPr>
          <p:cNvPr id="17" name="Text 12"/>
          <p:cNvSpPr/>
          <p:nvPr/>
        </p:nvSpPr>
        <p:spPr>
          <a:xfrm>
            <a:off x="1645920" y="4206240"/>
            <a:ext cx="4114800" cy="502920"/>
          </a:xfrm>
          <a:prstGeom prst="rect">
            <a:avLst/>
          </a:prstGeom>
          <a:noFill/>
          <a:ln/>
        </p:spPr>
        <p:txBody>
          <a:bodyPr wrap="square" lIns="0" tIns="0" rIns="0" bIns="0" rtlCol="0" anchor="ctr"/>
          <a:lstStyle/>
          <a:p>
            <a:pPr marL="0" indent="0">
              <a:buNone/>
            </a:pPr>
            <a:r>
              <a:rPr lang="en-US" sz="1400" b="1" dirty="0">
                <a:solidFill>
                  <a:srgbClr val="1A2B22"/>
                </a:solidFill>
                <a:latin typeface="Cambria" pitchFamily="34" charset="0"/>
                <a:ea typeface="Cambria" pitchFamily="34" charset="-122"/>
                <a:cs typeface="Cambria" pitchFamily="34" charset="-120"/>
              </a:rPr>
              <a:t>Local Economic Empowerment</a:t>
            </a:r>
            <a:endParaRPr lang="en-US" sz="1400" dirty="0"/>
          </a:p>
        </p:txBody>
      </p:sp>
      <p:sp>
        <p:nvSpPr>
          <p:cNvPr id="18" name="Text 13"/>
          <p:cNvSpPr/>
          <p:nvPr/>
        </p:nvSpPr>
        <p:spPr>
          <a:xfrm>
            <a:off x="914400" y="4892040"/>
            <a:ext cx="4800600" cy="914400"/>
          </a:xfrm>
          <a:prstGeom prst="rect">
            <a:avLst/>
          </a:prstGeom>
          <a:noFill/>
          <a:ln/>
        </p:spPr>
        <p:txBody>
          <a:bodyPr wrap="square" lIns="0" tIns="0" rIns="0" bIns="0" rtlCol="0" anchor="ctr"/>
          <a:lstStyle/>
          <a:p>
            <a:pPr marL="0" indent="0">
              <a:lnSpc>
                <a:spcPct val="128000"/>
              </a:lnSpc>
              <a:buNone/>
            </a:pPr>
            <a:r>
              <a:rPr lang="en-US" sz="1100" dirty="0">
                <a:solidFill>
                  <a:srgbClr val="3F4A42"/>
                </a:solidFill>
                <a:latin typeface="Calibri" pitchFamily="34" charset="0"/>
                <a:ea typeface="Calibri" pitchFamily="34" charset="-122"/>
                <a:cs typeface="Calibri" pitchFamily="34" charset="-120"/>
              </a:rPr>
              <a:t>Creating opportunities for local farmers, suppliers, and distributors.</a:t>
            </a:r>
            <a:endParaRPr lang="en-US" sz="1100" dirty="0"/>
          </a:p>
        </p:txBody>
      </p:sp>
      <p:sp>
        <p:nvSpPr>
          <p:cNvPr id="19" name="Shape 14"/>
          <p:cNvSpPr/>
          <p:nvPr/>
        </p:nvSpPr>
        <p:spPr>
          <a:xfrm>
            <a:off x="6172200" y="3931920"/>
            <a:ext cx="5349240" cy="2011680"/>
          </a:xfrm>
          <a:prstGeom prst="roundRect">
            <a:avLst>
              <a:gd name="adj" fmla="val 4545"/>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20" name="Shape 15"/>
          <p:cNvSpPr/>
          <p:nvPr/>
        </p:nvSpPr>
        <p:spPr>
          <a:xfrm>
            <a:off x="6446520" y="4187952"/>
            <a:ext cx="566928" cy="566928"/>
          </a:xfrm>
          <a:prstGeom prst="ellipse">
            <a:avLst/>
          </a:prstGeom>
          <a:solidFill>
            <a:srgbClr val="D8E8DC"/>
          </a:solidFill>
          <a:ln/>
        </p:spPr>
      </p:sp>
      <p:pic>
        <p:nvPicPr>
          <p:cNvPr id="21" name="Image 3" descr="assets/icons/lightbulb_deep.png"/>
          <p:cNvPicPr>
            <a:picLocks noChangeAspect="1"/>
          </p:cNvPicPr>
          <p:nvPr/>
        </p:nvPicPr>
        <p:blipFill>
          <a:blip r:embed="rId7"/>
          <a:stretch>
            <a:fillRect/>
          </a:stretch>
        </p:blipFill>
        <p:spPr>
          <a:xfrm>
            <a:off x="6583680" y="4325112"/>
            <a:ext cx="292608" cy="292608"/>
          </a:xfrm>
          <a:prstGeom prst="rect">
            <a:avLst/>
          </a:prstGeom>
        </p:spPr>
      </p:pic>
      <p:sp>
        <p:nvSpPr>
          <p:cNvPr id="22" name="Text 16"/>
          <p:cNvSpPr/>
          <p:nvPr/>
        </p:nvSpPr>
        <p:spPr>
          <a:xfrm>
            <a:off x="7178040" y="4206240"/>
            <a:ext cx="4114800" cy="502920"/>
          </a:xfrm>
          <a:prstGeom prst="rect">
            <a:avLst/>
          </a:prstGeom>
          <a:noFill/>
          <a:ln/>
        </p:spPr>
        <p:txBody>
          <a:bodyPr wrap="square" lIns="0" tIns="0" rIns="0" bIns="0" rtlCol="0" anchor="ctr"/>
          <a:lstStyle/>
          <a:p>
            <a:pPr marL="0" indent="0">
              <a:buNone/>
            </a:pPr>
            <a:r>
              <a:rPr lang="en-US" sz="1400" b="1" dirty="0">
                <a:solidFill>
                  <a:srgbClr val="1A2B22"/>
                </a:solidFill>
                <a:latin typeface="Cambria" pitchFamily="34" charset="0"/>
                <a:ea typeface="Cambria" pitchFamily="34" charset="-122"/>
                <a:cs typeface="Cambria" pitchFamily="34" charset="-120"/>
              </a:rPr>
              <a:t>Education &amp; Awareness</a:t>
            </a:r>
            <a:endParaRPr lang="en-US" sz="1400" dirty="0"/>
          </a:p>
        </p:txBody>
      </p:sp>
      <p:sp>
        <p:nvSpPr>
          <p:cNvPr id="23" name="Text 17"/>
          <p:cNvSpPr/>
          <p:nvPr/>
        </p:nvSpPr>
        <p:spPr>
          <a:xfrm>
            <a:off x="6446520" y="4892040"/>
            <a:ext cx="4800600" cy="914400"/>
          </a:xfrm>
          <a:prstGeom prst="rect">
            <a:avLst/>
          </a:prstGeom>
          <a:noFill/>
          <a:ln/>
        </p:spPr>
        <p:txBody>
          <a:bodyPr wrap="square" lIns="0" tIns="0" rIns="0" bIns="0" rtlCol="0" anchor="ctr"/>
          <a:lstStyle/>
          <a:p>
            <a:pPr marL="0" indent="0">
              <a:lnSpc>
                <a:spcPct val="128000"/>
              </a:lnSpc>
              <a:buNone/>
            </a:pPr>
            <a:r>
              <a:rPr lang="en-US" sz="1100" dirty="0">
                <a:solidFill>
                  <a:srgbClr val="3F4A42"/>
                </a:solidFill>
                <a:latin typeface="Calibri" pitchFamily="34" charset="0"/>
                <a:ea typeface="Calibri" pitchFamily="34" charset="-122"/>
                <a:cs typeface="Calibri" pitchFamily="34" charset="-120"/>
              </a:rPr>
              <a:t>Public education on the health and environmental benefits of natural alternatives.</a:t>
            </a:r>
            <a:endParaRPr lang="en-US" sz="1100" dirty="0"/>
          </a:p>
        </p:txBody>
      </p:sp>
      <p:sp>
        <p:nvSpPr>
          <p:cNvPr id="24" name="Text 18"/>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25" name="Text 19"/>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STRATEGIC PARTNERSHIPS</a:t>
            </a:r>
            <a:endParaRPr lang="en-US" sz="1250" dirty="0"/>
          </a:p>
        </p:txBody>
      </p:sp>
      <p:sp>
        <p:nvSpPr>
          <p:cNvPr id="3"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200" b="1" dirty="0">
                <a:solidFill>
                  <a:srgbClr val="1A2B22"/>
                </a:solidFill>
                <a:latin typeface="Cambria" pitchFamily="34" charset="0"/>
                <a:ea typeface="Cambria" pitchFamily="34" charset="-122"/>
                <a:cs typeface="Cambria" pitchFamily="34" charset="-120"/>
              </a:rPr>
              <a:t>Building Together</a:t>
            </a:r>
            <a:endParaRPr lang="en-US" sz="3200" dirty="0"/>
          </a:p>
        </p:txBody>
      </p:sp>
      <p:sp>
        <p:nvSpPr>
          <p:cNvPr id="4" name="Text 2"/>
          <p:cNvSpPr/>
          <p:nvPr/>
        </p:nvSpPr>
        <p:spPr>
          <a:xfrm>
            <a:off x="640080" y="1600200"/>
            <a:ext cx="10515600" cy="457200"/>
          </a:xfrm>
          <a:prstGeom prst="rect">
            <a:avLst/>
          </a:prstGeom>
          <a:noFill/>
          <a:ln/>
        </p:spPr>
        <p:txBody>
          <a:bodyPr wrap="square" lIns="0" tIns="0" rIns="0" bIns="0" rtlCol="0" anchor="ctr"/>
          <a:lstStyle/>
          <a:p>
            <a:pPr marL="0" indent="0">
              <a:buNone/>
            </a:pPr>
            <a:r>
              <a:rPr lang="en-US" sz="1350" dirty="0">
                <a:solidFill>
                  <a:srgbClr val="3F4A42"/>
                </a:solidFill>
                <a:latin typeface="Calibri" pitchFamily="34" charset="0"/>
                <a:ea typeface="Calibri" pitchFamily="34" charset="-122"/>
                <a:cs typeface="Calibri" pitchFamily="34" charset="-120"/>
              </a:rPr>
              <a:t>We actively seek partnerships that strengthen our supply chain, expand our market reach, and deepen our scientific credibility.</a:t>
            </a:r>
            <a:endParaRPr lang="en-US" sz="1350" dirty="0"/>
          </a:p>
        </p:txBody>
      </p:sp>
      <p:sp>
        <p:nvSpPr>
          <p:cNvPr id="5" name="Shape 3"/>
          <p:cNvSpPr/>
          <p:nvPr/>
        </p:nvSpPr>
        <p:spPr>
          <a:xfrm>
            <a:off x="640080" y="2286000"/>
            <a:ext cx="3520440" cy="1783080"/>
          </a:xfrm>
          <a:prstGeom prst="roundRect">
            <a:avLst>
              <a:gd name="adj" fmla="val 5128"/>
            </a:avLst>
          </a:prstGeom>
          <a:solidFill>
            <a:srgbClr val="1B4332"/>
          </a:solidFill>
          <a:ln/>
          <a:effectLst>
            <a:outerShdw blurRad="127000" dist="38100" dir="5400000" algn="bl" rotWithShape="0">
              <a:srgbClr val="1B4332">
                <a:alpha val="10000"/>
              </a:srgbClr>
            </a:outerShdw>
          </a:effectLst>
        </p:spPr>
      </p:sp>
      <p:sp>
        <p:nvSpPr>
          <p:cNvPr id="6" name="Shape 4"/>
          <p:cNvSpPr/>
          <p:nvPr/>
        </p:nvSpPr>
        <p:spPr>
          <a:xfrm>
            <a:off x="868680" y="2514600"/>
            <a:ext cx="502920" cy="502920"/>
          </a:xfrm>
          <a:prstGeom prst="ellipse">
            <a:avLst/>
          </a:prstGeom>
          <a:solidFill>
            <a:srgbClr val="FFFFFF">
              <a:alpha val="12000"/>
            </a:srgbClr>
          </a:solidFill>
          <a:ln/>
        </p:spPr>
      </p:sp>
      <p:pic>
        <p:nvPicPr>
          <p:cNvPr id="7" name="Image 0" descr="assets/icons/seedling_white.png"/>
          <p:cNvPicPr>
            <a:picLocks noChangeAspect="1"/>
          </p:cNvPicPr>
          <p:nvPr/>
        </p:nvPicPr>
        <p:blipFill>
          <a:blip r:embed="rId4"/>
          <a:stretch>
            <a:fillRect/>
          </a:stretch>
        </p:blipFill>
        <p:spPr>
          <a:xfrm>
            <a:off x="996696" y="2642616"/>
            <a:ext cx="246888" cy="246888"/>
          </a:xfrm>
          <a:prstGeom prst="rect">
            <a:avLst/>
          </a:prstGeom>
        </p:spPr>
      </p:pic>
      <p:sp>
        <p:nvSpPr>
          <p:cNvPr id="8" name="Text 5"/>
          <p:cNvSpPr/>
          <p:nvPr/>
        </p:nvSpPr>
        <p:spPr>
          <a:xfrm>
            <a:off x="1508760" y="2487168"/>
            <a:ext cx="2514600" cy="54864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Agricultural Cooperatives</a:t>
            </a:r>
            <a:endParaRPr lang="en-US" sz="1200" dirty="0"/>
          </a:p>
        </p:txBody>
      </p:sp>
      <p:sp>
        <p:nvSpPr>
          <p:cNvPr id="9" name="Text 6"/>
          <p:cNvSpPr/>
          <p:nvPr/>
        </p:nvSpPr>
        <p:spPr>
          <a:xfrm>
            <a:off x="868680" y="3154680"/>
            <a:ext cx="3108960" cy="822960"/>
          </a:xfrm>
          <a:prstGeom prst="rect">
            <a:avLst/>
          </a:prstGeom>
          <a:noFill/>
          <a:ln/>
        </p:spPr>
        <p:txBody>
          <a:bodyPr wrap="square" lIns="0" tIns="0" rIns="0" bIns="0" rtlCol="0" anchor="ctr"/>
          <a:lstStyle/>
          <a:p>
            <a:pPr marL="0" indent="0">
              <a:lnSpc>
                <a:spcPct val="125000"/>
              </a:lnSpc>
              <a:buNone/>
            </a:pPr>
            <a:r>
              <a:rPr lang="en-US" sz="980" dirty="0">
                <a:solidFill>
                  <a:srgbClr val="DCEAE0"/>
                </a:solidFill>
                <a:latin typeface="Calibri" pitchFamily="34" charset="0"/>
                <a:ea typeface="Calibri" pitchFamily="34" charset="-122"/>
                <a:cs typeface="Calibri" pitchFamily="34" charset="-120"/>
              </a:rPr>
              <a:t>Reliable, sustainable supply of high-quality Neem raw materials.</a:t>
            </a:r>
            <a:endParaRPr lang="en-US" sz="980" dirty="0"/>
          </a:p>
        </p:txBody>
      </p:sp>
      <p:sp>
        <p:nvSpPr>
          <p:cNvPr id="10" name="Shape 7"/>
          <p:cNvSpPr/>
          <p:nvPr/>
        </p:nvSpPr>
        <p:spPr>
          <a:xfrm>
            <a:off x="4343400" y="2286000"/>
            <a:ext cx="3520440" cy="1783080"/>
          </a:xfrm>
          <a:prstGeom prst="roundRect">
            <a:avLst>
              <a:gd name="adj" fmla="val 5128"/>
            </a:avLst>
          </a:prstGeom>
          <a:solidFill>
            <a:srgbClr val="1B4332"/>
          </a:solidFill>
          <a:ln/>
          <a:effectLst>
            <a:outerShdw blurRad="127000" dist="38100" dir="5400000" algn="bl" rotWithShape="0">
              <a:srgbClr val="1B4332">
                <a:alpha val="10000"/>
              </a:srgbClr>
            </a:outerShdw>
          </a:effectLst>
        </p:spPr>
      </p:sp>
      <p:sp>
        <p:nvSpPr>
          <p:cNvPr id="11" name="Shape 8"/>
          <p:cNvSpPr/>
          <p:nvPr/>
        </p:nvSpPr>
        <p:spPr>
          <a:xfrm>
            <a:off x="4572000" y="2514600"/>
            <a:ext cx="502920" cy="502920"/>
          </a:xfrm>
          <a:prstGeom prst="ellipse">
            <a:avLst/>
          </a:prstGeom>
          <a:solidFill>
            <a:srgbClr val="FFFFFF">
              <a:alpha val="12000"/>
            </a:srgbClr>
          </a:solidFill>
          <a:ln/>
        </p:spPr>
      </p:sp>
      <p:pic>
        <p:nvPicPr>
          <p:cNvPr id="12" name="Image 1" descr="assets/icons/microscope_white.png"/>
          <p:cNvPicPr>
            <a:picLocks noChangeAspect="1"/>
          </p:cNvPicPr>
          <p:nvPr/>
        </p:nvPicPr>
        <p:blipFill>
          <a:blip r:embed="rId5"/>
          <a:stretch>
            <a:fillRect/>
          </a:stretch>
        </p:blipFill>
        <p:spPr>
          <a:xfrm>
            <a:off x="4700016" y="2642616"/>
            <a:ext cx="246888" cy="246888"/>
          </a:xfrm>
          <a:prstGeom prst="rect">
            <a:avLst/>
          </a:prstGeom>
        </p:spPr>
      </p:pic>
      <p:sp>
        <p:nvSpPr>
          <p:cNvPr id="13" name="Text 9"/>
          <p:cNvSpPr/>
          <p:nvPr/>
        </p:nvSpPr>
        <p:spPr>
          <a:xfrm>
            <a:off x="5212080" y="2487168"/>
            <a:ext cx="2514600" cy="54864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Research Institutions</a:t>
            </a:r>
            <a:endParaRPr lang="en-US" sz="1200" dirty="0"/>
          </a:p>
        </p:txBody>
      </p:sp>
      <p:sp>
        <p:nvSpPr>
          <p:cNvPr id="14" name="Text 10"/>
          <p:cNvSpPr/>
          <p:nvPr/>
        </p:nvSpPr>
        <p:spPr>
          <a:xfrm>
            <a:off x="4572000" y="3154680"/>
            <a:ext cx="3108960" cy="822960"/>
          </a:xfrm>
          <a:prstGeom prst="rect">
            <a:avLst/>
          </a:prstGeom>
          <a:noFill/>
          <a:ln/>
        </p:spPr>
        <p:txBody>
          <a:bodyPr wrap="square" lIns="0" tIns="0" rIns="0" bIns="0" rtlCol="0" anchor="ctr"/>
          <a:lstStyle/>
          <a:p>
            <a:pPr marL="0" indent="0">
              <a:lnSpc>
                <a:spcPct val="125000"/>
              </a:lnSpc>
              <a:buNone/>
            </a:pPr>
            <a:r>
              <a:rPr lang="en-US" sz="980" dirty="0">
                <a:solidFill>
                  <a:srgbClr val="DCEAE0"/>
                </a:solidFill>
                <a:latin typeface="Calibri" pitchFamily="34" charset="0"/>
                <a:ea typeface="Calibri" pitchFamily="34" charset="-122"/>
                <a:cs typeface="Calibri" pitchFamily="34" charset="-120"/>
              </a:rPr>
              <a:t>Collaborative research to validate and enhance product efficacy.</a:t>
            </a:r>
            <a:endParaRPr lang="en-US" sz="980" dirty="0"/>
          </a:p>
        </p:txBody>
      </p:sp>
      <p:sp>
        <p:nvSpPr>
          <p:cNvPr id="15" name="Shape 11"/>
          <p:cNvSpPr/>
          <p:nvPr/>
        </p:nvSpPr>
        <p:spPr>
          <a:xfrm>
            <a:off x="8046720" y="2286000"/>
            <a:ext cx="3520440" cy="1783080"/>
          </a:xfrm>
          <a:prstGeom prst="roundRect">
            <a:avLst>
              <a:gd name="adj" fmla="val 5128"/>
            </a:avLst>
          </a:prstGeom>
          <a:solidFill>
            <a:srgbClr val="1B4332"/>
          </a:solidFill>
          <a:ln/>
          <a:effectLst>
            <a:outerShdw blurRad="127000" dist="38100" dir="5400000" algn="bl" rotWithShape="0">
              <a:srgbClr val="1B4332">
                <a:alpha val="10000"/>
              </a:srgbClr>
            </a:outerShdw>
          </a:effectLst>
        </p:spPr>
      </p:sp>
      <p:sp>
        <p:nvSpPr>
          <p:cNvPr id="16" name="Shape 12"/>
          <p:cNvSpPr/>
          <p:nvPr/>
        </p:nvSpPr>
        <p:spPr>
          <a:xfrm>
            <a:off x="8275320" y="2514600"/>
            <a:ext cx="502920" cy="502920"/>
          </a:xfrm>
          <a:prstGeom prst="ellipse">
            <a:avLst/>
          </a:prstGeom>
          <a:solidFill>
            <a:srgbClr val="FFFFFF">
              <a:alpha val="12000"/>
            </a:srgbClr>
          </a:solidFill>
          <a:ln/>
        </p:spPr>
      </p:sp>
      <p:pic>
        <p:nvPicPr>
          <p:cNvPr id="17" name="Image 2" descr="assets/icons/building_white.png"/>
          <p:cNvPicPr>
            <a:picLocks noChangeAspect="1"/>
          </p:cNvPicPr>
          <p:nvPr/>
        </p:nvPicPr>
        <p:blipFill>
          <a:blip r:embed="rId6"/>
          <a:stretch>
            <a:fillRect/>
          </a:stretch>
        </p:blipFill>
        <p:spPr>
          <a:xfrm>
            <a:off x="8403336" y="2642616"/>
            <a:ext cx="246888" cy="246888"/>
          </a:xfrm>
          <a:prstGeom prst="rect">
            <a:avLst/>
          </a:prstGeom>
        </p:spPr>
      </p:pic>
      <p:sp>
        <p:nvSpPr>
          <p:cNvPr id="18" name="Text 13"/>
          <p:cNvSpPr/>
          <p:nvPr/>
        </p:nvSpPr>
        <p:spPr>
          <a:xfrm>
            <a:off x="8915400" y="2487168"/>
            <a:ext cx="2514600" cy="54864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Government Agencies</a:t>
            </a:r>
            <a:endParaRPr lang="en-US" sz="1200" dirty="0"/>
          </a:p>
        </p:txBody>
      </p:sp>
      <p:sp>
        <p:nvSpPr>
          <p:cNvPr id="19" name="Text 14"/>
          <p:cNvSpPr/>
          <p:nvPr/>
        </p:nvSpPr>
        <p:spPr>
          <a:xfrm>
            <a:off x="8275320" y="3154680"/>
            <a:ext cx="3108960" cy="822960"/>
          </a:xfrm>
          <a:prstGeom prst="rect">
            <a:avLst/>
          </a:prstGeom>
          <a:noFill/>
          <a:ln/>
        </p:spPr>
        <p:txBody>
          <a:bodyPr wrap="square" lIns="0" tIns="0" rIns="0" bIns="0" rtlCol="0" anchor="ctr"/>
          <a:lstStyle/>
          <a:p>
            <a:pPr marL="0" indent="0">
              <a:lnSpc>
                <a:spcPct val="125000"/>
              </a:lnSpc>
              <a:buNone/>
            </a:pPr>
            <a:r>
              <a:rPr lang="en-US" sz="980" dirty="0">
                <a:solidFill>
                  <a:srgbClr val="DCEAE0"/>
                </a:solidFill>
                <a:latin typeface="Calibri" pitchFamily="34" charset="0"/>
                <a:ea typeface="Calibri" pitchFamily="34" charset="-122"/>
                <a:cs typeface="Calibri" pitchFamily="34" charset="-120"/>
              </a:rPr>
              <a:t>Alignment with public health and environmental sustainability goals.</a:t>
            </a:r>
            <a:endParaRPr lang="en-US" sz="980" dirty="0"/>
          </a:p>
        </p:txBody>
      </p:sp>
      <p:sp>
        <p:nvSpPr>
          <p:cNvPr id="20" name="Shape 15"/>
          <p:cNvSpPr/>
          <p:nvPr/>
        </p:nvSpPr>
        <p:spPr>
          <a:xfrm>
            <a:off x="640080" y="4251960"/>
            <a:ext cx="3520440" cy="1783080"/>
          </a:xfrm>
          <a:prstGeom prst="roundRect">
            <a:avLst>
              <a:gd name="adj" fmla="val 5128"/>
            </a:avLst>
          </a:prstGeom>
          <a:solidFill>
            <a:srgbClr val="2D6A4F"/>
          </a:solidFill>
          <a:ln/>
          <a:effectLst>
            <a:outerShdw blurRad="127000" dist="38100" dir="5400000" algn="bl" rotWithShape="0">
              <a:srgbClr val="1B4332">
                <a:alpha val="10000"/>
              </a:srgbClr>
            </a:outerShdw>
          </a:effectLst>
        </p:spPr>
      </p:sp>
      <p:sp>
        <p:nvSpPr>
          <p:cNvPr id="21" name="Shape 16"/>
          <p:cNvSpPr/>
          <p:nvPr/>
        </p:nvSpPr>
        <p:spPr>
          <a:xfrm>
            <a:off x="868680" y="4480560"/>
            <a:ext cx="502920" cy="502920"/>
          </a:xfrm>
          <a:prstGeom prst="ellipse">
            <a:avLst/>
          </a:prstGeom>
          <a:solidFill>
            <a:srgbClr val="FFFFFF">
              <a:alpha val="12000"/>
            </a:srgbClr>
          </a:solidFill>
          <a:ln/>
        </p:spPr>
      </p:sp>
      <p:pic>
        <p:nvPicPr>
          <p:cNvPr id="22" name="Image 3" descr="assets/icons/globe_white.png"/>
          <p:cNvPicPr>
            <a:picLocks noChangeAspect="1"/>
          </p:cNvPicPr>
          <p:nvPr/>
        </p:nvPicPr>
        <p:blipFill>
          <a:blip r:embed="rId7"/>
          <a:stretch>
            <a:fillRect/>
          </a:stretch>
        </p:blipFill>
        <p:spPr>
          <a:xfrm>
            <a:off x="996696" y="4608576"/>
            <a:ext cx="246888" cy="246888"/>
          </a:xfrm>
          <a:prstGeom prst="rect">
            <a:avLst/>
          </a:prstGeom>
        </p:spPr>
      </p:pic>
      <p:sp>
        <p:nvSpPr>
          <p:cNvPr id="23" name="Text 17"/>
          <p:cNvSpPr/>
          <p:nvPr/>
        </p:nvSpPr>
        <p:spPr>
          <a:xfrm>
            <a:off x="1508760" y="4453128"/>
            <a:ext cx="2514600" cy="54864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NGOs &amp; Development Partners</a:t>
            </a:r>
            <a:endParaRPr lang="en-US" sz="1200" dirty="0"/>
          </a:p>
        </p:txBody>
      </p:sp>
      <p:sp>
        <p:nvSpPr>
          <p:cNvPr id="24" name="Text 18"/>
          <p:cNvSpPr/>
          <p:nvPr/>
        </p:nvSpPr>
        <p:spPr>
          <a:xfrm>
            <a:off x="868680" y="5120640"/>
            <a:ext cx="3108960" cy="822960"/>
          </a:xfrm>
          <a:prstGeom prst="rect">
            <a:avLst/>
          </a:prstGeom>
          <a:noFill/>
          <a:ln/>
        </p:spPr>
        <p:txBody>
          <a:bodyPr wrap="square" lIns="0" tIns="0" rIns="0" bIns="0" rtlCol="0" anchor="ctr"/>
          <a:lstStyle/>
          <a:p>
            <a:pPr marL="0" indent="0">
              <a:lnSpc>
                <a:spcPct val="125000"/>
              </a:lnSpc>
              <a:buNone/>
            </a:pPr>
            <a:r>
              <a:rPr lang="en-US" sz="980" dirty="0">
                <a:solidFill>
                  <a:srgbClr val="DCEAE0"/>
                </a:solidFill>
                <a:latin typeface="Calibri" pitchFamily="34" charset="0"/>
                <a:ea typeface="Calibri" pitchFamily="34" charset="-122"/>
                <a:cs typeface="Calibri" pitchFamily="34" charset="-120"/>
              </a:rPr>
              <a:t>Joint community health and environmental impact programmes.</a:t>
            </a:r>
            <a:endParaRPr lang="en-US" sz="980" dirty="0"/>
          </a:p>
        </p:txBody>
      </p:sp>
      <p:sp>
        <p:nvSpPr>
          <p:cNvPr id="25" name="Shape 19"/>
          <p:cNvSpPr/>
          <p:nvPr/>
        </p:nvSpPr>
        <p:spPr>
          <a:xfrm>
            <a:off x="4343400" y="4251960"/>
            <a:ext cx="3520440" cy="1783080"/>
          </a:xfrm>
          <a:prstGeom prst="roundRect">
            <a:avLst>
              <a:gd name="adj" fmla="val 5128"/>
            </a:avLst>
          </a:prstGeom>
          <a:solidFill>
            <a:srgbClr val="2D6A4F"/>
          </a:solidFill>
          <a:ln/>
          <a:effectLst>
            <a:outerShdw blurRad="127000" dist="38100" dir="5400000" algn="bl" rotWithShape="0">
              <a:srgbClr val="1B4332">
                <a:alpha val="10000"/>
              </a:srgbClr>
            </a:outerShdw>
          </a:effectLst>
        </p:spPr>
      </p:sp>
      <p:sp>
        <p:nvSpPr>
          <p:cNvPr id="26" name="Shape 20"/>
          <p:cNvSpPr/>
          <p:nvPr/>
        </p:nvSpPr>
        <p:spPr>
          <a:xfrm>
            <a:off x="4572000" y="4480560"/>
            <a:ext cx="502920" cy="502920"/>
          </a:xfrm>
          <a:prstGeom prst="ellipse">
            <a:avLst/>
          </a:prstGeom>
          <a:solidFill>
            <a:srgbClr val="FFFFFF">
              <a:alpha val="12000"/>
            </a:srgbClr>
          </a:solidFill>
          <a:ln/>
        </p:spPr>
      </p:sp>
      <p:pic>
        <p:nvPicPr>
          <p:cNvPr id="27" name="Image 4" descr="assets/icons/industry_white.png"/>
          <p:cNvPicPr>
            <a:picLocks noChangeAspect="1"/>
          </p:cNvPicPr>
          <p:nvPr/>
        </p:nvPicPr>
        <p:blipFill>
          <a:blip r:embed="rId8"/>
          <a:stretch>
            <a:fillRect/>
          </a:stretch>
        </p:blipFill>
        <p:spPr>
          <a:xfrm>
            <a:off x="4700016" y="4608576"/>
            <a:ext cx="246888" cy="246888"/>
          </a:xfrm>
          <a:prstGeom prst="rect">
            <a:avLst/>
          </a:prstGeom>
        </p:spPr>
      </p:pic>
      <p:sp>
        <p:nvSpPr>
          <p:cNvPr id="28" name="Text 21"/>
          <p:cNvSpPr/>
          <p:nvPr/>
        </p:nvSpPr>
        <p:spPr>
          <a:xfrm>
            <a:off x="5212080" y="4453128"/>
            <a:ext cx="2514600" cy="54864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Retail &amp; Distribution Networks</a:t>
            </a:r>
            <a:endParaRPr lang="en-US" sz="1200" dirty="0"/>
          </a:p>
        </p:txBody>
      </p:sp>
      <p:sp>
        <p:nvSpPr>
          <p:cNvPr id="29" name="Text 22"/>
          <p:cNvSpPr/>
          <p:nvPr/>
        </p:nvSpPr>
        <p:spPr>
          <a:xfrm>
            <a:off x="4572000" y="5120640"/>
            <a:ext cx="3108960" cy="822960"/>
          </a:xfrm>
          <a:prstGeom prst="rect">
            <a:avLst/>
          </a:prstGeom>
          <a:noFill/>
          <a:ln/>
        </p:spPr>
        <p:txBody>
          <a:bodyPr wrap="square" lIns="0" tIns="0" rIns="0" bIns="0" rtlCol="0" anchor="ctr"/>
          <a:lstStyle/>
          <a:p>
            <a:pPr marL="0" indent="0">
              <a:lnSpc>
                <a:spcPct val="125000"/>
              </a:lnSpc>
              <a:buNone/>
            </a:pPr>
            <a:r>
              <a:rPr lang="en-US" sz="980" dirty="0">
                <a:solidFill>
                  <a:srgbClr val="DCEAE0"/>
                </a:solidFill>
                <a:latin typeface="Calibri" pitchFamily="34" charset="0"/>
                <a:ea typeface="Calibri" pitchFamily="34" charset="-122"/>
                <a:cs typeface="Calibri" pitchFamily="34" charset="-120"/>
              </a:rPr>
              <a:t>Expanding nationwide access to EcoNeemTech products.</a:t>
            </a:r>
            <a:endParaRPr lang="en-US" sz="980" dirty="0"/>
          </a:p>
        </p:txBody>
      </p:sp>
      <p:sp>
        <p:nvSpPr>
          <p:cNvPr id="30" name="Shape 23"/>
          <p:cNvSpPr/>
          <p:nvPr/>
        </p:nvSpPr>
        <p:spPr>
          <a:xfrm>
            <a:off x="8046720" y="4251960"/>
            <a:ext cx="3520440" cy="1783080"/>
          </a:xfrm>
          <a:prstGeom prst="roundRect">
            <a:avLst>
              <a:gd name="adj" fmla="val 5128"/>
            </a:avLst>
          </a:prstGeom>
          <a:solidFill>
            <a:srgbClr val="2D6A4F"/>
          </a:solidFill>
          <a:ln/>
          <a:effectLst>
            <a:outerShdw blurRad="127000" dist="38100" dir="5400000" algn="bl" rotWithShape="0">
              <a:srgbClr val="1B4332">
                <a:alpha val="10000"/>
              </a:srgbClr>
            </a:outerShdw>
          </a:effectLst>
        </p:spPr>
      </p:sp>
      <p:sp>
        <p:nvSpPr>
          <p:cNvPr id="31" name="Shape 24"/>
          <p:cNvSpPr/>
          <p:nvPr/>
        </p:nvSpPr>
        <p:spPr>
          <a:xfrm>
            <a:off x="8275320" y="4480560"/>
            <a:ext cx="502920" cy="502920"/>
          </a:xfrm>
          <a:prstGeom prst="ellipse">
            <a:avLst/>
          </a:prstGeom>
          <a:solidFill>
            <a:srgbClr val="FFFFFF">
              <a:alpha val="12000"/>
            </a:srgbClr>
          </a:solidFill>
          <a:ln/>
        </p:spPr>
      </p:sp>
      <p:pic>
        <p:nvPicPr>
          <p:cNvPr id="32" name="Image 5" descr="assets/icons/handshake_white.png"/>
          <p:cNvPicPr>
            <a:picLocks noChangeAspect="1"/>
          </p:cNvPicPr>
          <p:nvPr/>
        </p:nvPicPr>
        <p:blipFill>
          <a:blip r:embed="rId9"/>
          <a:stretch>
            <a:fillRect/>
          </a:stretch>
        </p:blipFill>
        <p:spPr>
          <a:xfrm>
            <a:off x="8403336" y="4608576"/>
            <a:ext cx="246888" cy="246888"/>
          </a:xfrm>
          <a:prstGeom prst="rect">
            <a:avLst/>
          </a:prstGeom>
        </p:spPr>
      </p:pic>
      <p:sp>
        <p:nvSpPr>
          <p:cNvPr id="33" name="Text 25"/>
          <p:cNvSpPr/>
          <p:nvPr/>
        </p:nvSpPr>
        <p:spPr>
          <a:xfrm>
            <a:off x="8915400" y="4453128"/>
            <a:ext cx="2514600" cy="548640"/>
          </a:xfrm>
          <a:prstGeom prst="rect">
            <a:avLst/>
          </a:prstGeom>
          <a:noFill/>
          <a:ln/>
        </p:spPr>
        <p:txBody>
          <a:bodyPr wrap="square" lIns="0" tIns="0" rIns="0" bIns="0" rtlCol="0" anchor="ctr"/>
          <a:lstStyle/>
          <a:p>
            <a:pPr marL="0" indent="0">
              <a:lnSpc>
                <a:spcPct val="100000"/>
              </a:lnSpc>
              <a:buNone/>
            </a:pPr>
            <a:r>
              <a:rPr lang="en-US" sz="1200" b="1" dirty="0">
                <a:solidFill>
                  <a:srgbClr val="FFFFFF"/>
                </a:solidFill>
                <a:latin typeface="Cambria" pitchFamily="34" charset="0"/>
                <a:ea typeface="Cambria" pitchFamily="34" charset="-122"/>
                <a:cs typeface="Cambria" pitchFamily="34" charset="-120"/>
              </a:rPr>
              <a:t>Financial &amp; Investment Partners</a:t>
            </a:r>
            <a:endParaRPr lang="en-US" sz="1200" dirty="0"/>
          </a:p>
        </p:txBody>
      </p:sp>
      <p:sp>
        <p:nvSpPr>
          <p:cNvPr id="34" name="Text 26"/>
          <p:cNvSpPr/>
          <p:nvPr/>
        </p:nvSpPr>
        <p:spPr>
          <a:xfrm>
            <a:off x="8275320" y="5120640"/>
            <a:ext cx="3108960" cy="822960"/>
          </a:xfrm>
          <a:prstGeom prst="rect">
            <a:avLst/>
          </a:prstGeom>
          <a:noFill/>
          <a:ln/>
        </p:spPr>
        <p:txBody>
          <a:bodyPr wrap="square" lIns="0" tIns="0" rIns="0" bIns="0" rtlCol="0" anchor="ctr"/>
          <a:lstStyle/>
          <a:p>
            <a:pPr marL="0" indent="0">
              <a:lnSpc>
                <a:spcPct val="125000"/>
              </a:lnSpc>
              <a:buNone/>
            </a:pPr>
            <a:r>
              <a:rPr lang="en-US" sz="980" dirty="0">
                <a:solidFill>
                  <a:srgbClr val="DCEAE0"/>
                </a:solidFill>
                <a:latin typeface="Calibri" pitchFamily="34" charset="0"/>
                <a:ea typeface="Calibri" pitchFamily="34" charset="-122"/>
                <a:cs typeface="Calibri" pitchFamily="34" charset="-120"/>
              </a:rPr>
              <a:t>Capital partners supporting scale-up and continued innovation.</a:t>
            </a:r>
            <a:endParaRPr lang="en-US" sz="980" dirty="0"/>
          </a:p>
        </p:txBody>
      </p:sp>
      <p:sp>
        <p:nvSpPr>
          <p:cNvPr id="35" name="Text 27"/>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36" name="Text 28"/>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FUTURE GROWTH PLANS</a:t>
            </a:r>
            <a:endParaRPr lang="en-US" sz="1250" dirty="0"/>
          </a:p>
        </p:txBody>
      </p:sp>
      <p:sp>
        <p:nvSpPr>
          <p:cNvPr id="3" name="Text 1"/>
          <p:cNvSpPr/>
          <p:nvPr/>
        </p:nvSpPr>
        <p:spPr>
          <a:xfrm>
            <a:off x="640080" y="804672"/>
            <a:ext cx="8686800" cy="685800"/>
          </a:xfrm>
          <a:prstGeom prst="rect">
            <a:avLst/>
          </a:prstGeom>
          <a:noFill/>
          <a:ln/>
        </p:spPr>
        <p:txBody>
          <a:bodyPr wrap="square" lIns="0" tIns="0" rIns="0" bIns="0" rtlCol="0" anchor="ctr"/>
          <a:lstStyle/>
          <a:p>
            <a:pPr marL="0" indent="0">
              <a:buNone/>
            </a:pPr>
            <a:r>
              <a:rPr lang="en-US" sz="3200" b="1" dirty="0">
                <a:solidFill>
                  <a:srgbClr val="1A2B22"/>
                </a:solidFill>
                <a:latin typeface="Cambria" pitchFamily="34" charset="0"/>
                <a:ea typeface="Cambria" pitchFamily="34" charset="-122"/>
                <a:cs typeface="Cambria" pitchFamily="34" charset="-120"/>
              </a:rPr>
              <a:t>Our Roadmap Ahead</a:t>
            </a:r>
            <a:endParaRPr lang="en-US" sz="3200" dirty="0"/>
          </a:p>
        </p:txBody>
      </p:sp>
      <p:sp>
        <p:nvSpPr>
          <p:cNvPr id="4" name="Shape 2"/>
          <p:cNvSpPr/>
          <p:nvPr/>
        </p:nvSpPr>
        <p:spPr>
          <a:xfrm>
            <a:off x="1920240" y="2971800"/>
            <a:ext cx="8366760" cy="0"/>
          </a:xfrm>
          <a:prstGeom prst="line">
            <a:avLst/>
          </a:prstGeom>
          <a:noFill/>
          <a:ln w="25400">
            <a:solidFill>
              <a:srgbClr val="E3E6E0"/>
            </a:solidFill>
            <a:prstDash val="solid"/>
          </a:ln>
        </p:spPr>
      </p:sp>
      <p:sp>
        <p:nvSpPr>
          <p:cNvPr id="5" name="Shape 3"/>
          <p:cNvSpPr/>
          <p:nvPr/>
        </p:nvSpPr>
        <p:spPr>
          <a:xfrm>
            <a:off x="1801368" y="2852928"/>
            <a:ext cx="237744" cy="237744"/>
          </a:xfrm>
          <a:prstGeom prst="ellipse">
            <a:avLst/>
          </a:prstGeom>
          <a:solidFill>
            <a:srgbClr val="1B4332"/>
          </a:solidFill>
          <a:ln w="25400">
            <a:solidFill>
              <a:srgbClr val="FFFFFF"/>
            </a:solidFill>
            <a:prstDash val="solid"/>
          </a:ln>
        </p:spPr>
      </p:sp>
      <p:sp>
        <p:nvSpPr>
          <p:cNvPr id="6" name="Shape 4"/>
          <p:cNvSpPr/>
          <p:nvPr/>
        </p:nvSpPr>
        <p:spPr>
          <a:xfrm>
            <a:off x="685800" y="1554480"/>
            <a:ext cx="2468880" cy="1143000"/>
          </a:xfrm>
          <a:prstGeom prst="roundRect">
            <a:avLst>
              <a:gd name="adj" fmla="val 640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7" name="Text 5"/>
          <p:cNvSpPr/>
          <p:nvPr/>
        </p:nvSpPr>
        <p:spPr>
          <a:xfrm>
            <a:off x="822960" y="1673352"/>
            <a:ext cx="2194560" cy="365760"/>
          </a:xfrm>
          <a:prstGeom prst="rect">
            <a:avLst/>
          </a:prstGeom>
          <a:noFill/>
          <a:ln/>
        </p:spPr>
        <p:txBody>
          <a:bodyPr wrap="square" lIns="0" tIns="0" rIns="0" bIns="0" rtlCol="0" anchor="ctr"/>
          <a:lstStyle/>
          <a:p>
            <a:pPr marL="0" indent="0">
              <a:buNone/>
            </a:pPr>
            <a:r>
              <a:rPr lang="en-US" sz="1800" b="1" dirty="0">
                <a:solidFill>
                  <a:srgbClr val="2D6A4F"/>
                </a:solidFill>
                <a:latin typeface="Cambria" pitchFamily="34" charset="0"/>
                <a:ea typeface="Cambria" pitchFamily="34" charset="-122"/>
                <a:cs typeface="Cambria" pitchFamily="34" charset="-120"/>
              </a:rPr>
              <a:t>2026</a:t>
            </a:r>
            <a:endParaRPr lang="en-US" sz="1800" dirty="0"/>
          </a:p>
        </p:txBody>
      </p:sp>
      <p:sp>
        <p:nvSpPr>
          <p:cNvPr id="8" name="Text 6"/>
          <p:cNvSpPr/>
          <p:nvPr/>
        </p:nvSpPr>
        <p:spPr>
          <a:xfrm>
            <a:off x="822960" y="2103120"/>
            <a:ext cx="2194560" cy="594360"/>
          </a:xfrm>
          <a:prstGeom prst="rect">
            <a:avLst/>
          </a:prstGeom>
          <a:noFill/>
          <a:ln/>
        </p:spPr>
        <p:txBody>
          <a:bodyPr wrap="square" lIns="0" tIns="0" rIns="0" bIns="0" rtlCol="0" anchor="ctr"/>
          <a:lstStyle/>
          <a:p>
            <a:pPr marL="0" indent="0">
              <a:lnSpc>
                <a:spcPct val="110000"/>
              </a:lnSpc>
              <a:buNone/>
            </a:pPr>
            <a:r>
              <a:rPr lang="en-US" sz="980" b="1" dirty="0">
                <a:solidFill>
                  <a:srgbClr val="1A2B22"/>
                </a:solidFill>
                <a:latin typeface="Calibri" pitchFamily="34" charset="0"/>
                <a:ea typeface="Calibri" pitchFamily="34" charset="-122"/>
                <a:cs typeface="Calibri" pitchFamily="34" charset="-120"/>
              </a:rPr>
              <a:t>Foundation &amp; Market Entry</a:t>
            </a:r>
            <a:endParaRPr lang="en-US" sz="980" dirty="0"/>
          </a:p>
        </p:txBody>
      </p:sp>
      <p:sp>
        <p:nvSpPr>
          <p:cNvPr id="9" name="Shape 7"/>
          <p:cNvSpPr/>
          <p:nvPr/>
        </p:nvSpPr>
        <p:spPr>
          <a:xfrm>
            <a:off x="685800" y="3264408"/>
            <a:ext cx="2468880" cy="1691640"/>
          </a:xfrm>
          <a:prstGeom prst="roundRect">
            <a:avLst>
              <a:gd name="adj" fmla="val 4324"/>
            </a:avLst>
          </a:prstGeom>
          <a:solidFill>
            <a:srgbClr val="FFFFFF"/>
          </a:solidFill>
          <a:ln w="9525">
            <a:solidFill>
              <a:srgbClr val="E3E6E0"/>
            </a:solidFill>
            <a:prstDash val="solid"/>
          </a:ln>
        </p:spPr>
      </p:sp>
      <p:sp>
        <p:nvSpPr>
          <p:cNvPr id="10" name="Text 8"/>
          <p:cNvSpPr/>
          <p:nvPr/>
        </p:nvSpPr>
        <p:spPr>
          <a:xfrm>
            <a:off x="822960" y="3383280"/>
            <a:ext cx="2194560" cy="1463040"/>
          </a:xfrm>
          <a:prstGeom prst="rect">
            <a:avLst/>
          </a:prstGeom>
          <a:noFill/>
          <a:ln/>
        </p:spPr>
        <p:txBody>
          <a:bodyPr wrap="square" lIns="0" tIns="0" rIns="0" bIns="0" rtlCol="0" anchor="ctr"/>
          <a:lstStyle/>
          <a:p>
            <a:pPr marL="0" indent="0">
              <a:lnSpc>
                <a:spcPct val="125000"/>
              </a:lnSpc>
              <a:buNone/>
            </a:pPr>
            <a:r>
              <a:rPr lang="en-US" sz="930" dirty="0">
                <a:solidFill>
                  <a:srgbClr val="3F4A42"/>
                </a:solidFill>
                <a:latin typeface="Calibri" pitchFamily="34" charset="0"/>
                <a:ea typeface="Calibri" pitchFamily="34" charset="-122"/>
                <a:cs typeface="Calibri" pitchFamily="34" charset="-120"/>
              </a:rPr>
              <a:t>Establish production capacity, finalise core product line, and enter retail channels across Abuja and the FCT.</a:t>
            </a:r>
            <a:endParaRPr lang="en-US" sz="930" dirty="0"/>
          </a:p>
        </p:txBody>
      </p:sp>
      <p:sp>
        <p:nvSpPr>
          <p:cNvPr id="11" name="Shape 9"/>
          <p:cNvSpPr/>
          <p:nvPr/>
        </p:nvSpPr>
        <p:spPr>
          <a:xfrm>
            <a:off x="4590288" y="2852928"/>
            <a:ext cx="237744" cy="237744"/>
          </a:xfrm>
          <a:prstGeom prst="ellipse">
            <a:avLst/>
          </a:prstGeom>
          <a:solidFill>
            <a:srgbClr val="1B4332"/>
          </a:solidFill>
          <a:ln w="25400">
            <a:solidFill>
              <a:srgbClr val="FFFFFF"/>
            </a:solidFill>
            <a:prstDash val="solid"/>
          </a:ln>
        </p:spPr>
      </p:sp>
      <p:sp>
        <p:nvSpPr>
          <p:cNvPr id="12" name="Shape 10"/>
          <p:cNvSpPr/>
          <p:nvPr/>
        </p:nvSpPr>
        <p:spPr>
          <a:xfrm>
            <a:off x="3474720" y="1554480"/>
            <a:ext cx="2468880" cy="1143000"/>
          </a:xfrm>
          <a:prstGeom prst="roundRect">
            <a:avLst>
              <a:gd name="adj" fmla="val 640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13" name="Text 11"/>
          <p:cNvSpPr/>
          <p:nvPr/>
        </p:nvSpPr>
        <p:spPr>
          <a:xfrm>
            <a:off x="3611880" y="1673352"/>
            <a:ext cx="2194560" cy="365760"/>
          </a:xfrm>
          <a:prstGeom prst="rect">
            <a:avLst/>
          </a:prstGeom>
          <a:noFill/>
          <a:ln/>
        </p:spPr>
        <p:txBody>
          <a:bodyPr wrap="square" lIns="0" tIns="0" rIns="0" bIns="0" rtlCol="0" anchor="ctr"/>
          <a:lstStyle/>
          <a:p>
            <a:pPr marL="0" indent="0">
              <a:buNone/>
            </a:pPr>
            <a:r>
              <a:rPr lang="en-US" sz="1800" b="1" dirty="0">
                <a:solidFill>
                  <a:srgbClr val="2D6A4F"/>
                </a:solidFill>
                <a:latin typeface="Cambria" pitchFamily="34" charset="0"/>
                <a:ea typeface="Cambria" pitchFamily="34" charset="-122"/>
                <a:cs typeface="Cambria" pitchFamily="34" charset="-120"/>
              </a:rPr>
              <a:t>2027</a:t>
            </a:r>
            <a:endParaRPr lang="en-US" sz="1800" dirty="0"/>
          </a:p>
        </p:txBody>
      </p:sp>
      <p:sp>
        <p:nvSpPr>
          <p:cNvPr id="14" name="Text 12"/>
          <p:cNvSpPr/>
          <p:nvPr/>
        </p:nvSpPr>
        <p:spPr>
          <a:xfrm>
            <a:off x="3611880" y="2103120"/>
            <a:ext cx="2194560" cy="594360"/>
          </a:xfrm>
          <a:prstGeom prst="rect">
            <a:avLst/>
          </a:prstGeom>
          <a:noFill/>
          <a:ln/>
        </p:spPr>
        <p:txBody>
          <a:bodyPr wrap="square" lIns="0" tIns="0" rIns="0" bIns="0" rtlCol="0" anchor="ctr"/>
          <a:lstStyle/>
          <a:p>
            <a:pPr marL="0" indent="0">
              <a:lnSpc>
                <a:spcPct val="110000"/>
              </a:lnSpc>
              <a:buNone/>
            </a:pPr>
            <a:r>
              <a:rPr lang="en-US" sz="980" b="1" dirty="0">
                <a:solidFill>
                  <a:srgbClr val="1A2B22"/>
                </a:solidFill>
                <a:latin typeface="Calibri" pitchFamily="34" charset="0"/>
                <a:ea typeface="Calibri" pitchFamily="34" charset="-122"/>
                <a:cs typeface="Calibri" pitchFamily="34" charset="-120"/>
              </a:rPr>
              <a:t>Regional Expansion</a:t>
            </a:r>
            <a:endParaRPr lang="en-US" sz="980" dirty="0"/>
          </a:p>
        </p:txBody>
      </p:sp>
      <p:sp>
        <p:nvSpPr>
          <p:cNvPr id="15" name="Shape 13"/>
          <p:cNvSpPr/>
          <p:nvPr/>
        </p:nvSpPr>
        <p:spPr>
          <a:xfrm>
            <a:off x="3474720" y="3264408"/>
            <a:ext cx="2468880" cy="1691640"/>
          </a:xfrm>
          <a:prstGeom prst="roundRect">
            <a:avLst>
              <a:gd name="adj" fmla="val 4324"/>
            </a:avLst>
          </a:prstGeom>
          <a:solidFill>
            <a:srgbClr val="FFFFFF"/>
          </a:solidFill>
          <a:ln w="9525">
            <a:solidFill>
              <a:srgbClr val="E3E6E0"/>
            </a:solidFill>
            <a:prstDash val="solid"/>
          </a:ln>
        </p:spPr>
      </p:sp>
      <p:sp>
        <p:nvSpPr>
          <p:cNvPr id="16" name="Text 14"/>
          <p:cNvSpPr/>
          <p:nvPr/>
        </p:nvSpPr>
        <p:spPr>
          <a:xfrm>
            <a:off x="3611880" y="3383280"/>
            <a:ext cx="2194560" cy="1463040"/>
          </a:xfrm>
          <a:prstGeom prst="rect">
            <a:avLst/>
          </a:prstGeom>
          <a:noFill/>
          <a:ln/>
        </p:spPr>
        <p:txBody>
          <a:bodyPr wrap="square" lIns="0" tIns="0" rIns="0" bIns="0" rtlCol="0" anchor="ctr"/>
          <a:lstStyle/>
          <a:p>
            <a:pPr marL="0" indent="0">
              <a:lnSpc>
                <a:spcPct val="125000"/>
              </a:lnSpc>
              <a:buNone/>
            </a:pPr>
            <a:r>
              <a:rPr lang="en-US" sz="930" dirty="0">
                <a:solidFill>
                  <a:srgbClr val="3F4A42"/>
                </a:solidFill>
                <a:latin typeface="Calibri" pitchFamily="34" charset="0"/>
                <a:ea typeface="Calibri" pitchFamily="34" charset="-122"/>
                <a:cs typeface="Calibri" pitchFamily="34" charset="-120"/>
              </a:rPr>
              <a:t>Scale distribution into key Nigerian states; deepen institutional and NGO partnerships.</a:t>
            </a:r>
            <a:endParaRPr lang="en-US" sz="930" dirty="0"/>
          </a:p>
        </p:txBody>
      </p:sp>
      <p:sp>
        <p:nvSpPr>
          <p:cNvPr id="17" name="Shape 15"/>
          <p:cNvSpPr/>
          <p:nvPr/>
        </p:nvSpPr>
        <p:spPr>
          <a:xfrm>
            <a:off x="7379208" y="2852928"/>
            <a:ext cx="237744" cy="237744"/>
          </a:xfrm>
          <a:prstGeom prst="ellipse">
            <a:avLst/>
          </a:prstGeom>
          <a:solidFill>
            <a:srgbClr val="1B4332"/>
          </a:solidFill>
          <a:ln w="25400">
            <a:solidFill>
              <a:srgbClr val="FFFFFF"/>
            </a:solidFill>
            <a:prstDash val="solid"/>
          </a:ln>
        </p:spPr>
      </p:sp>
      <p:sp>
        <p:nvSpPr>
          <p:cNvPr id="18" name="Shape 16"/>
          <p:cNvSpPr/>
          <p:nvPr/>
        </p:nvSpPr>
        <p:spPr>
          <a:xfrm>
            <a:off x="6263640" y="1554480"/>
            <a:ext cx="2468880" cy="1143000"/>
          </a:xfrm>
          <a:prstGeom prst="roundRect">
            <a:avLst>
              <a:gd name="adj" fmla="val 640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19" name="Text 17"/>
          <p:cNvSpPr/>
          <p:nvPr/>
        </p:nvSpPr>
        <p:spPr>
          <a:xfrm>
            <a:off x="6400800" y="1673352"/>
            <a:ext cx="2194560" cy="365760"/>
          </a:xfrm>
          <a:prstGeom prst="rect">
            <a:avLst/>
          </a:prstGeom>
          <a:noFill/>
          <a:ln/>
        </p:spPr>
        <p:txBody>
          <a:bodyPr wrap="square" lIns="0" tIns="0" rIns="0" bIns="0" rtlCol="0" anchor="ctr"/>
          <a:lstStyle/>
          <a:p>
            <a:pPr marL="0" indent="0">
              <a:buNone/>
            </a:pPr>
            <a:r>
              <a:rPr lang="en-US" sz="1800" b="1" dirty="0">
                <a:solidFill>
                  <a:srgbClr val="2D6A4F"/>
                </a:solidFill>
                <a:latin typeface="Cambria" pitchFamily="34" charset="0"/>
                <a:ea typeface="Cambria" pitchFamily="34" charset="-122"/>
                <a:cs typeface="Cambria" pitchFamily="34" charset="-120"/>
              </a:rPr>
              <a:t>2028</a:t>
            </a:r>
            <a:endParaRPr lang="en-US" sz="1800" dirty="0"/>
          </a:p>
        </p:txBody>
      </p:sp>
      <p:sp>
        <p:nvSpPr>
          <p:cNvPr id="20" name="Text 18"/>
          <p:cNvSpPr/>
          <p:nvPr/>
        </p:nvSpPr>
        <p:spPr>
          <a:xfrm>
            <a:off x="6400800" y="2103120"/>
            <a:ext cx="2194560" cy="594360"/>
          </a:xfrm>
          <a:prstGeom prst="rect">
            <a:avLst/>
          </a:prstGeom>
          <a:noFill/>
          <a:ln/>
        </p:spPr>
        <p:txBody>
          <a:bodyPr wrap="square" lIns="0" tIns="0" rIns="0" bIns="0" rtlCol="0" anchor="ctr"/>
          <a:lstStyle/>
          <a:p>
            <a:pPr marL="0" indent="0">
              <a:lnSpc>
                <a:spcPct val="110000"/>
              </a:lnSpc>
              <a:buNone/>
            </a:pPr>
            <a:r>
              <a:rPr lang="en-US" sz="980" b="1" dirty="0">
                <a:solidFill>
                  <a:srgbClr val="1A2B22"/>
                </a:solidFill>
                <a:latin typeface="Calibri" pitchFamily="34" charset="0"/>
                <a:ea typeface="Calibri" pitchFamily="34" charset="-122"/>
                <a:cs typeface="Calibri" pitchFamily="34" charset="-120"/>
              </a:rPr>
              <a:t>Product Diversification</a:t>
            </a:r>
            <a:endParaRPr lang="en-US" sz="980" dirty="0"/>
          </a:p>
        </p:txBody>
      </p:sp>
      <p:sp>
        <p:nvSpPr>
          <p:cNvPr id="21" name="Shape 19"/>
          <p:cNvSpPr/>
          <p:nvPr/>
        </p:nvSpPr>
        <p:spPr>
          <a:xfrm>
            <a:off x="6263640" y="3264408"/>
            <a:ext cx="2468880" cy="1691640"/>
          </a:xfrm>
          <a:prstGeom prst="roundRect">
            <a:avLst>
              <a:gd name="adj" fmla="val 4324"/>
            </a:avLst>
          </a:prstGeom>
          <a:solidFill>
            <a:srgbClr val="FFFFFF"/>
          </a:solidFill>
          <a:ln w="9525">
            <a:solidFill>
              <a:srgbClr val="E3E6E0"/>
            </a:solidFill>
            <a:prstDash val="solid"/>
          </a:ln>
        </p:spPr>
      </p:sp>
      <p:sp>
        <p:nvSpPr>
          <p:cNvPr id="22" name="Text 20"/>
          <p:cNvSpPr/>
          <p:nvPr/>
        </p:nvSpPr>
        <p:spPr>
          <a:xfrm>
            <a:off x="6400800" y="3383280"/>
            <a:ext cx="2194560" cy="1463040"/>
          </a:xfrm>
          <a:prstGeom prst="rect">
            <a:avLst/>
          </a:prstGeom>
          <a:noFill/>
          <a:ln/>
        </p:spPr>
        <p:txBody>
          <a:bodyPr wrap="square" lIns="0" tIns="0" rIns="0" bIns="0" rtlCol="0" anchor="ctr"/>
          <a:lstStyle/>
          <a:p>
            <a:pPr marL="0" indent="0">
              <a:lnSpc>
                <a:spcPct val="125000"/>
              </a:lnSpc>
              <a:buNone/>
            </a:pPr>
            <a:r>
              <a:rPr lang="en-US" sz="930" dirty="0">
                <a:solidFill>
                  <a:srgbClr val="3F4A42"/>
                </a:solidFill>
                <a:latin typeface="Calibri" pitchFamily="34" charset="0"/>
                <a:ea typeface="Calibri" pitchFamily="34" charset="-122"/>
                <a:cs typeface="Calibri" pitchFamily="34" charset="-120"/>
              </a:rPr>
              <a:t>Expand the Neem-based portfolio into new health, home, and environmental categories.</a:t>
            </a:r>
            <a:endParaRPr lang="en-US" sz="930" dirty="0"/>
          </a:p>
        </p:txBody>
      </p:sp>
      <p:sp>
        <p:nvSpPr>
          <p:cNvPr id="23" name="Shape 21"/>
          <p:cNvSpPr/>
          <p:nvPr/>
        </p:nvSpPr>
        <p:spPr>
          <a:xfrm>
            <a:off x="10168128" y="2852928"/>
            <a:ext cx="237744" cy="237744"/>
          </a:xfrm>
          <a:prstGeom prst="ellipse">
            <a:avLst/>
          </a:prstGeom>
          <a:solidFill>
            <a:srgbClr val="1B4332"/>
          </a:solidFill>
          <a:ln w="25400">
            <a:solidFill>
              <a:srgbClr val="FFFFFF"/>
            </a:solidFill>
            <a:prstDash val="solid"/>
          </a:ln>
        </p:spPr>
      </p:sp>
      <p:sp>
        <p:nvSpPr>
          <p:cNvPr id="24" name="Shape 22"/>
          <p:cNvSpPr/>
          <p:nvPr/>
        </p:nvSpPr>
        <p:spPr>
          <a:xfrm>
            <a:off x="9052560" y="1554480"/>
            <a:ext cx="2468880" cy="1143000"/>
          </a:xfrm>
          <a:prstGeom prst="roundRect">
            <a:avLst>
              <a:gd name="adj" fmla="val 6400"/>
            </a:avLst>
          </a:prstGeom>
          <a:solidFill>
            <a:srgbClr val="FAF9F6"/>
          </a:solidFill>
          <a:ln w="9525">
            <a:solidFill>
              <a:srgbClr val="E3E6E0"/>
            </a:solidFill>
            <a:prstDash val="solid"/>
          </a:ln>
          <a:effectLst>
            <a:outerShdw blurRad="127000" dist="38100" dir="5400000" algn="bl" rotWithShape="0">
              <a:srgbClr val="1B4332">
                <a:alpha val="10000"/>
              </a:srgbClr>
            </a:outerShdw>
          </a:effectLst>
        </p:spPr>
      </p:sp>
      <p:sp>
        <p:nvSpPr>
          <p:cNvPr id="25" name="Text 23"/>
          <p:cNvSpPr/>
          <p:nvPr/>
        </p:nvSpPr>
        <p:spPr>
          <a:xfrm>
            <a:off x="9189720" y="1673352"/>
            <a:ext cx="2194560" cy="365760"/>
          </a:xfrm>
          <a:prstGeom prst="rect">
            <a:avLst/>
          </a:prstGeom>
          <a:noFill/>
          <a:ln/>
        </p:spPr>
        <p:txBody>
          <a:bodyPr wrap="square" lIns="0" tIns="0" rIns="0" bIns="0" rtlCol="0" anchor="ctr"/>
          <a:lstStyle/>
          <a:p>
            <a:pPr marL="0" indent="0">
              <a:buNone/>
            </a:pPr>
            <a:r>
              <a:rPr lang="en-US" sz="1800" b="1" dirty="0">
                <a:solidFill>
                  <a:srgbClr val="2D6A4F"/>
                </a:solidFill>
                <a:latin typeface="Cambria" pitchFamily="34" charset="0"/>
                <a:ea typeface="Cambria" pitchFamily="34" charset="-122"/>
                <a:cs typeface="Cambria" pitchFamily="34" charset="-120"/>
              </a:rPr>
              <a:t>2029+</a:t>
            </a:r>
            <a:endParaRPr lang="en-US" sz="1800" dirty="0"/>
          </a:p>
        </p:txBody>
      </p:sp>
      <p:sp>
        <p:nvSpPr>
          <p:cNvPr id="26" name="Text 24"/>
          <p:cNvSpPr/>
          <p:nvPr/>
        </p:nvSpPr>
        <p:spPr>
          <a:xfrm>
            <a:off x="9189720" y="2103120"/>
            <a:ext cx="2194560" cy="594360"/>
          </a:xfrm>
          <a:prstGeom prst="rect">
            <a:avLst/>
          </a:prstGeom>
          <a:noFill/>
          <a:ln/>
        </p:spPr>
        <p:txBody>
          <a:bodyPr wrap="square" lIns="0" tIns="0" rIns="0" bIns="0" rtlCol="0" anchor="ctr"/>
          <a:lstStyle/>
          <a:p>
            <a:pPr marL="0" indent="0">
              <a:lnSpc>
                <a:spcPct val="110000"/>
              </a:lnSpc>
              <a:buNone/>
            </a:pPr>
            <a:r>
              <a:rPr lang="en-US" sz="980" b="1" dirty="0">
                <a:solidFill>
                  <a:srgbClr val="1A2B22"/>
                </a:solidFill>
                <a:latin typeface="Calibri" pitchFamily="34" charset="0"/>
                <a:ea typeface="Calibri" pitchFamily="34" charset="-122"/>
                <a:cs typeface="Calibri" pitchFamily="34" charset="-120"/>
              </a:rPr>
              <a:t>National &amp; Regional Scale</a:t>
            </a:r>
            <a:endParaRPr lang="en-US" sz="980" dirty="0"/>
          </a:p>
        </p:txBody>
      </p:sp>
      <p:sp>
        <p:nvSpPr>
          <p:cNvPr id="27" name="Shape 25"/>
          <p:cNvSpPr/>
          <p:nvPr/>
        </p:nvSpPr>
        <p:spPr>
          <a:xfrm>
            <a:off x="9052560" y="3264408"/>
            <a:ext cx="2468880" cy="1691640"/>
          </a:xfrm>
          <a:prstGeom prst="roundRect">
            <a:avLst>
              <a:gd name="adj" fmla="val 4324"/>
            </a:avLst>
          </a:prstGeom>
          <a:solidFill>
            <a:srgbClr val="FFFFFF"/>
          </a:solidFill>
          <a:ln w="9525">
            <a:solidFill>
              <a:srgbClr val="E3E6E0"/>
            </a:solidFill>
            <a:prstDash val="solid"/>
          </a:ln>
        </p:spPr>
      </p:sp>
      <p:sp>
        <p:nvSpPr>
          <p:cNvPr id="28" name="Text 26"/>
          <p:cNvSpPr/>
          <p:nvPr/>
        </p:nvSpPr>
        <p:spPr>
          <a:xfrm>
            <a:off x="9189720" y="3383280"/>
            <a:ext cx="2194560" cy="1463040"/>
          </a:xfrm>
          <a:prstGeom prst="rect">
            <a:avLst/>
          </a:prstGeom>
          <a:noFill/>
          <a:ln/>
        </p:spPr>
        <p:txBody>
          <a:bodyPr wrap="square" lIns="0" tIns="0" rIns="0" bIns="0" rtlCol="0" anchor="ctr"/>
          <a:lstStyle/>
          <a:p>
            <a:pPr marL="0" indent="0">
              <a:lnSpc>
                <a:spcPct val="125000"/>
              </a:lnSpc>
              <a:buNone/>
            </a:pPr>
            <a:r>
              <a:rPr lang="en-US" sz="930" dirty="0">
                <a:solidFill>
                  <a:srgbClr val="3F4A42"/>
                </a:solidFill>
                <a:latin typeface="Calibri" pitchFamily="34" charset="0"/>
                <a:ea typeface="Calibri" pitchFamily="34" charset="-122"/>
                <a:cs typeface="Calibri" pitchFamily="34" charset="-120"/>
              </a:rPr>
              <a:t>Pursue national distribution coverage and explore opportunities across West Africa.</a:t>
            </a:r>
            <a:endParaRPr lang="en-US" sz="930" dirty="0"/>
          </a:p>
        </p:txBody>
      </p:sp>
      <p:sp>
        <p:nvSpPr>
          <p:cNvPr id="29" name="Text 27"/>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30" name="Text 28"/>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bg/leaf_silhouette_white.png"/>
          <p:cNvPicPr>
            <a:picLocks noChangeAspect="1"/>
          </p:cNvPicPr>
          <p:nvPr/>
        </p:nvPicPr>
        <p:blipFill>
          <a:blip r:embed="rId4">
            <a:alphaModFix amt="10000"/>
          </a:blip>
          <a:stretch>
            <a:fillRect/>
          </a:stretch>
        </p:blipFill>
        <p:spPr>
          <a:xfrm rot="480000">
            <a:off x="9784080" y="3657600"/>
            <a:ext cx="2560320" cy="3657600"/>
          </a:xfrm>
          <a:prstGeom prst="rect">
            <a:avLst/>
          </a:prstGeom>
        </p:spPr>
      </p:pic>
      <p:sp>
        <p:nvSpPr>
          <p:cNvPr id="3"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95D5B2"/>
                </a:solidFill>
                <a:latin typeface="Calibri" pitchFamily="34" charset="0"/>
                <a:ea typeface="Calibri" pitchFamily="34" charset="-122"/>
                <a:cs typeface="Calibri" pitchFamily="34" charset="-120"/>
              </a:rPr>
              <a:t>WHY CHOOSE US</a:t>
            </a:r>
            <a:endParaRPr lang="en-US" sz="1250" dirty="0"/>
          </a:p>
        </p:txBody>
      </p:sp>
      <p:sp>
        <p:nvSpPr>
          <p:cNvPr id="4" name="Text 1"/>
          <p:cNvSpPr/>
          <p:nvPr/>
        </p:nvSpPr>
        <p:spPr>
          <a:xfrm>
            <a:off x="640080" y="804672"/>
            <a:ext cx="10515600" cy="6858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Six Reasons to Partner With EcoNeemTech</a:t>
            </a:r>
            <a:endParaRPr lang="en-US" sz="2700" dirty="0"/>
          </a:p>
        </p:txBody>
      </p:sp>
      <p:sp>
        <p:nvSpPr>
          <p:cNvPr id="5" name="Shape 2"/>
          <p:cNvSpPr/>
          <p:nvPr/>
        </p:nvSpPr>
        <p:spPr>
          <a:xfrm>
            <a:off x="640080" y="1783080"/>
            <a:ext cx="384048" cy="384048"/>
          </a:xfrm>
          <a:prstGeom prst="ellipse">
            <a:avLst/>
          </a:prstGeom>
          <a:solidFill>
            <a:srgbClr val="95D5B2"/>
          </a:solidFill>
          <a:ln/>
        </p:spPr>
      </p:sp>
      <p:sp>
        <p:nvSpPr>
          <p:cNvPr id="6" name="Text 3"/>
          <p:cNvSpPr/>
          <p:nvPr/>
        </p:nvSpPr>
        <p:spPr>
          <a:xfrm>
            <a:off x="640080" y="1783080"/>
            <a:ext cx="384048" cy="384048"/>
          </a:xfrm>
          <a:prstGeom prst="rect">
            <a:avLst/>
          </a:prstGeom>
          <a:noFill/>
          <a:ln/>
        </p:spPr>
        <p:txBody>
          <a:bodyPr wrap="square" lIns="0" tIns="0" rIns="0" bIns="0" rtlCol="0" anchor="ctr"/>
          <a:lstStyle/>
          <a:p>
            <a:pPr marL="0" indent="0" algn="ctr">
              <a:buNone/>
            </a:pPr>
            <a:r>
              <a:rPr lang="en-US" sz="1400" b="1" dirty="0">
                <a:solidFill>
                  <a:srgbClr val="1B4332"/>
                </a:solidFill>
                <a:latin typeface="Cambria" pitchFamily="34" charset="0"/>
                <a:ea typeface="Cambria" pitchFamily="34" charset="-122"/>
                <a:cs typeface="Cambria" pitchFamily="34" charset="-120"/>
              </a:rPr>
              <a:t>1</a:t>
            </a:r>
            <a:endParaRPr lang="en-US" sz="1400" dirty="0"/>
          </a:p>
        </p:txBody>
      </p:sp>
      <p:sp>
        <p:nvSpPr>
          <p:cNvPr id="7" name="Text 4"/>
          <p:cNvSpPr/>
          <p:nvPr/>
        </p:nvSpPr>
        <p:spPr>
          <a:xfrm>
            <a:off x="1170432" y="1709928"/>
            <a:ext cx="4846320" cy="1097280"/>
          </a:xfrm>
          <a:prstGeom prst="rect">
            <a:avLst/>
          </a:prstGeom>
          <a:noFill/>
          <a:ln/>
        </p:spPr>
        <p:txBody>
          <a:bodyPr wrap="square" lIns="0" tIns="0" rIns="0" bIns="0"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Naturally derived formulations backed by traditional knowledge and modern science</a:t>
            </a:r>
            <a:endParaRPr lang="en-US" sz="1250" dirty="0"/>
          </a:p>
        </p:txBody>
      </p:sp>
      <p:sp>
        <p:nvSpPr>
          <p:cNvPr id="8" name="Shape 5"/>
          <p:cNvSpPr/>
          <p:nvPr/>
        </p:nvSpPr>
        <p:spPr>
          <a:xfrm>
            <a:off x="6172200" y="1783080"/>
            <a:ext cx="384048" cy="384048"/>
          </a:xfrm>
          <a:prstGeom prst="ellipse">
            <a:avLst/>
          </a:prstGeom>
          <a:solidFill>
            <a:srgbClr val="95D5B2"/>
          </a:solidFill>
          <a:ln/>
        </p:spPr>
      </p:sp>
      <p:sp>
        <p:nvSpPr>
          <p:cNvPr id="9" name="Text 6"/>
          <p:cNvSpPr/>
          <p:nvPr/>
        </p:nvSpPr>
        <p:spPr>
          <a:xfrm>
            <a:off x="6172200" y="1783080"/>
            <a:ext cx="384048" cy="384048"/>
          </a:xfrm>
          <a:prstGeom prst="rect">
            <a:avLst/>
          </a:prstGeom>
          <a:noFill/>
          <a:ln/>
        </p:spPr>
        <p:txBody>
          <a:bodyPr wrap="square" lIns="0" tIns="0" rIns="0" bIns="0" rtlCol="0" anchor="ctr"/>
          <a:lstStyle/>
          <a:p>
            <a:pPr marL="0" indent="0" algn="ctr">
              <a:buNone/>
            </a:pPr>
            <a:r>
              <a:rPr lang="en-US" sz="1400" b="1" dirty="0">
                <a:solidFill>
                  <a:srgbClr val="1B4332"/>
                </a:solidFill>
                <a:latin typeface="Cambria" pitchFamily="34" charset="0"/>
                <a:ea typeface="Cambria" pitchFamily="34" charset="-122"/>
                <a:cs typeface="Cambria" pitchFamily="34" charset="-120"/>
              </a:rPr>
              <a:t>2</a:t>
            </a:r>
            <a:endParaRPr lang="en-US" sz="1400" dirty="0"/>
          </a:p>
        </p:txBody>
      </p:sp>
      <p:sp>
        <p:nvSpPr>
          <p:cNvPr id="10" name="Text 7"/>
          <p:cNvSpPr/>
          <p:nvPr/>
        </p:nvSpPr>
        <p:spPr>
          <a:xfrm>
            <a:off x="6702552" y="1709928"/>
            <a:ext cx="4846320" cy="1097280"/>
          </a:xfrm>
          <a:prstGeom prst="rect">
            <a:avLst/>
          </a:prstGeom>
          <a:noFill/>
          <a:ln/>
        </p:spPr>
        <p:txBody>
          <a:bodyPr wrap="square" lIns="0" tIns="0" rIns="0" bIns="0"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Legally registered Nigerian entity, fully compliant with CAMA 2020</a:t>
            </a:r>
            <a:endParaRPr lang="en-US" sz="1250" dirty="0"/>
          </a:p>
        </p:txBody>
      </p:sp>
      <p:sp>
        <p:nvSpPr>
          <p:cNvPr id="11" name="Shape 8"/>
          <p:cNvSpPr/>
          <p:nvPr/>
        </p:nvSpPr>
        <p:spPr>
          <a:xfrm>
            <a:off x="640080" y="3154680"/>
            <a:ext cx="384048" cy="384048"/>
          </a:xfrm>
          <a:prstGeom prst="ellipse">
            <a:avLst/>
          </a:prstGeom>
          <a:solidFill>
            <a:srgbClr val="95D5B2"/>
          </a:solidFill>
          <a:ln/>
        </p:spPr>
      </p:sp>
      <p:sp>
        <p:nvSpPr>
          <p:cNvPr id="12" name="Text 9"/>
          <p:cNvSpPr/>
          <p:nvPr/>
        </p:nvSpPr>
        <p:spPr>
          <a:xfrm>
            <a:off x="640080" y="3154680"/>
            <a:ext cx="384048" cy="384048"/>
          </a:xfrm>
          <a:prstGeom prst="rect">
            <a:avLst/>
          </a:prstGeom>
          <a:noFill/>
          <a:ln/>
        </p:spPr>
        <p:txBody>
          <a:bodyPr wrap="square" lIns="0" tIns="0" rIns="0" bIns="0" rtlCol="0" anchor="ctr"/>
          <a:lstStyle/>
          <a:p>
            <a:pPr marL="0" indent="0" algn="ctr">
              <a:buNone/>
            </a:pPr>
            <a:r>
              <a:rPr lang="en-US" sz="1400" b="1" dirty="0">
                <a:solidFill>
                  <a:srgbClr val="1B4332"/>
                </a:solidFill>
                <a:latin typeface="Cambria" pitchFamily="34" charset="0"/>
                <a:ea typeface="Cambria" pitchFamily="34" charset="-122"/>
                <a:cs typeface="Cambria" pitchFamily="34" charset="-120"/>
              </a:rPr>
              <a:t>3</a:t>
            </a:r>
            <a:endParaRPr lang="en-US" sz="1400" dirty="0"/>
          </a:p>
        </p:txBody>
      </p:sp>
      <p:sp>
        <p:nvSpPr>
          <p:cNvPr id="13" name="Text 10"/>
          <p:cNvSpPr/>
          <p:nvPr/>
        </p:nvSpPr>
        <p:spPr>
          <a:xfrm>
            <a:off x="1170432" y="3081528"/>
            <a:ext cx="4846320" cy="1097280"/>
          </a:xfrm>
          <a:prstGeom prst="rect">
            <a:avLst/>
          </a:prstGeom>
          <a:noFill/>
          <a:ln/>
        </p:spPr>
        <p:txBody>
          <a:bodyPr wrap="square" lIns="0" tIns="0" rIns="0" bIns="0"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A broad, complementary product range across personal, home &amp; environmental care</a:t>
            </a:r>
            <a:endParaRPr lang="en-US" sz="1250" dirty="0"/>
          </a:p>
        </p:txBody>
      </p:sp>
      <p:sp>
        <p:nvSpPr>
          <p:cNvPr id="14" name="Shape 11"/>
          <p:cNvSpPr/>
          <p:nvPr/>
        </p:nvSpPr>
        <p:spPr>
          <a:xfrm>
            <a:off x="6172200" y="3154680"/>
            <a:ext cx="384048" cy="384048"/>
          </a:xfrm>
          <a:prstGeom prst="ellipse">
            <a:avLst/>
          </a:prstGeom>
          <a:solidFill>
            <a:srgbClr val="95D5B2"/>
          </a:solidFill>
          <a:ln/>
        </p:spPr>
      </p:sp>
      <p:sp>
        <p:nvSpPr>
          <p:cNvPr id="15" name="Text 12"/>
          <p:cNvSpPr/>
          <p:nvPr/>
        </p:nvSpPr>
        <p:spPr>
          <a:xfrm>
            <a:off x="6172200" y="3154680"/>
            <a:ext cx="384048" cy="384048"/>
          </a:xfrm>
          <a:prstGeom prst="rect">
            <a:avLst/>
          </a:prstGeom>
          <a:noFill/>
          <a:ln/>
        </p:spPr>
        <p:txBody>
          <a:bodyPr wrap="square" lIns="0" tIns="0" rIns="0" bIns="0" rtlCol="0" anchor="ctr"/>
          <a:lstStyle/>
          <a:p>
            <a:pPr marL="0" indent="0" algn="ctr">
              <a:buNone/>
            </a:pPr>
            <a:r>
              <a:rPr lang="en-US" sz="1400" b="1" dirty="0">
                <a:solidFill>
                  <a:srgbClr val="1B4332"/>
                </a:solidFill>
                <a:latin typeface="Cambria" pitchFamily="34" charset="0"/>
                <a:ea typeface="Cambria" pitchFamily="34" charset="-122"/>
                <a:cs typeface="Cambria" pitchFamily="34" charset="-120"/>
              </a:rPr>
              <a:t>4</a:t>
            </a:r>
            <a:endParaRPr lang="en-US" sz="1400" dirty="0"/>
          </a:p>
        </p:txBody>
      </p:sp>
      <p:sp>
        <p:nvSpPr>
          <p:cNvPr id="16" name="Text 13"/>
          <p:cNvSpPr/>
          <p:nvPr/>
        </p:nvSpPr>
        <p:spPr>
          <a:xfrm>
            <a:off x="6702552" y="3081528"/>
            <a:ext cx="4846320" cy="1097280"/>
          </a:xfrm>
          <a:prstGeom prst="rect">
            <a:avLst/>
          </a:prstGeom>
          <a:noFill/>
          <a:ln/>
        </p:spPr>
        <p:txBody>
          <a:bodyPr wrap="square" lIns="0" tIns="0" rIns="0" bIns="0"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A founding team of eight committed shareholders with shared long-term vision</a:t>
            </a:r>
            <a:endParaRPr lang="en-US" sz="1250" dirty="0"/>
          </a:p>
        </p:txBody>
      </p:sp>
      <p:sp>
        <p:nvSpPr>
          <p:cNvPr id="17" name="Shape 14"/>
          <p:cNvSpPr/>
          <p:nvPr/>
        </p:nvSpPr>
        <p:spPr>
          <a:xfrm>
            <a:off x="640080" y="4526280"/>
            <a:ext cx="384048" cy="384048"/>
          </a:xfrm>
          <a:prstGeom prst="ellipse">
            <a:avLst/>
          </a:prstGeom>
          <a:solidFill>
            <a:srgbClr val="95D5B2"/>
          </a:solidFill>
          <a:ln/>
        </p:spPr>
      </p:sp>
      <p:sp>
        <p:nvSpPr>
          <p:cNvPr id="18" name="Text 15"/>
          <p:cNvSpPr/>
          <p:nvPr/>
        </p:nvSpPr>
        <p:spPr>
          <a:xfrm>
            <a:off x="640080" y="4526280"/>
            <a:ext cx="384048" cy="384048"/>
          </a:xfrm>
          <a:prstGeom prst="rect">
            <a:avLst/>
          </a:prstGeom>
          <a:noFill/>
          <a:ln/>
        </p:spPr>
        <p:txBody>
          <a:bodyPr wrap="square" lIns="0" tIns="0" rIns="0" bIns="0" rtlCol="0" anchor="ctr"/>
          <a:lstStyle/>
          <a:p>
            <a:pPr marL="0" indent="0" algn="ctr">
              <a:buNone/>
            </a:pPr>
            <a:r>
              <a:rPr lang="en-US" sz="1400" b="1" dirty="0">
                <a:solidFill>
                  <a:srgbClr val="1B4332"/>
                </a:solidFill>
                <a:latin typeface="Cambria" pitchFamily="34" charset="0"/>
                <a:ea typeface="Cambria" pitchFamily="34" charset="-122"/>
                <a:cs typeface="Cambria" pitchFamily="34" charset="-120"/>
              </a:rPr>
              <a:t>5</a:t>
            </a:r>
            <a:endParaRPr lang="en-US" sz="1400" dirty="0"/>
          </a:p>
        </p:txBody>
      </p:sp>
      <p:sp>
        <p:nvSpPr>
          <p:cNvPr id="19" name="Text 16"/>
          <p:cNvSpPr/>
          <p:nvPr/>
        </p:nvSpPr>
        <p:spPr>
          <a:xfrm>
            <a:off x="1170432" y="4453128"/>
            <a:ext cx="4846320" cy="1097280"/>
          </a:xfrm>
          <a:prstGeom prst="rect">
            <a:avLst/>
          </a:prstGeom>
          <a:noFill/>
          <a:ln/>
        </p:spPr>
        <p:txBody>
          <a:bodyPr wrap="square" lIns="0" tIns="0" rIns="0" bIns="0"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Genuine, embedded sustainability — not a marketing afterthought</a:t>
            </a:r>
            <a:endParaRPr lang="en-US" sz="1250" dirty="0"/>
          </a:p>
        </p:txBody>
      </p:sp>
      <p:sp>
        <p:nvSpPr>
          <p:cNvPr id="20" name="Shape 17"/>
          <p:cNvSpPr/>
          <p:nvPr/>
        </p:nvSpPr>
        <p:spPr>
          <a:xfrm>
            <a:off x="6172200" y="4526280"/>
            <a:ext cx="384048" cy="384048"/>
          </a:xfrm>
          <a:prstGeom prst="ellipse">
            <a:avLst/>
          </a:prstGeom>
          <a:solidFill>
            <a:srgbClr val="95D5B2"/>
          </a:solidFill>
          <a:ln/>
        </p:spPr>
      </p:sp>
      <p:sp>
        <p:nvSpPr>
          <p:cNvPr id="21" name="Text 18"/>
          <p:cNvSpPr/>
          <p:nvPr/>
        </p:nvSpPr>
        <p:spPr>
          <a:xfrm>
            <a:off x="6172200" y="4526280"/>
            <a:ext cx="384048" cy="384048"/>
          </a:xfrm>
          <a:prstGeom prst="rect">
            <a:avLst/>
          </a:prstGeom>
          <a:noFill/>
          <a:ln/>
        </p:spPr>
        <p:txBody>
          <a:bodyPr wrap="square" lIns="0" tIns="0" rIns="0" bIns="0" rtlCol="0" anchor="ctr"/>
          <a:lstStyle/>
          <a:p>
            <a:pPr marL="0" indent="0" algn="ctr">
              <a:buNone/>
            </a:pPr>
            <a:r>
              <a:rPr lang="en-US" sz="1400" b="1" dirty="0">
                <a:solidFill>
                  <a:srgbClr val="1B4332"/>
                </a:solidFill>
                <a:latin typeface="Cambria" pitchFamily="34" charset="0"/>
                <a:ea typeface="Cambria" pitchFamily="34" charset="-122"/>
                <a:cs typeface="Cambria" pitchFamily="34" charset="-120"/>
              </a:rPr>
              <a:t>6</a:t>
            </a:r>
            <a:endParaRPr lang="en-US" sz="1400" dirty="0"/>
          </a:p>
        </p:txBody>
      </p:sp>
      <p:sp>
        <p:nvSpPr>
          <p:cNvPr id="22" name="Text 19"/>
          <p:cNvSpPr/>
          <p:nvPr/>
        </p:nvSpPr>
        <p:spPr>
          <a:xfrm>
            <a:off x="6702552" y="4453128"/>
            <a:ext cx="4846320" cy="1097280"/>
          </a:xfrm>
          <a:prstGeom prst="rect">
            <a:avLst/>
          </a:prstGeom>
          <a:noFill/>
          <a:ln/>
        </p:spPr>
        <p:txBody>
          <a:bodyPr wrap="square" lIns="0" tIns="0" rIns="0" bIns="0"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Positioned at the intersection of health, environment, and accessible innovation</a:t>
            </a:r>
            <a:endParaRPr lang="en-US" sz="1250" dirty="0"/>
          </a:p>
        </p:txBody>
      </p:sp>
      <p:sp>
        <p:nvSpPr>
          <p:cNvPr id="23" name="Text 20"/>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BFD8C9"/>
                </a:solidFill>
                <a:latin typeface="Calibri" pitchFamily="34" charset="0"/>
                <a:ea typeface="Calibri" pitchFamily="34" charset="-122"/>
                <a:cs typeface="Calibri" pitchFamily="34" charset="-120"/>
              </a:rPr>
              <a:t>ECONEEMTECH LTD</a:t>
            </a:r>
            <a:endParaRPr lang="en-US" sz="850" dirty="0"/>
          </a:p>
        </p:txBody>
      </p:sp>
      <p:sp>
        <p:nvSpPr>
          <p:cNvPr id="24" name="Text 21"/>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BFD8C9"/>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50" b="1" kern="0" spc="220" dirty="0">
                <a:solidFill>
                  <a:srgbClr val="2D6A4F"/>
                </a:solidFill>
                <a:latin typeface="Calibri" pitchFamily="34" charset="0"/>
                <a:ea typeface="Calibri" pitchFamily="34" charset="-122"/>
                <a:cs typeface="Calibri" pitchFamily="34" charset="-120"/>
              </a:rPr>
              <a:t>CONTACT INFORMATION</a:t>
            </a:r>
            <a:endParaRPr lang="en-US" sz="1250" dirty="0"/>
          </a:p>
        </p:txBody>
      </p:sp>
      <p:sp>
        <p:nvSpPr>
          <p:cNvPr id="3" name="Text 1"/>
          <p:cNvSpPr/>
          <p:nvPr/>
        </p:nvSpPr>
        <p:spPr>
          <a:xfrm>
            <a:off x="640080" y="804672"/>
            <a:ext cx="10058400" cy="685800"/>
          </a:xfrm>
          <a:prstGeom prst="rect">
            <a:avLst/>
          </a:prstGeom>
          <a:noFill/>
          <a:ln/>
        </p:spPr>
        <p:txBody>
          <a:bodyPr wrap="square" lIns="0" tIns="0" rIns="0" bIns="0" rtlCol="0" anchor="ctr"/>
          <a:lstStyle/>
          <a:p>
            <a:pPr marL="0" indent="0">
              <a:buNone/>
            </a:pPr>
            <a:r>
              <a:rPr lang="en-US" sz="2600" b="1" dirty="0">
                <a:solidFill>
                  <a:srgbClr val="1A2B22"/>
                </a:solidFill>
                <a:latin typeface="Cambria" pitchFamily="34" charset="0"/>
                <a:ea typeface="Cambria" pitchFamily="34" charset="-122"/>
                <a:cs typeface="Cambria" pitchFamily="34" charset="-120"/>
              </a:rPr>
              <a:t>Let's Build Something Sustainable Together</a:t>
            </a:r>
            <a:endParaRPr lang="en-US" sz="2600" dirty="0"/>
          </a:p>
        </p:txBody>
      </p:sp>
      <p:sp>
        <p:nvSpPr>
          <p:cNvPr id="4" name="Text 2"/>
          <p:cNvSpPr/>
          <p:nvPr/>
        </p:nvSpPr>
        <p:spPr>
          <a:xfrm>
            <a:off x="640080" y="1600200"/>
            <a:ext cx="5760720" cy="960120"/>
          </a:xfrm>
          <a:prstGeom prst="rect">
            <a:avLst/>
          </a:prstGeom>
          <a:noFill/>
          <a:ln/>
        </p:spPr>
        <p:txBody>
          <a:bodyPr wrap="square" lIns="0" tIns="0" rIns="0" bIns="0" rtlCol="0" anchor="ctr"/>
          <a:lstStyle/>
          <a:p>
            <a:pPr marL="0" indent="0">
              <a:lnSpc>
                <a:spcPct val="135000"/>
              </a:lnSpc>
              <a:buNone/>
            </a:pPr>
            <a:r>
              <a:rPr lang="en-US" sz="1300" dirty="0">
                <a:solidFill>
                  <a:srgbClr val="3F4A42"/>
                </a:solidFill>
                <a:latin typeface="Calibri" pitchFamily="34" charset="0"/>
                <a:ea typeface="Calibri" pitchFamily="34" charset="-122"/>
                <a:cs typeface="Calibri" pitchFamily="34" charset="-120"/>
              </a:rPr>
              <a:t>We welcome the opportunity to connect with investors, government agencies, corporate partners, and distributors who share our commitment to natural innovation and sustainability.</a:t>
            </a:r>
            <a:endParaRPr lang="en-US" sz="1300" dirty="0"/>
          </a:p>
        </p:txBody>
      </p:sp>
      <p:sp>
        <p:nvSpPr>
          <p:cNvPr id="5" name="Shape 3"/>
          <p:cNvSpPr/>
          <p:nvPr/>
        </p:nvSpPr>
        <p:spPr>
          <a:xfrm>
            <a:off x="640080" y="2880360"/>
            <a:ext cx="457200" cy="457200"/>
          </a:xfrm>
          <a:prstGeom prst="ellipse">
            <a:avLst/>
          </a:prstGeom>
          <a:solidFill>
            <a:srgbClr val="D8E8DC"/>
          </a:solidFill>
          <a:ln/>
        </p:spPr>
      </p:sp>
      <p:pic>
        <p:nvPicPr>
          <p:cNvPr id="6" name="Image 0" descr="assets/icons/envelope_deep.png"/>
          <p:cNvPicPr>
            <a:picLocks noChangeAspect="1"/>
          </p:cNvPicPr>
          <p:nvPr/>
        </p:nvPicPr>
        <p:blipFill>
          <a:blip r:embed="rId4"/>
          <a:stretch>
            <a:fillRect/>
          </a:stretch>
        </p:blipFill>
        <p:spPr>
          <a:xfrm>
            <a:off x="768096" y="2999232"/>
            <a:ext cx="237744" cy="237744"/>
          </a:xfrm>
          <a:prstGeom prst="rect">
            <a:avLst/>
          </a:prstGeom>
        </p:spPr>
      </p:pic>
      <p:sp>
        <p:nvSpPr>
          <p:cNvPr id="7" name="Text 4"/>
          <p:cNvSpPr/>
          <p:nvPr/>
        </p:nvSpPr>
        <p:spPr>
          <a:xfrm>
            <a:off x="1280160" y="2862072"/>
            <a:ext cx="4754880" cy="228600"/>
          </a:xfrm>
          <a:prstGeom prst="rect">
            <a:avLst/>
          </a:prstGeom>
          <a:noFill/>
          <a:ln/>
        </p:spPr>
        <p:txBody>
          <a:bodyPr wrap="square" lIns="0" tIns="0" rIns="0" bIns="0" rtlCol="0" anchor="ctr"/>
          <a:lstStyle/>
          <a:p>
            <a:pPr marL="0" indent="0">
              <a:buNone/>
            </a:pPr>
            <a:r>
              <a:rPr lang="en-US" sz="950" b="1" kern="0" spc="100" dirty="0">
                <a:solidFill>
                  <a:srgbClr val="2D6A4F"/>
                </a:solidFill>
                <a:latin typeface="Calibri" pitchFamily="34" charset="0"/>
                <a:ea typeface="Calibri" pitchFamily="34" charset="-122"/>
                <a:cs typeface="Calibri" pitchFamily="34" charset="-120"/>
              </a:rPr>
              <a:t>EMAIL</a:t>
            </a:r>
            <a:endParaRPr lang="en-US" sz="950" dirty="0"/>
          </a:p>
        </p:txBody>
      </p:sp>
      <p:sp>
        <p:nvSpPr>
          <p:cNvPr id="8" name="Text 5"/>
          <p:cNvSpPr/>
          <p:nvPr/>
        </p:nvSpPr>
        <p:spPr>
          <a:xfrm>
            <a:off x="1280160" y="3081528"/>
            <a:ext cx="4754880" cy="457200"/>
          </a:xfrm>
          <a:prstGeom prst="rect">
            <a:avLst/>
          </a:prstGeom>
          <a:noFill/>
          <a:ln/>
        </p:spPr>
        <p:txBody>
          <a:bodyPr wrap="square" lIns="0" tIns="0" rIns="0" bIns="0" rtlCol="0" anchor="ctr"/>
          <a:lstStyle/>
          <a:p>
            <a:pPr marL="0" indent="0">
              <a:buNone/>
            </a:pPr>
            <a:r>
              <a:rPr lang="en-US" sz="1200" dirty="0">
                <a:solidFill>
                  <a:srgbClr val="1A2B22"/>
                </a:solidFill>
                <a:latin typeface="Calibri" pitchFamily="34" charset="0"/>
                <a:ea typeface="Calibri" pitchFamily="34" charset="-122"/>
                <a:cs typeface="Calibri" pitchFamily="34" charset="-120"/>
              </a:rPr>
              <a:t>econeemtech@gmail.com</a:t>
            </a:r>
            <a:endParaRPr lang="en-US" sz="1200" dirty="0"/>
          </a:p>
        </p:txBody>
      </p:sp>
      <p:sp>
        <p:nvSpPr>
          <p:cNvPr id="9" name="Shape 6"/>
          <p:cNvSpPr/>
          <p:nvPr/>
        </p:nvSpPr>
        <p:spPr>
          <a:xfrm>
            <a:off x="640080" y="3749040"/>
            <a:ext cx="457200" cy="457200"/>
          </a:xfrm>
          <a:prstGeom prst="ellipse">
            <a:avLst/>
          </a:prstGeom>
          <a:solidFill>
            <a:srgbClr val="D8E8DC"/>
          </a:solidFill>
          <a:ln/>
        </p:spPr>
      </p:sp>
      <p:pic>
        <p:nvPicPr>
          <p:cNvPr id="10" name="Image 1" descr="assets/icons/mapmarker_deep.png"/>
          <p:cNvPicPr>
            <a:picLocks noChangeAspect="1"/>
          </p:cNvPicPr>
          <p:nvPr/>
        </p:nvPicPr>
        <p:blipFill>
          <a:blip r:embed="rId5"/>
          <a:stretch>
            <a:fillRect/>
          </a:stretch>
        </p:blipFill>
        <p:spPr>
          <a:xfrm>
            <a:off x="768096" y="3867912"/>
            <a:ext cx="237744" cy="237744"/>
          </a:xfrm>
          <a:prstGeom prst="rect">
            <a:avLst/>
          </a:prstGeom>
        </p:spPr>
      </p:pic>
      <p:sp>
        <p:nvSpPr>
          <p:cNvPr id="11" name="Text 7"/>
          <p:cNvSpPr/>
          <p:nvPr/>
        </p:nvSpPr>
        <p:spPr>
          <a:xfrm>
            <a:off x="1280160" y="3730752"/>
            <a:ext cx="4754880" cy="228600"/>
          </a:xfrm>
          <a:prstGeom prst="rect">
            <a:avLst/>
          </a:prstGeom>
          <a:noFill/>
          <a:ln/>
        </p:spPr>
        <p:txBody>
          <a:bodyPr wrap="square" lIns="0" tIns="0" rIns="0" bIns="0" rtlCol="0" anchor="ctr"/>
          <a:lstStyle/>
          <a:p>
            <a:pPr marL="0" indent="0">
              <a:buNone/>
            </a:pPr>
            <a:r>
              <a:rPr lang="en-US" sz="950" b="1" kern="0" spc="100" dirty="0">
                <a:solidFill>
                  <a:srgbClr val="2D6A4F"/>
                </a:solidFill>
                <a:latin typeface="Calibri" pitchFamily="34" charset="0"/>
                <a:ea typeface="Calibri" pitchFamily="34" charset="-122"/>
                <a:cs typeface="Calibri" pitchFamily="34" charset="-120"/>
              </a:rPr>
              <a:t>REGISTERED OFFICE</a:t>
            </a:r>
            <a:endParaRPr lang="en-US" sz="950" dirty="0"/>
          </a:p>
        </p:txBody>
      </p:sp>
      <p:sp>
        <p:nvSpPr>
          <p:cNvPr id="12" name="Text 8"/>
          <p:cNvSpPr/>
          <p:nvPr/>
        </p:nvSpPr>
        <p:spPr>
          <a:xfrm>
            <a:off x="1280160" y="3950208"/>
            <a:ext cx="4754880" cy="457200"/>
          </a:xfrm>
          <a:prstGeom prst="rect">
            <a:avLst/>
          </a:prstGeom>
          <a:noFill/>
          <a:ln/>
        </p:spPr>
        <p:txBody>
          <a:bodyPr wrap="square" lIns="0" tIns="0" rIns="0" bIns="0" rtlCol="0" anchor="ctr"/>
          <a:lstStyle/>
          <a:p>
            <a:pPr marL="0" indent="0">
              <a:buNone/>
            </a:pPr>
            <a:r>
              <a:rPr lang="en-US" sz="1200" dirty="0">
                <a:solidFill>
                  <a:srgbClr val="1A2B22"/>
                </a:solidFill>
                <a:latin typeface="Calibri" pitchFamily="34" charset="0"/>
                <a:ea typeface="Calibri" pitchFamily="34" charset="-122"/>
                <a:cs typeface="Calibri" pitchFamily="34" charset="-120"/>
              </a:rPr>
              <a:t>Plot 805, Paul Unongo Street, Jabi, Abuja, FCT, Nigeria</a:t>
            </a:r>
            <a:endParaRPr lang="en-US" sz="1200" dirty="0"/>
          </a:p>
        </p:txBody>
      </p:sp>
      <p:sp>
        <p:nvSpPr>
          <p:cNvPr id="13" name="Shape 9"/>
          <p:cNvSpPr/>
          <p:nvPr/>
        </p:nvSpPr>
        <p:spPr>
          <a:xfrm>
            <a:off x="640080" y="4617720"/>
            <a:ext cx="457200" cy="457200"/>
          </a:xfrm>
          <a:prstGeom prst="ellipse">
            <a:avLst/>
          </a:prstGeom>
          <a:solidFill>
            <a:srgbClr val="D8E8DC"/>
          </a:solidFill>
          <a:ln/>
        </p:spPr>
      </p:sp>
      <p:sp>
        <p:nvSpPr>
          <p:cNvPr id="15" name="Text 10"/>
          <p:cNvSpPr/>
          <p:nvPr/>
        </p:nvSpPr>
        <p:spPr>
          <a:xfrm>
            <a:off x="1280160" y="4599432"/>
            <a:ext cx="4754880" cy="228600"/>
          </a:xfrm>
          <a:prstGeom prst="rect">
            <a:avLst/>
          </a:prstGeom>
          <a:noFill/>
          <a:ln/>
        </p:spPr>
        <p:txBody>
          <a:bodyPr wrap="square" lIns="0" tIns="0" rIns="0" bIns="0" rtlCol="0" anchor="ctr"/>
          <a:lstStyle/>
          <a:p>
            <a:pPr marL="0" indent="0">
              <a:buNone/>
            </a:pPr>
            <a:r>
              <a:rPr lang="en-US" sz="950" b="1" kern="0" spc="100" dirty="0">
                <a:solidFill>
                  <a:srgbClr val="2D6A4F"/>
                </a:solidFill>
                <a:latin typeface="Calibri" pitchFamily="34" charset="0"/>
                <a:cs typeface="Calibri" pitchFamily="34" charset="-120"/>
              </a:rPr>
              <a:t>WEBSITE</a:t>
            </a:r>
            <a:endParaRPr lang="en-US" sz="950" dirty="0"/>
          </a:p>
        </p:txBody>
      </p:sp>
      <p:sp>
        <p:nvSpPr>
          <p:cNvPr id="16" name="Text 11"/>
          <p:cNvSpPr/>
          <p:nvPr/>
        </p:nvSpPr>
        <p:spPr>
          <a:xfrm>
            <a:off x="1280160" y="4818888"/>
            <a:ext cx="4754880" cy="457200"/>
          </a:xfrm>
          <a:prstGeom prst="rect">
            <a:avLst/>
          </a:prstGeom>
          <a:noFill/>
          <a:ln/>
        </p:spPr>
        <p:txBody>
          <a:bodyPr wrap="square" lIns="0" tIns="0" rIns="0" bIns="0" rtlCol="0" anchor="ctr"/>
          <a:lstStyle/>
          <a:p>
            <a:pPr marL="0" indent="0">
              <a:buNone/>
            </a:pPr>
            <a:r>
              <a:rPr lang="en-US" sz="1200" dirty="0">
                <a:solidFill>
                  <a:schemeClr val="tx1">
                    <a:lumMod val="85000"/>
                    <a:lumOff val="15000"/>
                  </a:schemeClr>
                </a:solidFill>
                <a:latin typeface="Calibri" pitchFamily="34" charset="0"/>
                <a:cs typeface="Calibri" pitchFamily="34" charset="-120"/>
              </a:rPr>
              <a:t> www.econeemtech.com</a:t>
            </a:r>
            <a:endParaRPr lang="en-US" sz="1200" dirty="0">
              <a:solidFill>
                <a:schemeClr val="tx1">
                  <a:lumMod val="85000"/>
                  <a:lumOff val="15000"/>
                </a:schemeClr>
              </a:solidFill>
            </a:endParaRPr>
          </a:p>
        </p:txBody>
      </p:sp>
      <p:sp>
        <p:nvSpPr>
          <p:cNvPr id="18" name="Shape 13"/>
          <p:cNvSpPr/>
          <p:nvPr/>
        </p:nvSpPr>
        <p:spPr>
          <a:xfrm>
            <a:off x="6858000" y="1554480"/>
            <a:ext cx="4709160" cy="4617720"/>
          </a:xfrm>
          <a:prstGeom prst="roundRect">
            <a:avLst>
              <a:gd name="adj" fmla="val 2376"/>
            </a:avLst>
          </a:prstGeom>
          <a:solidFill>
            <a:srgbClr val="1B4332"/>
          </a:solidFill>
          <a:ln/>
          <a:effectLst>
            <a:outerShdw blurRad="177800" dist="50800" dir="5400000" algn="bl" rotWithShape="0">
              <a:srgbClr val="1B4332">
                <a:alpha val="12000"/>
              </a:srgbClr>
            </a:outerShdw>
          </a:effectLst>
        </p:spPr>
      </p:sp>
      <p:sp>
        <p:nvSpPr>
          <p:cNvPr id="19" name="Shape 14"/>
          <p:cNvSpPr/>
          <p:nvPr/>
        </p:nvSpPr>
        <p:spPr>
          <a:xfrm>
            <a:off x="8622792" y="1965960"/>
            <a:ext cx="1188720" cy="1188720"/>
          </a:xfrm>
          <a:prstGeom prst="ellipse">
            <a:avLst/>
          </a:prstGeom>
          <a:solidFill>
            <a:srgbClr val="FFFFFF"/>
          </a:solidFill>
          <a:ln/>
        </p:spPr>
      </p:sp>
      <p:pic>
        <p:nvPicPr>
          <p:cNvPr id="20" name="Image 3" descr="assets/logo_mark_transparent.png"/>
          <p:cNvPicPr>
            <a:picLocks noChangeAspect="1"/>
          </p:cNvPicPr>
          <p:nvPr/>
        </p:nvPicPr>
        <p:blipFill>
          <a:blip r:embed="rId6"/>
          <a:stretch>
            <a:fillRect/>
          </a:stretch>
        </p:blipFill>
        <p:spPr>
          <a:xfrm>
            <a:off x="8833104" y="2176272"/>
            <a:ext cx="768096" cy="768096"/>
          </a:xfrm>
          <a:prstGeom prst="rect">
            <a:avLst/>
          </a:prstGeom>
        </p:spPr>
      </p:pic>
      <p:sp>
        <p:nvSpPr>
          <p:cNvPr id="21" name="Text 15"/>
          <p:cNvSpPr/>
          <p:nvPr/>
        </p:nvSpPr>
        <p:spPr>
          <a:xfrm>
            <a:off x="7178040" y="3383280"/>
            <a:ext cx="40690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ECONEEMTECH LTD</a:t>
            </a:r>
            <a:endParaRPr lang="en-US" sz="1600" dirty="0"/>
          </a:p>
        </p:txBody>
      </p:sp>
      <p:sp>
        <p:nvSpPr>
          <p:cNvPr id="22" name="Text 16"/>
          <p:cNvSpPr/>
          <p:nvPr/>
        </p:nvSpPr>
        <p:spPr>
          <a:xfrm>
            <a:off x="7178040" y="3767328"/>
            <a:ext cx="4069080" cy="320040"/>
          </a:xfrm>
          <a:prstGeom prst="rect">
            <a:avLst/>
          </a:prstGeom>
          <a:noFill/>
          <a:ln/>
        </p:spPr>
        <p:txBody>
          <a:bodyPr wrap="square" lIns="0" tIns="0" rIns="0" bIns="0" rtlCol="0" anchor="ctr"/>
          <a:lstStyle/>
          <a:p>
            <a:pPr marL="0" indent="0" algn="ctr">
              <a:buNone/>
            </a:pPr>
            <a:r>
              <a:rPr lang="en-US" sz="1000" dirty="0">
                <a:solidFill>
                  <a:srgbClr val="95D5B2"/>
                </a:solidFill>
                <a:latin typeface="Calibri" pitchFamily="34" charset="0"/>
                <a:ea typeface="Calibri" pitchFamily="34" charset="-122"/>
                <a:cs typeface="Calibri" pitchFamily="34" charset="-120"/>
              </a:rPr>
              <a:t>Private Company Limited </a:t>
            </a:r>
            <a:endParaRPr lang="en-US" sz="1000" dirty="0"/>
          </a:p>
        </p:txBody>
      </p:sp>
      <p:sp>
        <p:nvSpPr>
          <p:cNvPr id="23" name="Shape 17"/>
          <p:cNvSpPr/>
          <p:nvPr/>
        </p:nvSpPr>
        <p:spPr>
          <a:xfrm>
            <a:off x="7680960" y="4297680"/>
            <a:ext cx="3063240" cy="0"/>
          </a:xfrm>
          <a:prstGeom prst="line">
            <a:avLst/>
          </a:prstGeom>
          <a:noFill/>
          <a:ln w="9525">
            <a:solidFill>
              <a:srgbClr val="FFFFFF">
                <a:alpha val="30000"/>
              </a:srgbClr>
            </a:solidFill>
            <a:prstDash val="solid"/>
          </a:ln>
        </p:spPr>
      </p:sp>
      <p:sp>
        <p:nvSpPr>
          <p:cNvPr id="24" name="Text 18"/>
          <p:cNvSpPr/>
          <p:nvPr/>
        </p:nvSpPr>
        <p:spPr>
          <a:xfrm>
            <a:off x="7269480" y="4480560"/>
            <a:ext cx="3886200" cy="731520"/>
          </a:xfrm>
          <a:prstGeom prst="rect">
            <a:avLst/>
          </a:prstGeom>
          <a:noFill/>
          <a:ln/>
        </p:spPr>
        <p:txBody>
          <a:bodyPr wrap="square" lIns="0" tIns="0" rIns="0" bIns="0" rtlCol="0" anchor="ctr"/>
          <a:lstStyle/>
          <a:p>
            <a:pPr marL="0" indent="0" algn="ctr">
              <a:lnSpc>
                <a:spcPct val="130000"/>
              </a:lnSpc>
              <a:buNone/>
            </a:pPr>
            <a:r>
              <a:rPr lang="en-US" sz="1150" i="1" dirty="0">
                <a:solidFill>
                  <a:srgbClr val="DCEAE0"/>
                </a:solidFill>
                <a:latin typeface="Calibri" pitchFamily="34" charset="0"/>
                <a:ea typeface="Calibri" pitchFamily="34" charset="-122"/>
                <a:cs typeface="Calibri" pitchFamily="34" charset="-120"/>
              </a:rPr>
              <a:t>“Nature's Wisdom. Engineered for Modern Living.”</a:t>
            </a:r>
            <a:endParaRPr lang="en-US" sz="1150" dirty="0"/>
          </a:p>
        </p:txBody>
      </p:sp>
      <p:sp>
        <p:nvSpPr>
          <p:cNvPr id="25" name="Text 19"/>
          <p:cNvSpPr/>
          <p:nvPr/>
        </p:nvSpPr>
        <p:spPr>
          <a:xfrm>
            <a:off x="502920" y="6446520"/>
            <a:ext cx="3657600" cy="274320"/>
          </a:xfrm>
          <a:prstGeom prst="rect">
            <a:avLst/>
          </a:prstGeom>
          <a:noFill/>
          <a:ln/>
        </p:spPr>
        <p:txBody>
          <a:bodyPr wrap="square" lIns="0" tIns="0" rIns="0" bIns="0" rtlCol="0" anchor="ctr"/>
          <a:lstStyle/>
          <a:p>
            <a:pPr marL="0" indent="0">
              <a:buNone/>
            </a:pPr>
            <a:r>
              <a:rPr lang="en-US" sz="850" kern="0" spc="120" dirty="0">
                <a:solidFill>
                  <a:srgbClr val="6B7A70"/>
                </a:solidFill>
                <a:latin typeface="Calibri" pitchFamily="34" charset="0"/>
                <a:ea typeface="Calibri" pitchFamily="34" charset="-122"/>
                <a:cs typeface="Calibri" pitchFamily="34" charset="-120"/>
              </a:rPr>
              <a:t>ECONEEMTECH LTD</a:t>
            </a:r>
            <a:endParaRPr lang="en-US" sz="850" dirty="0"/>
          </a:p>
        </p:txBody>
      </p:sp>
      <p:sp>
        <p:nvSpPr>
          <p:cNvPr id="26" name="Text 20"/>
          <p:cNvSpPr/>
          <p:nvPr/>
        </p:nvSpPr>
        <p:spPr>
          <a:xfrm>
            <a:off x="11414455" y="6446520"/>
            <a:ext cx="548640" cy="274320"/>
          </a:xfrm>
          <a:prstGeom prst="rect">
            <a:avLst/>
          </a:prstGeom>
          <a:noFill/>
          <a:ln/>
        </p:spPr>
        <p:txBody>
          <a:bodyPr wrap="square" lIns="0" tIns="0" rIns="0" bIns="0" rtlCol="0" anchor="ctr"/>
          <a:lstStyle/>
          <a:p>
            <a:pPr marL="0" indent="0" algn="r">
              <a:buNone/>
            </a:pPr>
            <a:r>
              <a:rPr lang="en-US" sz="900" dirty="0">
                <a:solidFill>
                  <a:srgbClr val="6B7A70"/>
                </a:solidFill>
                <a:latin typeface="Calibri" pitchFamily="34" charset="0"/>
                <a:ea typeface="Calibri" pitchFamily="34" charset="-122"/>
                <a:cs typeface="Calibri" pitchFamily="34" charset="-120"/>
              </a:rPr>
              <a:t>24</a:t>
            </a:r>
            <a:endParaRPr lang="en-US" sz="900" dirty="0"/>
          </a:p>
        </p:txBody>
      </p:sp>
      <p:sp>
        <p:nvSpPr>
          <p:cNvPr id="27" name="Freeform 18">
            <a:extLst>
              <a:ext uri="{FF2B5EF4-FFF2-40B4-BE49-F238E27FC236}">
                <a16:creationId xmlns:a16="http://schemas.microsoft.com/office/drawing/2014/main" id="{D94B8D74-F283-A197-D662-765CFF7B4399}"/>
              </a:ext>
            </a:extLst>
          </p:cNvPr>
          <p:cNvSpPr/>
          <p:nvPr/>
        </p:nvSpPr>
        <p:spPr>
          <a:xfrm>
            <a:off x="684084" y="4754880"/>
            <a:ext cx="369193" cy="216856"/>
          </a:xfrm>
          <a:custGeom>
            <a:avLst/>
            <a:gdLst/>
            <a:ahLst/>
            <a:cxnLst/>
            <a:rect l="l" t="t" r="r" b="b"/>
            <a:pathLst>
              <a:path w="266117" h="266117">
                <a:moveTo>
                  <a:pt x="0" y="0"/>
                </a:moveTo>
                <a:lnTo>
                  <a:pt x="266116" y="0"/>
                </a:lnTo>
                <a:lnTo>
                  <a:pt x="266116" y="266116"/>
                </a:lnTo>
                <a:lnTo>
                  <a:pt x="0" y="2661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8" name="Shape 3">
            <a:extLst>
              <a:ext uri="{FF2B5EF4-FFF2-40B4-BE49-F238E27FC236}">
                <a16:creationId xmlns:a16="http://schemas.microsoft.com/office/drawing/2014/main" id="{3D331B10-EC2F-13C7-0067-F257339076CF}"/>
              </a:ext>
            </a:extLst>
          </p:cNvPr>
          <p:cNvSpPr/>
          <p:nvPr/>
        </p:nvSpPr>
        <p:spPr>
          <a:xfrm>
            <a:off x="664664" y="5304015"/>
            <a:ext cx="457200" cy="457200"/>
          </a:xfrm>
          <a:prstGeom prst="ellipse">
            <a:avLst/>
          </a:prstGeom>
          <a:solidFill>
            <a:srgbClr val="D8E8DC"/>
          </a:solidFill>
          <a:ln/>
        </p:spPr>
      </p:sp>
      <p:pic>
        <p:nvPicPr>
          <p:cNvPr id="29" name="Image 0" descr="assets/icons/envelope_deep.png">
            <a:extLst>
              <a:ext uri="{FF2B5EF4-FFF2-40B4-BE49-F238E27FC236}">
                <a16:creationId xmlns:a16="http://schemas.microsoft.com/office/drawing/2014/main" id="{8E498575-CF66-FC31-46D3-1806E05DFC86}"/>
              </a:ext>
            </a:extLst>
          </p:cNvPr>
          <p:cNvPicPr>
            <a:picLocks noChangeAspect="1"/>
          </p:cNvPicPr>
          <p:nvPr/>
        </p:nvPicPr>
        <p:blipFill>
          <a:blip r:embed="rId4"/>
          <a:stretch>
            <a:fillRect/>
          </a:stretch>
        </p:blipFill>
        <p:spPr>
          <a:xfrm>
            <a:off x="792680" y="5422887"/>
            <a:ext cx="237744" cy="237744"/>
          </a:xfrm>
          <a:prstGeom prst="rect">
            <a:avLst/>
          </a:prstGeom>
        </p:spPr>
      </p:pic>
      <p:sp>
        <p:nvSpPr>
          <p:cNvPr id="30" name="Text 4">
            <a:extLst>
              <a:ext uri="{FF2B5EF4-FFF2-40B4-BE49-F238E27FC236}">
                <a16:creationId xmlns:a16="http://schemas.microsoft.com/office/drawing/2014/main" id="{9AA3CE41-AE3D-1341-BC14-2C8842F41E8F}"/>
              </a:ext>
            </a:extLst>
          </p:cNvPr>
          <p:cNvSpPr/>
          <p:nvPr/>
        </p:nvSpPr>
        <p:spPr>
          <a:xfrm>
            <a:off x="1235920" y="5305395"/>
            <a:ext cx="4754880" cy="228600"/>
          </a:xfrm>
          <a:prstGeom prst="rect">
            <a:avLst/>
          </a:prstGeom>
          <a:noFill/>
          <a:ln/>
        </p:spPr>
        <p:txBody>
          <a:bodyPr wrap="square" lIns="0" tIns="0" rIns="0" bIns="0" rtlCol="0" anchor="ctr"/>
          <a:lstStyle/>
          <a:p>
            <a:pPr marL="0" indent="0">
              <a:buNone/>
            </a:pPr>
            <a:r>
              <a:rPr lang="en-US" sz="950" b="1" kern="0" spc="100" dirty="0">
                <a:solidFill>
                  <a:srgbClr val="2D6A4F"/>
                </a:solidFill>
                <a:latin typeface="Calibri" pitchFamily="34" charset="0"/>
                <a:ea typeface="Calibri" pitchFamily="34" charset="-122"/>
                <a:cs typeface="Calibri" pitchFamily="34" charset="-120"/>
              </a:rPr>
              <a:t>WHATSAPP</a:t>
            </a:r>
            <a:endParaRPr lang="en-US" sz="950" dirty="0"/>
          </a:p>
        </p:txBody>
      </p:sp>
      <p:sp>
        <p:nvSpPr>
          <p:cNvPr id="31" name="Text 8">
            <a:extLst>
              <a:ext uri="{FF2B5EF4-FFF2-40B4-BE49-F238E27FC236}">
                <a16:creationId xmlns:a16="http://schemas.microsoft.com/office/drawing/2014/main" id="{78A48CFB-39FE-47A0-1168-09EF7A27115F}"/>
              </a:ext>
            </a:extLst>
          </p:cNvPr>
          <p:cNvSpPr/>
          <p:nvPr/>
        </p:nvSpPr>
        <p:spPr>
          <a:xfrm>
            <a:off x="1127761" y="5429967"/>
            <a:ext cx="4754880" cy="457200"/>
          </a:xfrm>
          <a:prstGeom prst="rect">
            <a:avLst/>
          </a:prstGeom>
          <a:noFill/>
          <a:ln/>
        </p:spPr>
        <p:txBody>
          <a:bodyPr wrap="square" lIns="0" tIns="0" rIns="0" bIns="0" rtlCol="0" anchor="ctr"/>
          <a:lstStyle/>
          <a:p>
            <a:pPr marL="0" indent="0">
              <a:buNone/>
            </a:pPr>
            <a:r>
              <a:rPr lang="en-US" sz="1200" dirty="0">
                <a:solidFill>
                  <a:srgbClr val="1A2B22"/>
                </a:solidFill>
                <a:latin typeface="Calibri" pitchFamily="34" charset="0"/>
                <a:ea typeface="Calibri" pitchFamily="34" charset="-122"/>
                <a:cs typeface="Calibri" pitchFamily="34" charset="-120"/>
              </a:rPr>
              <a:t>   07039095798</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bg/leaf_silhouette_white.png"/>
          <p:cNvPicPr>
            <a:picLocks noChangeAspect="1"/>
          </p:cNvPicPr>
          <p:nvPr/>
        </p:nvPicPr>
        <p:blipFill>
          <a:blip r:embed="rId4">
            <a:alphaModFix amt="12000"/>
          </a:blip>
          <a:stretch>
            <a:fillRect/>
          </a:stretch>
        </p:blipFill>
        <p:spPr>
          <a:xfrm>
            <a:off x="5120640" y="-1097280"/>
            <a:ext cx="2011680" cy="2834640"/>
          </a:xfrm>
          <a:prstGeom prst="rect">
            <a:avLst/>
          </a:prstGeom>
        </p:spPr>
      </p:pic>
      <p:grpSp>
        <p:nvGrpSpPr>
          <p:cNvPr id="15" name="Group 14">
            <a:extLst>
              <a:ext uri="{FF2B5EF4-FFF2-40B4-BE49-F238E27FC236}">
                <a16:creationId xmlns:a16="http://schemas.microsoft.com/office/drawing/2014/main" id="{1DD84CE7-6398-3565-952E-69450F9AEC03}"/>
              </a:ext>
            </a:extLst>
          </p:cNvPr>
          <p:cNvGrpSpPr/>
          <p:nvPr/>
        </p:nvGrpSpPr>
        <p:grpSpPr>
          <a:xfrm>
            <a:off x="5732200" y="1417320"/>
            <a:ext cx="777240" cy="777240"/>
            <a:chOff x="5506064" y="1417320"/>
            <a:chExt cx="777240" cy="777240"/>
          </a:xfrm>
        </p:grpSpPr>
        <p:sp>
          <p:nvSpPr>
            <p:cNvPr id="3" name="Shape 0"/>
            <p:cNvSpPr/>
            <p:nvPr/>
          </p:nvSpPr>
          <p:spPr>
            <a:xfrm>
              <a:off x="5506064" y="1417320"/>
              <a:ext cx="777240" cy="777240"/>
            </a:xfrm>
            <a:prstGeom prst="ellipse">
              <a:avLst/>
            </a:prstGeom>
            <a:solidFill>
              <a:srgbClr val="FFFFFF"/>
            </a:solidFill>
            <a:ln/>
            <a:effectLst>
              <a:outerShdw blurRad="127000" dist="25400" dir="5400000" algn="bl" rotWithShape="0">
                <a:srgbClr val="000000">
                  <a:alpha val="20000"/>
                </a:srgbClr>
              </a:outerShdw>
            </a:effectLst>
          </p:spPr>
        </p:sp>
        <p:pic>
          <p:nvPicPr>
            <p:cNvPr id="4" name="Image 1" descr="assets/logo_mark_transparent.png"/>
            <p:cNvPicPr>
              <a:picLocks noChangeAspect="1"/>
            </p:cNvPicPr>
            <p:nvPr/>
          </p:nvPicPr>
          <p:blipFill>
            <a:blip r:embed="rId5"/>
            <a:stretch>
              <a:fillRect/>
            </a:stretch>
          </p:blipFill>
          <p:spPr>
            <a:xfrm>
              <a:off x="5687568" y="1618488"/>
              <a:ext cx="374904" cy="374904"/>
            </a:xfrm>
            <a:prstGeom prst="rect">
              <a:avLst/>
            </a:prstGeom>
          </p:spPr>
        </p:pic>
      </p:grpSp>
      <p:sp>
        <p:nvSpPr>
          <p:cNvPr id="5" name="Text 1"/>
          <p:cNvSpPr/>
          <p:nvPr/>
        </p:nvSpPr>
        <p:spPr>
          <a:xfrm>
            <a:off x="0" y="2514600"/>
            <a:ext cx="12191695"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   Thank You</a:t>
            </a:r>
            <a:endParaRPr lang="en-US" sz="4400" dirty="0"/>
          </a:p>
        </p:txBody>
      </p:sp>
      <p:sp>
        <p:nvSpPr>
          <p:cNvPr id="6" name="Text 2"/>
          <p:cNvSpPr/>
          <p:nvPr/>
        </p:nvSpPr>
        <p:spPr>
          <a:xfrm>
            <a:off x="1463040" y="3429000"/>
            <a:ext cx="9235440" cy="457200"/>
          </a:xfrm>
          <a:prstGeom prst="rect">
            <a:avLst/>
          </a:prstGeom>
          <a:noFill/>
          <a:ln/>
        </p:spPr>
        <p:txBody>
          <a:bodyPr wrap="square" lIns="0" tIns="0" rIns="0" bIns="0" rtlCol="0" anchor="ctr"/>
          <a:lstStyle/>
          <a:p>
            <a:pPr marL="0" indent="0" algn="ctr">
              <a:buNone/>
            </a:pPr>
            <a:r>
              <a:rPr lang="en-US" sz="1400" dirty="0">
                <a:solidFill>
                  <a:srgbClr val="DCEAE0"/>
                </a:solidFill>
                <a:latin typeface="Calibri" pitchFamily="34" charset="0"/>
                <a:ea typeface="Calibri" pitchFamily="34" charset="-122"/>
                <a:cs typeface="Calibri" pitchFamily="34" charset="-120"/>
              </a:rPr>
              <a:t>        We look forward to growing a healthier, more sustainable future together.</a:t>
            </a:r>
            <a:endParaRPr lang="en-US" sz="1400" dirty="0"/>
          </a:p>
        </p:txBody>
      </p:sp>
      <p:sp>
        <p:nvSpPr>
          <p:cNvPr id="7" name="Shape 3"/>
          <p:cNvSpPr/>
          <p:nvPr/>
        </p:nvSpPr>
        <p:spPr>
          <a:xfrm>
            <a:off x="4206240" y="4206240"/>
            <a:ext cx="3749040" cy="0"/>
          </a:xfrm>
          <a:prstGeom prst="line">
            <a:avLst/>
          </a:prstGeom>
          <a:noFill/>
          <a:ln w="9525">
            <a:solidFill>
              <a:srgbClr val="FFFFFF">
                <a:alpha val="35000"/>
              </a:srgbClr>
            </a:solidFill>
            <a:prstDash val="solid"/>
          </a:ln>
        </p:spPr>
      </p:sp>
      <p:pic>
        <p:nvPicPr>
          <p:cNvPr id="8" name="Image 2" descr="assets/icons/envelope_white.png"/>
          <p:cNvPicPr>
            <a:picLocks noChangeAspect="1"/>
          </p:cNvPicPr>
          <p:nvPr/>
        </p:nvPicPr>
        <p:blipFill>
          <a:blip r:embed="rId6"/>
          <a:stretch>
            <a:fillRect/>
          </a:stretch>
        </p:blipFill>
        <p:spPr>
          <a:xfrm>
            <a:off x="3108960" y="4526280"/>
            <a:ext cx="201168" cy="201168"/>
          </a:xfrm>
          <a:prstGeom prst="rect">
            <a:avLst/>
          </a:prstGeom>
        </p:spPr>
      </p:pic>
      <p:sp>
        <p:nvSpPr>
          <p:cNvPr id="9" name="Text 4"/>
          <p:cNvSpPr/>
          <p:nvPr/>
        </p:nvSpPr>
        <p:spPr>
          <a:xfrm>
            <a:off x="3401568" y="4480560"/>
            <a:ext cx="1828800" cy="29260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econeemtech@gmail.com</a:t>
            </a:r>
            <a:endParaRPr lang="en-US" sz="1000" dirty="0"/>
          </a:p>
        </p:txBody>
      </p:sp>
      <p:pic>
        <p:nvPicPr>
          <p:cNvPr id="10" name="Image 3" descr="assets/icons/mapmarker_white.png"/>
          <p:cNvPicPr>
            <a:picLocks noChangeAspect="1"/>
          </p:cNvPicPr>
          <p:nvPr/>
        </p:nvPicPr>
        <p:blipFill>
          <a:blip r:embed="rId7"/>
          <a:stretch>
            <a:fillRect/>
          </a:stretch>
        </p:blipFill>
        <p:spPr>
          <a:xfrm>
            <a:off x="5120640" y="4526280"/>
            <a:ext cx="201168" cy="201168"/>
          </a:xfrm>
          <a:prstGeom prst="rect">
            <a:avLst/>
          </a:prstGeom>
        </p:spPr>
      </p:pic>
      <p:sp>
        <p:nvSpPr>
          <p:cNvPr id="11" name="Text 5"/>
          <p:cNvSpPr/>
          <p:nvPr/>
        </p:nvSpPr>
        <p:spPr>
          <a:xfrm>
            <a:off x="5413248" y="4480560"/>
            <a:ext cx="1828800" cy="29260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Jabi, Abuja, FCT, Nigeria</a:t>
            </a:r>
            <a:endParaRPr lang="en-US" sz="1000" dirty="0"/>
          </a:p>
        </p:txBody>
      </p:sp>
      <p:sp>
        <p:nvSpPr>
          <p:cNvPr id="13" name="Text 6"/>
          <p:cNvSpPr/>
          <p:nvPr/>
        </p:nvSpPr>
        <p:spPr>
          <a:xfrm>
            <a:off x="7424928" y="4480560"/>
            <a:ext cx="1828800" cy="29260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cs typeface="Calibri" pitchFamily="34" charset="-120"/>
              </a:rPr>
              <a:t> www.econeemtech.com</a:t>
            </a:r>
            <a:endParaRPr lang="en-US" sz="1000" dirty="0"/>
          </a:p>
        </p:txBody>
      </p:sp>
      <p:sp>
        <p:nvSpPr>
          <p:cNvPr id="14" name="Text 7"/>
          <p:cNvSpPr/>
          <p:nvPr/>
        </p:nvSpPr>
        <p:spPr>
          <a:xfrm>
            <a:off x="0" y="6263640"/>
            <a:ext cx="12191695" cy="274320"/>
          </a:xfrm>
          <a:prstGeom prst="rect">
            <a:avLst/>
          </a:prstGeom>
          <a:noFill/>
          <a:ln/>
        </p:spPr>
        <p:txBody>
          <a:bodyPr wrap="square" lIns="0" tIns="0" rIns="0" bIns="0" rtlCol="0" anchor="ctr"/>
          <a:lstStyle/>
          <a:p>
            <a:pPr marL="0" indent="0" algn="ctr">
              <a:buNone/>
            </a:pPr>
            <a:r>
              <a:rPr lang="en-US" sz="900" kern="0" spc="160" dirty="0">
                <a:solidFill>
                  <a:srgbClr val="95D5B2"/>
                </a:solidFill>
                <a:latin typeface="Calibri" pitchFamily="34" charset="0"/>
                <a:ea typeface="Calibri" pitchFamily="34" charset="-122"/>
                <a:cs typeface="Calibri" pitchFamily="34" charset="-120"/>
              </a:rPr>
              <a:t>ECONEEMTECH LTD  ·  PRIVATE COMPANY LIMITED BY SHARES</a:t>
            </a:r>
            <a:endParaRPr lang="en-US" sz="900" dirty="0"/>
          </a:p>
        </p:txBody>
      </p:sp>
      <p:sp>
        <p:nvSpPr>
          <p:cNvPr id="16" name="Freeform 18">
            <a:extLst>
              <a:ext uri="{FF2B5EF4-FFF2-40B4-BE49-F238E27FC236}">
                <a16:creationId xmlns:a16="http://schemas.microsoft.com/office/drawing/2014/main" id="{FB9B1A24-CCCB-EF64-E5FF-F29966589D74}"/>
              </a:ext>
            </a:extLst>
          </p:cNvPr>
          <p:cNvSpPr/>
          <p:nvPr/>
        </p:nvSpPr>
        <p:spPr>
          <a:xfrm>
            <a:off x="7011384" y="4510592"/>
            <a:ext cx="369193" cy="216856"/>
          </a:xfrm>
          <a:custGeom>
            <a:avLst/>
            <a:gdLst/>
            <a:ahLst/>
            <a:cxnLst/>
            <a:rect l="l" t="t" r="r" b="b"/>
            <a:pathLst>
              <a:path w="266117" h="266117">
                <a:moveTo>
                  <a:pt x="0" y="0"/>
                </a:moveTo>
                <a:lnTo>
                  <a:pt x="266116" y="0"/>
                </a:lnTo>
                <a:lnTo>
                  <a:pt x="266116" y="266116"/>
                </a:lnTo>
                <a:lnTo>
                  <a:pt x="0" y="266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383</TotalTime>
  <Words>2467</Words>
  <Application>Microsoft Office PowerPoint</Application>
  <PresentationFormat>Widescreen</PresentationFormat>
  <Paragraphs>453</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EcoNeemTech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EcoNeemTech Company Portfolio</dc:title>
  <dc:subject>PptxGenJS Presentation</dc:subject>
  <dc:creator>EcoNeemTech Ltd</dc:creator>
  <cp:lastModifiedBy>AHMAD ADEIZA ABDULRAHMAN</cp:lastModifiedBy>
  <cp:revision>3</cp:revision>
  <dcterms:created xsi:type="dcterms:W3CDTF">2026-06-28T17:22:14Z</dcterms:created>
  <dcterms:modified xsi:type="dcterms:W3CDTF">2026-06-29T13:57:39Z</dcterms:modified>
</cp:coreProperties>
</file>